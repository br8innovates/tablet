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ngesInfos/changesInfo1.xml" ContentType="application/vnd.ms-powerpoint.changesinfo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6"/>
  </p:notesMasterIdLst>
  <p:sldIdLst>
    <p:sldId id="294" r:id="rId2"/>
    <p:sldId id="257" r:id="rId3"/>
    <p:sldId id="258" r:id="rId4"/>
    <p:sldId id="260" r:id="rId5"/>
    <p:sldId id="261" r:id="rId6"/>
    <p:sldId id="300" r:id="rId36"/>
    <p:sldId id="301" r:id="rId37"/>
    <p:sldId id="263" r:id="rId7"/>
    <p:sldId id="264" r:id="rId8"/>
    <p:sldId id="265" r:id="rId9"/>
    <p:sldId id="266" r:id="rId10"/>
    <p:sldId id="267" r:id="rId11"/>
    <p:sldId id="268" r:id="rId12"/>
    <p:sldId id="269" r:id="rId13"/>
    <p:sldId id="297" r:id="rId33"/>
    <p:sldId id="298" r:id="rId34"/>
    <p:sldId id="299" r:id="rId35"/>
    <p:sldId id="271" r:id="rId14"/>
    <p:sldId id="272" r:id="rId15"/>
    <p:sldId id="273" r:id="rId16"/>
    <p:sldId id="274" r:id="rId17"/>
    <p:sldId id="276" r:id="rId18"/>
    <p:sldId id="277" r:id="rId19"/>
    <p:sldId id="279" r:id="rId20"/>
    <p:sldId id="282" r:id="rId21"/>
    <p:sldId id="283" r:id="rId22"/>
    <p:sldId id="284" r:id="rId23"/>
    <p:sldId id="296" r:id="rId24"/>
    <p:sldId id="295" r:id="rId2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D76ACE9-65F3-1C3F-0FD7-B0D5DE5FB8CF}" v="340" dt="2026-09-03T10:31:56.097"/>
    <p1510:client id="{A8CAA7EB-08A3-5484-7624-78D7354F01B0}" v="129" dt="2026-09-03T12:49:18.739"/>
    <p1510:client id="{CC0C8E50-F229-AADD-A904-F8A0A81E97B7}" v="131" dt="2026-09-03T10:16:52.02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Relationship Id="rId31" Type="http://schemas.microsoft.com/office/2016/11/relationships/changesInfo" Target="changesInfos/changesInfo1.xml"/><Relationship Id="rId32" Type="http://schemas.microsoft.com/office/2015/10/relationships/revisionInfo" Target="revisionInfo.xml"/><Relationship Id="rId33" Type="http://schemas.openxmlformats.org/officeDocument/2006/relationships/slide" Target="slides/slide25.xml"/><Relationship Id="rId34" Type="http://schemas.openxmlformats.org/officeDocument/2006/relationships/slide" Target="slides/slide26.xml"/><Relationship Id="rId35" Type="http://schemas.openxmlformats.org/officeDocument/2006/relationships/slide" Target="slides/slide27.xml"/><Relationship Id="rId36" Type="http://schemas.openxmlformats.org/officeDocument/2006/relationships/slide" Target="slides/slide28.xml"/><Relationship Id="rId37" Type="http://schemas.openxmlformats.org/officeDocument/2006/relationships/slide" Target="slides/slide29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neha Konkalil" userId="S::sneha.konkalil@insuremo.com::52f3e289-b4eb-49eb-bdcf-df358d3eeca7" providerId="AD" clId="Web-{5D76ACE9-65F3-1C3F-0FD7-B0D5DE5FB8CF}"/>
    <pc:docChg chg="modSld">
      <pc:chgData name="Sneha Konkalil" userId="S::sneha.konkalil@insuremo.com::52f3e289-b4eb-49eb-bdcf-df358d3eeca7" providerId="AD" clId="Web-{5D76ACE9-65F3-1C3F-0FD7-B0D5DE5FB8CF}" dt="2026-09-03T10:31:53.878" v="325"/>
      <pc:docMkLst>
        <pc:docMk/>
      </pc:docMkLst>
      <pc:sldChg chg="modSp">
        <pc:chgData name="Sneha Konkalil" userId="S::sneha.konkalil@insuremo.com::52f3e289-b4eb-49eb-bdcf-df358d3eeca7" providerId="AD" clId="Web-{5D76ACE9-65F3-1C3F-0FD7-B0D5DE5FB8CF}" dt="2026-09-03T10:10:47.830" v="1" actId="20577"/>
        <pc:sldMkLst>
          <pc:docMk/>
          <pc:sldMk cId="0" sldId="258"/>
        </pc:sldMkLst>
        <pc:spChg chg="mod">
          <ac:chgData name="Sneha Konkalil" userId="S::sneha.konkalil@insuremo.com::52f3e289-b4eb-49eb-bdcf-df358d3eeca7" providerId="AD" clId="Web-{5D76ACE9-65F3-1C3F-0FD7-B0D5DE5FB8CF}" dt="2026-09-03T10:10:47.830" v="1" actId="20577"/>
          <ac:spMkLst>
            <pc:docMk/>
            <pc:sldMk cId="0" sldId="258"/>
            <ac:spMk id="21" creationId="{00000000-0000-0000-0000-000000000000}"/>
          </ac:spMkLst>
        </pc:spChg>
      </pc:sldChg>
      <pc:sldChg chg="addSp delSp modSp">
        <pc:chgData name="Sneha Konkalil" userId="S::sneha.konkalil@insuremo.com::52f3e289-b4eb-49eb-bdcf-df358d3eeca7" providerId="AD" clId="Web-{5D76ACE9-65F3-1C3F-0FD7-B0D5DE5FB8CF}" dt="2026-09-03T10:31:53.878" v="325"/>
        <pc:sldMkLst>
          <pc:docMk/>
          <pc:sldMk cId="0" sldId="284"/>
        </pc:sldMkLst>
        <pc:graphicFrameChg chg="add del mod">
          <ac:chgData name="Sneha Konkalil" userId="S::sneha.konkalil@insuremo.com::52f3e289-b4eb-49eb-bdcf-df358d3eeca7" providerId="AD" clId="Web-{5D76ACE9-65F3-1C3F-0FD7-B0D5DE5FB8CF}" dt="2026-09-03T10:29:43.751" v="103"/>
          <ac:graphicFrameMkLst>
            <pc:docMk/>
            <pc:sldMk cId="0" sldId="284"/>
            <ac:graphicFrameMk id="8" creationId="{8F65F86E-C75E-24C1-27F0-A1D6D99DD621}"/>
          </ac:graphicFrameMkLst>
        </pc:graphicFrameChg>
        <pc:graphicFrameChg chg="mod modGraphic">
          <ac:chgData name="Sneha Konkalil" userId="S::sneha.konkalil@insuremo.com::52f3e289-b4eb-49eb-bdcf-df358d3eeca7" providerId="AD" clId="Web-{5D76ACE9-65F3-1C3F-0FD7-B0D5DE5FB8CF}" dt="2026-09-03T10:31:53.878" v="325"/>
          <ac:graphicFrameMkLst>
            <pc:docMk/>
            <pc:sldMk cId="0" sldId="284"/>
            <ac:graphicFrameMk id="30" creationId="{00000000-0000-0000-0000-000000000000}"/>
          </ac:graphicFrameMkLst>
        </pc:graphicFrameChg>
      </pc:sldChg>
    </pc:docChg>
  </pc:docChgLst>
  <pc:docChgLst>
    <pc:chgData name="Sneha Konkalil" userId="S::sneha.konkalil@insuremo.com::52f3e289-b4eb-49eb-bdcf-df358d3eeca7" providerId="AD" clId="Web-{A8CAA7EB-08A3-5484-7624-78D7354F01B0}"/>
    <pc:docChg chg="addSld delSld modSld">
      <pc:chgData name="Sneha Konkalil" userId="S::sneha.konkalil@insuremo.com::52f3e289-b4eb-49eb-bdcf-df358d3eeca7" providerId="AD" clId="Web-{A8CAA7EB-08A3-5484-7624-78D7354F01B0}" dt="2026-09-03T12:49:18.739" v="70"/>
      <pc:docMkLst>
        <pc:docMk/>
      </pc:docMkLst>
      <pc:sldChg chg="del">
        <pc:chgData name="Sneha Konkalil" userId="S::sneha.konkalil@insuremo.com::52f3e289-b4eb-49eb-bdcf-df358d3eeca7" providerId="AD" clId="Web-{A8CAA7EB-08A3-5484-7624-78D7354F01B0}" dt="2026-09-03T11:46:29.608" v="13"/>
        <pc:sldMkLst>
          <pc:docMk/>
          <pc:sldMk cId="0" sldId="256"/>
        </pc:sldMkLst>
      </pc:sldChg>
      <pc:sldChg chg="modSp">
        <pc:chgData name="Sneha Konkalil" userId="S::sneha.konkalil@insuremo.com::52f3e289-b4eb-49eb-bdcf-df358d3eeca7" providerId="AD" clId="Web-{A8CAA7EB-08A3-5484-7624-78D7354F01B0}" dt="2026-09-03T11:59:55.138" v="69"/>
        <pc:sldMkLst>
          <pc:docMk/>
          <pc:sldMk cId="0" sldId="261"/>
        </pc:sldMkLst>
        <pc:graphicFrameChg chg="mod modGraphic">
          <ac:chgData name="Sneha Konkalil" userId="S::sneha.konkalil@insuremo.com::52f3e289-b4eb-49eb-bdcf-df358d3eeca7" providerId="AD" clId="Web-{A8CAA7EB-08A3-5484-7624-78D7354F01B0}" dt="2026-09-03T11:59:55.138" v="69"/>
          <ac:graphicFrameMkLst>
            <pc:docMk/>
            <pc:sldMk cId="0" sldId="261"/>
            <ac:graphicFrameMk id="7" creationId="{00000000-0000-0000-0000-000000000000}"/>
          </ac:graphicFrameMkLst>
        </pc:graphicFrameChg>
      </pc:sldChg>
      <pc:sldChg chg="del">
        <pc:chgData name="Sneha Konkalil" userId="S::sneha.konkalil@insuremo.com::52f3e289-b4eb-49eb-bdcf-df358d3eeca7" providerId="AD" clId="Web-{A8CAA7EB-08A3-5484-7624-78D7354F01B0}" dt="2026-09-03T11:49:44.848" v="15"/>
        <pc:sldMkLst>
          <pc:docMk/>
          <pc:sldMk cId="0" sldId="288"/>
        </pc:sldMkLst>
      </pc:sldChg>
      <pc:sldChg chg="modSp add">
        <pc:chgData name="Sneha Konkalil" userId="S::sneha.konkalil@insuremo.com::52f3e289-b4eb-49eb-bdcf-df358d3eeca7" providerId="AD" clId="Web-{A8CAA7EB-08A3-5484-7624-78D7354F01B0}" dt="2026-09-03T11:46:22.998" v="12" actId="14100"/>
        <pc:sldMkLst>
          <pc:docMk/>
          <pc:sldMk cId="0" sldId="294"/>
        </pc:sldMkLst>
        <pc:spChg chg="mod">
          <ac:chgData name="Sneha Konkalil" userId="S::sneha.konkalil@insuremo.com::52f3e289-b4eb-49eb-bdcf-df358d3eeca7" providerId="AD" clId="Web-{A8CAA7EB-08A3-5484-7624-78D7354F01B0}" dt="2026-09-03T11:46:22.998" v="12" actId="14100"/>
          <ac:spMkLst>
            <pc:docMk/>
            <pc:sldMk cId="0" sldId="294"/>
            <ac:spMk id="3" creationId="{3768561F-B97A-2DCA-4457-AB219666B666}"/>
          </ac:spMkLst>
        </pc:spChg>
      </pc:sldChg>
      <pc:sldChg chg="add">
        <pc:chgData name="Sneha Konkalil" userId="S::sneha.konkalil@insuremo.com::52f3e289-b4eb-49eb-bdcf-df358d3eeca7" providerId="AD" clId="Web-{A8CAA7EB-08A3-5484-7624-78D7354F01B0}" dt="2026-09-03T11:49:42.113" v="14"/>
        <pc:sldMkLst>
          <pc:docMk/>
          <pc:sldMk cId="60782894" sldId="295"/>
        </pc:sldMkLst>
      </pc:sldChg>
      <pc:sldChg chg="add">
        <pc:chgData name="Sneha Konkalil" userId="S::sneha.konkalil@insuremo.com::52f3e289-b4eb-49eb-bdcf-df358d3eeca7" providerId="AD" clId="Web-{A8CAA7EB-08A3-5484-7624-78D7354F01B0}" dt="2026-09-03T12:49:18.739" v="70"/>
        <pc:sldMkLst>
          <pc:docMk/>
          <pc:sldMk cId="1357069627" sldId="296"/>
        </pc:sldMkLst>
      </pc:sldChg>
      <pc:sldMasterChg chg="addSldLayout">
        <pc:chgData name="Sneha Konkalil" userId="S::sneha.konkalil@insuremo.com::52f3e289-b4eb-49eb-bdcf-df358d3eeca7" providerId="AD" clId="Web-{A8CAA7EB-08A3-5484-7624-78D7354F01B0}" dt="2026-09-03T11:49:42.113" v="14"/>
        <pc:sldMasterMkLst>
          <pc:docMk/>
          <pc:sldMasterMk cId="0" sldId="2147483648"/>
        </pc:sldMasterMkLst>
        <pc:sldLayoutChg chg="add">
          <pc:chgData name="Sneha Konkalil" userId="S::sneha.konkalil@insuremo.com::52f3e289-b4eb-49eb-bdcf-df358d3eeca7" providerId="AD" clId="Web-{A8CAA7EB-08A3-5484-7624-78D7354F01B0}" dt="2026-09-03T11:45:33.777" v="0"/>
          <pc:sldLayoutMkLst>
            <pc:docMk/>
            <pc:sldMasterMk cId="0" sldId="2147483648"/>
            <pc:sldLayoutMk cId="3840719445" sldId="2147483650"/>
          </pc:sldLayoutMkLst>
        </pc:sldLayoutChg>
        <pc:sldLayoutChg chg="add">
          <pc:chgData name="Sneha Konkalil" userId="S::sneha.konkalil@insuremo.com::52f3e289-b4eb-49eb-bdcf-df358d3eeca7" providerId="AD" clId="Web-{A8CAA7EB-08A3-5484-7624-78D7354F01B0}" dt="2026-09-03T11:49:42.113" v="14"/>
          <pc:sldLayoutMkLst>
            <pc:docMk/>
            <pc:sldMasterMk cId="0" sldId="2147483648"/>
            <pc:sldLayoutMk cId="378603448" sldId="2147483651"/>
          </pc:sldLayoutMkLst>
        </pc:sldLayoutChg>
      </pc:sldMasterChg>
    </pc:docChg>
  </pc:docChgLst>
  <pc:docChgLst>
    <pc:chgData name="Ravi Teja" userId="S::ravi.teja@insuremo.com::9c7f817d-c985-4167-9564-642afabb8db1" providerId="AD" clId="Web-{CC0C8E50-F229-AADD-A904-F8A0A81E97B7}"/>
    <pc:docChg chg="modSld">
      <pc:chgData name="Ravi Teja" userId="S::ravi.teja@insuremo.com::9c7f817d-c985-4167-9564-642afabb8db1" providerId="AD" clId="Web-{CC0C8E50-F229-AADD-A904-F8A0A81E97B7}" dt="2026-09-03T10:16:49.668" v="115"/>
      <pc:docMkLst>
        <pc:docMk/>
      </pc:docMkLst>
      <pc:sldChg chg="modSp">
        <pc:chgData name="Ravi Teja" userId="S::ravi.teja@insuremo.com::9c7f817d-c985-4167-9564-642afabb8db1" providerId="AD" clId="Web-{CC0C8E50-F229-AADD-A904-F8A0A81E97B7}" dt="2026-09-03T10:16:49.668" v="115"/>
        <pc:sldMkLst>
          <pc:docMk/>
          <pc:sldMk cId="0" sldId="279"/>
        </pc:sldMkLst>
        <pc:spChg chg="mod">
          <ac:chgData name="Ravi Teja" userId="S::ravi.teja@insuremo.com::9c7f817d-c985-4167-9564-642afabb8db1" providerId="AD" clId="Web-{CC0C8E50-F229-AADD-A904-F8A0A81E97B7}" dt="2026-09-03T10:14:35.902" v="92" actId="20577"/>
          <ac:spMkLst>
            <pc:docMk/>
            <pc:sldMk cId="0" sldId="279"/>
            <ac:spMk id="19" creationId="{00000000-0000-0000-0000-000000000000}"/>
          </ac:spMkLst>
        </pc:spChg>
        <pc:spChg chg="mod">
          <ac:chgData name="Ravi Teja" userId="S::ravi.teja@insuremo.com::9c7f817d-c985-4167-9564-642afabb8db1" providerId="AD" clId="Web-{CC0C8E50-F229-AADD-A904-F8A0A81E97B7}" dt="2026-09-03T10:14:43.902" v="111" actId="20577"/>
          <ac:spMkLst>
            <pc:docMk/>
            <pc:sldMk cId="0" sldId="279"/>
            <ac:spMk id="37" creationId="{00000000-0000-0000-0000-000000000000}"/>
          </ac:spMkLst>
        </pc:spChg>
        <pc:spChg chg="mod">
          <ac:chgData name="Ravi Teja" userId="S::ravi.teja@insuremo.com::9c7f817d-c985-4167-9564-642afabb8db1" providerId="AD" clId="Web-{CC0C8E50-F229-AADD-A904-F8A0A81E97B7}" dt="2026-09-03T10:14:20.636" v="73" actId="20577"/>
          <ac:spMkLst>
            <pc:docMk/>
            <pc:sldMk cId="0" sldId="279"/>
            <ac:spMk id="55" creationId="{00000000-0000-0000-0000-000000000000}"/>
          </ac:spMkLst>
        </pc:spChg>
        <pc:graphicFrameChg chg="mod modGraphic">
          <ac:chgData name="Ravi Teja" userId="S::ravi.teja@insuremo.com::9c7f817d-c985-4167-9564-642afabb8db1" providerId="AD" clId="Web-{CC0C8E50-F229-AADD-A904-F8A0A81E97B7}" dt="2026-09-03T10:13:48.120" v="23"/>
          <ac:graphicFrameMkLst>
            <pc:docMk/>
            <pc:sldMk cId="0" sldId="279"/>
            <ac:graphicFrameMk id="25" creationId="{00000000-0000-0000-0000-000000000000}"/>
          </ac:graphicFrameMkLst>
        </pc:graphicFrameChg>
        <pc:graphicFrameChg chg="mod modGraphic">
          <ac:chgData name="Ravi Teja" userId="S::ravi.teja@insuremo.com::9c7f817d-c985-4167-9564-642afabb8db1" providerId="AD" clId="Web-{CC0C8E50-F229-AADD-A904-F8A0A81E97B7}" dt="2026-09-03T10:16:49.668" v="115"/>
          <ac:graphicFrameMkLst>
            <pc:docMk/>
            <pc:sldMk cId="0" sldId="279"/>
            <ac:graphicFrameMk id="49" creationId="{00000000-0000-0000-0000-000000000000}"/>
          </ac:graphicFrameMkLst>
        </pc:graphicFrameChg>
        <pc:graphicFrameChg chg="mod modGraphic">
          <ac:chgData name="Ravi Teja" userId="S::ravi.teja@insuremo.com::9c7f817d-c985-4167-9564-642afabb8db1" providerId="AD" clId="Web-{CC0C8E50-F229-AADD-A904-F8A0A81E97B7}" dt="2026-09-03T10:14:00.370" v="61"/>
          <ac:graphicFrameMkLst>
            <pc:docMk/>
            <pc:sldMk cId="0" sldId="279"/>
            <ac:graphicFrameMk id="73" creationId="{00000000-0000-0000-0000-000000000000}"/>
          </ac:graphicFrameMkLst>
        </pc:graphicFrameChg>
      </pc:sldChg>
    </pc:docChg>
  </pc:docChgLst>
</pc:chgInfo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7_0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8_0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B_0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B_01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B_02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C_0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0C_03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_115_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Quote calls</c:v>
                </c:pt>
              </c:strCache>
            </c:strRef>
          </c:tx>
          <c:spPr>
            <a:solidFill>
              <a:srgbClr val="E8F1FC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5A6B80"/>
                    </a:solidFill>
                    <a:latin typeface="Calibr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146324</c:v>
                </c:pt>
                <c:pt idx="1">
                  <c:v>91586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459-DB40-B91B-2C5877AF7FBB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Calls returning a price (%)</c:v>
                </c:pt>
              </c:strCache>
            </c:strRef>
          </c:tx>
          <c:spPr>
            <a:ln w="31750" cap="flat">
              <a:solidFill>
                <a:srgbClr val="0E7C5A"/>
              </a:solidFill>
              <a:prstDash val="solid"/>
              <a:round/>
            </a:ln>
            <a:effectLst/>
          </c:spPr>
          <c:marker>
            <c:symbol val="circle"/>
            <c:size val="8"/>
            <c:spPr>
              <a:solidFill>
                <a:srgbClr val="0E7C5A"/>
              </a:solidFill>
              <a:ln w="9525" cap="flat">
                <a:solidFill>
                  <a:srgbClr val="0E7C5A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0E7C5A"/>
                    </a:solidFill>
                    <a:latin typeface="Calibr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56.9</c:v>
                </c:pt>
                <c:pt idx="1">
                  <c:v>56.2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5459-DB40-B91B-2C5877AF7FBB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5"/>
        <c:axId val="2094734553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100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E7C5A"/>
                </a:solidFill>
                <a:latin typeface="Calibr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3"/>
        <c:crosses val="autoZero"/>
        <c:auto val="1"/>
        <c:lblAlgn val="ctr"/>
        <c:lblOffset val="100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GWP (INR)</c:v>
                </c:pt>
              </c:strCache>
            </c:strRef>
          </c:tx>
          <c:spPr>
            <a:solidFill>
              <a:srgbClr val="1877D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127793.47999999998</c:v>
                </c:pt>
                <c:pt idx="1">
                  <c:v>73229.53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A689-2B4F-A581-67A1B8A481E7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60"/>
        <c:axId val="2094734554"/>
        <c:axId val="2094734552"/>
      </c:barChart>
      <c:lineChart>
        <c:grouping val="standard"/>
        <c:varyColors val="0"/>
        <c:ser>
          <c:idx val="1"/>
          <c:order val="1"/>
          <c:tx>
            <c:strRef>
              <c:f>Sheet1!$C$1</c:f>
              <c:strCache>
                <c:ptCount val="1"/>
                <c:pt idx="0">
                  <c:v>Policies issued</c:v>
                </c:pt>
              </c:strCache>
            </c:strRef>
          </c:tx>
          <c:spPr>
            <a:ln w="31750" cap="flat">
              <a:solidFill>
                <a:srgbClr val="B8730A"/>
              </a:solidFill>
              <a:prstDash val="solid"/>
              <a:round/>
            </a:ln>
            <a:effectLst/>
          </c:spPr>
          <c:marker>
            <c:symbol val="circle"/>
            <c:size val="8"/>
            <c:spPr>
              <a:solidFill>
                <a:srgbClr val="B8730A"/>
              </a:solidFill>
              <a:ln w="9525" cap="flat">
                <a:solidFill>
                  <a:srgbClr val="B8730A"/>
                </a:solidFill>
                <a:prstDash val="solid"/>
                <a:round/>
              </a:ln>
              <a:effectLst/>
            </c:spPr>
          </c:marker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0" i="0" u="none" strike="noStrike">
                    <a:solidFill>
                      <a:srgbClr val="B8730A"/>
                    </a:solidFill>
                    <a:latin typeface="Calibr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59</c:v>
                </c:pt>
                <c:pt idx="1">
                  <c:v>22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A689-2B4F-A581-67A1B8A481E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5"/>
        <c:axId val="2094734553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valAx>
        <c:axId val="2094734553"/>
        <c:scaling>
          <c:orientation val="minMax"/>
          <c:max val="70"/>
        </c:scaling>
        <c:delete val="0"/>
        <c:axPos val="r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B8730A"/>
                </a:solidFill>
                <a:latin typeface="Calibri"/>
              </a:defRPr>
            </a:pPr>
            <a:endParaRPr lang="en-US"/>
          </a:p>
        </c:txPr>
        <c:crossAx val="2094734555"/>
        <c:crosses val="max"/>
        <c:crossBetween val="between"/>
      </c:valAx>
      <c:catAx>
        <c:axId val="209473455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low"/>
        <c:crossAx val="2094734553"/>
        <c:crosses val="autoZero"/>
        <c:auto val="1"/>
        <c:lblAlgn val="ctr"/>
        <c:lblOffset val="100"/>
        <c:noMultiLvlLbl val="1"/>
      </c:cat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August 2026</c:v>
                </c:pt>
              </c:strCache>
            </c:strRef>
          </c:tx>
          <c:spPr>
            <a:solidFill>
              <a:srgbClr val="C7D5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4138</c:v>
                </c:pt>
                <c:pt idx="1">
                  <c:v>4691</c:v>
                </c:pt>
                <c:pt idx="2">
                  <c:v>4189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720-E344-A3B4-EF6BDF77ADEB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solidFill>
              <a:srgbClr val="1877D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2779</c:v>
                </c:pt>
                <c:pt idx="1">
                  <c:v>2971</c:v>
                </c:pt>
                <c:pt idx="2">
                  <c:v>2702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720-E344-A3B4-EF6BDF77ADEB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August 2026</c:v>
                </c:pt>
              </c:strCache>
            </c:strRef>
          </c:tx>
          <c:spPr>
            <a:solidFill>
              <a:srgbClr val="C7D5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96</c:v>
                </c:pt>
                <c:pt idx="1">
                  <c:v>94</c:v>
                </c:pt>
                <c:pt idx="2">
                  <c:v>61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E9F-7444-A356-5F6C9AE97ACA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solidFill>
              <a:srgbClr val="00B8D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40</c:v>
                </c:pt>
                <c:pt idx="1">
                  <c:v>62</c:v>
                </c:pt>
                <c:pt idx="2">
                  <c:v>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E9F-7444-A356-5F6C9AE97ACA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August 2026</c:v>
                </c:pt>
              </c:strCache>
            </c:strRef>
          </c:tx>
          <c:spPr>
            <a:solidFill>
              <a:srgbClr val="C7D5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23</c:v>
                </c:pt>
                <c:pt idx="2">
                  <c:v>11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2E0-F04C-BC44-3BF799485E67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solidFill>
              <a:srgbClr val="0E7C5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0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</c:v>
                </c:pt>
                <c:pt idx="1">
                  <c:v>11</c:v>
                </c:pt>
                <c:pt idx="2">
                  <c:v>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2E0-F04C-BC44-3BF799485E67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85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August 2026</c:v>
                </c:pt>
              </c:strCache>
            </c:strRef>
          </c:tx>
          <c:spPr>
            <a:solidFill>
              <a:srgbClr val="C7D5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61400.0</c:v>
                </c:pt>
                <c:pt idx="1">
                  <c:v>32976.479999999996</c:v>
                </c:pt>
                <c:pt idx="2">
                  <c:v>33417.0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0B0-4847-B3FE-66893283FE72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solidFill>
              <a:srgbClr val="1877D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5008.0</c:v>
                </c:pt>
                <c:pt idx="1">
                  <c:v>39790.52999999999</c:v>
                </c:pt>
                <c:pt idx="2">
                  <c:v>28431.0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50B0-4847-B3FE-66893283FE7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August 2026</c:v>
                </c:pt>
              </c:strCache>
            </c:strRef>
          </c:tx>
          <c:spPr>
            <a:solidFill>
              <a:srgbClr val="C7D5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2456</c:v>
                </c:pt>
                <c:pt idx="1">
                  <c:v>1434</c:v>
                </c:pt>
                <c:pt idx="2">
                  <c:v>3038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9199-504D-A081-8B55CEDD2C9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September 2026</c:v>
                </c:pt>
              </c:strCache>
            </c:strRef>
          </c:tx>
          <c:spPr>
            <a:solidFill>
              <a:srgbClr val="B8730A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 i="0" u="none" strike="noStrike">
                    <a:solidFill>
                      <a:srgbClr val="0A2A5E"/>
                    </a:solidFill>
                    <a:latin typeface="Calibri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Sheet1!$A$2:$A$4</c:f>
              <c:strCache>
                <c:ptCount val="3"/>
                <c:pt idx="0">
                  <c:v>ICICI Lombard</c:v>
                </c:pt>
                <c:pt idx="1">
                  <c:v>Go Digit</c:v>
                </c:pt>
                <c:pt idx="2">
                  <c:v>Tata AIG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1002</c:v>
                </c:pt>
                <c:pt idx="1">
                  <c:v>3617</c:v>
                </c:pt>
                <c:pt idx="2">
                  <c:v>4738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9199-504D-A081-8B55CEDD2C96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4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this month</c:v>
                </c:pt>
              </c:strCache>
            </c:strRef>
          </c:tx>
          <c:spPr>
            <a:solidFill>
              <a:srgbClr val="1877D2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4417</c:v>
                </c:pt>
                <c:pt idx="1">
                  <c:v>2337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A8C-2340-8178-A4DA5D2BC07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Seen in an earlier month</c:v>
                </c:pt>
              </c:strCache>
            </c:strRef>
          </c:tx>
          <c:spPr>
            <a:solidFill>
              <a:srgbClr val="C7D5E8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000" b="0" i="0" u="none" strike="noStrike">
                    <a:solidFill>
                      <a:srgbClr val="FFFFFF"/>
                    </a:solidFill>
                    <a:latin typeface="Calibri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August 2026</c:v>
                </c:pt>
                <c:pt idx="1">
                  <c:v>September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518</c:v>
                </c:pt>
                <c:pt idx="1">
                  <c:v>748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A8C-2340-8178-A4DA5D2BC076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</c:dLbls>
        <c:gapWidth val="60"/>
        <c:overlap val="10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9525" cap="flat">
              <a:solidFill>
                <a:srgbClr val="D6E3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A6B80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723297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25f1bb3f58_0_21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5" name="Google Shape;235;g325f1bb3f58_0_2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194106-FCED-196A-6BD7-44506ABF96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B58C9E-CC30-3BA0-4393-2C5EF66E1D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051EFF6-ABAB-61A1-28CF-63FA7D9CECE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604BB2-EB06-0CE2-1B17-12273119E363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65700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0" name="Google Shape;4780;g244c29b6ad2_0_221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  <p:txBody>
          <a:bodyPr/>
          <a:lstStyle/>
          <a:p>
            <a:endParaRPr lang="en-IN"/>
          </a:p>
        </p:txBody>
      </p:sp>
      <p:sp>
        <p:nvSpPr>
          <p:cNvPr id="4781" name="Google Shape;4781;g244c29b6ad2_0_2213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5F1C9B6-6524-91C9-8393-F649F404B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F126042-3C1E-4B49-9832-8E287CA57625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6F6829C-3E4C-F9FC-6D03-371A7775A2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A3540D-8487-C3EB-4BF8-5C3772F450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6BF6718-EF07-4D05-9BB2-2DDDAE77441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40719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_Title Only">
  <p:cSld name="4_Title 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9"/>
          <p:cNvSpPr txBox="1">
            <a:spLocks noGrp="1"/>
          </p:cNvSpPr>
          <p:nvPr>
            <p:ph type="title"/>
          </p:nvPr>
        </p:nvSpPr>
        <p:spPr>
          <a:xfrm>
            <a:off x="934300" y="3063200"/>
            <a:ext cx="4865200" cy="731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b" anchorCtr="0">
            <a:normAutofit/>
          </a:bodyPr>
          <a:lstStyle>
            <a:lvl1pPr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700"/>
              <a:buNone/>
              <a:defRPr sz="3200"/>
            </a:lvl1pPr>
            <a:lvl2pPr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9"/>
          <p:cNvSpPr txBox="1">
            <a:spLocks noGrp="1"/>
          </p:cNvSpPr>
          <p:nvPr>
            <p:ph type="sldNum" idx="12"/>
          </p:nvPr>
        </p:nvSpPr>
        <p:spPr>
          <a:xfrm>
            <a:off x="8737600" y="6553200"/>
            <a:ext cx="2844800" cy="182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50" tIns="34275" rIns="68550" bIns="3427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700"/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‹#›</a:t>
            </a:fld>
            <a:endParaRPr lang="en"/>
          </a:p>
        </p:txBody>
      </p:sp>
      <p:pic>
        <p:nvPicPr>
          <p:cNvPr id="50" name="Google Shape;50;p9"/>
          <p:cNvPicPr preferRelativeResize="0"/>
          <p:nvPr/>
        </p:nvPicPr>
        <p:blipFill rotWithShape="1">
          <a:blip r:embed="rId2">
            <a:alphaModFix/>
          </a:blip>
          <a:srcRect l="39055" t="1746" r="23653" b="1737"/>
          <a:stretch/>
        </p:blipFill>
        <p:spPr>
          <a:xfrm>
            <a:off x="7646763" y="1"/>
            <a:ext cx="4545236" cy="6858001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7860344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chart" Target="../charts/chart3.xml"/><Relationship Id="rId4" Type="http://schemas.openxmlformats.org/officeDocument/2006/relationships/chart" Target="../charts/chart4.xml"/><Relationship Id="rId5" Type="http://schemas.openxmlformats.org/officeDocument/2006/relationships/chart" Target="../charts/char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chart" Target="../charts/chart6.xml"/><Relationship Id="rId4" Type="http://schemas.openxmlformats.org/officeDocument/2006/relationships/chart" Target="../charts/char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chart" Target="../charts/chart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4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7" name="Google Shape;237;p57"/>
          <p:cNvGrpSpPr/>
          <p:nvPr/>
        </p:nvGrpSpPr>
        <p:grpSpPr>
          <a:xfrm>
            <a:off x="10726218" y="45733"/>
            <a:ext cx="1117309" cy="3572108"/>
            <a:chOff x="0" y="-38100"/>
            <a:chExt cx="660400" cy="2111341"/>
          </a:xfrm>
        </p:grpSpPr>
        <p:sp>
          <p:nvSpPr>
            <p:cNvPr id="238" name="Google Shape;238;p57"/>
            <p:cNvSpPr/>
            <p:nvPr/>
          </p:nvSpPr>
          <p:spPr>
            <a:xfrm>
              <a:off x="0" y="0"/>
              <a:ext cx="660400" cy="2073241"/>
            </a:xfrm>
            <a:custGeom>
              <a:avLst/>
              <a:gdLst/>
              <a:ahLst/>
              <a:cxnLst/>
              <a:rect l="l" t="t" r="r" b="b"/>
              <a:pathLst>
                <a:path w="660400" h="2073241" extrusionOk="0">
                  <a:moveTo>
                    <a:pt x="220252" y="2054172"/>
                  </a:moveTo>
                  <a:cubicBezTo>
                    <a:pt x="254109" y="2065686"/>
                    <a:pt x="292600" y="2073241"/>
                    <a:pt x="330378" y="2073241"/>
                  </a:cubicBezTo>
                  <a:cubicBezTo>
                    <a:pt x="368157" y="2073241"/>
                    <a:pt x="404509" y="2066765"/>
                    <a:pt x="438009" y="2055251"/>
                  </a:cubicBezTo>
                  <a:cubicBezTo>
                    <a:pt x="438723" y="2054891"/>
                    <a:pt x="439435" y="2054891"/>
                    <a:pt x="440148" y="2054532"/>
                  </a:cubicBezTo>
                  <a:cubicBezTo>
                    <a:pt x="565955" y="2008476"/>
                    <a:pt x="658618" y="1886863"/>
                    <a:pt x="660400" y="1716742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715467"/>
                  </a:lnTo>
                  <a:cubicBezTo>
                    <a:pt x="1782" y="1887581"/>
                    <a:pt x="93019" y="2009197"/>
                    <a:pt x="220252" y="2054172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100000">
                  <a:srgbClr val="777AF1">
                    <a:alpha val="99215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60967" tIns="30467" rIns="60967" bIns="30467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39" name="Google Shape;239;p57"/>
            <p:cNvSpPr txBox="1"/>
            <p:nvPr/>
          </p:nvSpPr>
          <p:spPr>
            <a:xfrm>
              <a:off x="0" y="-38100"/>
              <a:ext cx="660300" cy="1984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033" tIns="27033" rIns="27033" bIns="27033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47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0" name="Google Shape;240;p57"/>
          <p:cNvGrpSpPr/>
          <p:nvPr/>
        </p:nvGrpSpPr>
        <p:grpSpPr>
          <a:xfrm rot="2700000">
            <a:off x="9114027" y="4649414"/>
            <a:ext cx="2111812" cy="2111735"/>
            <a:chOff x="0" y="0"/>
            <a:chExt cx="812800" cy="812800"/>
          </a:xfrm>
        </p:grpSpPr>
        <p:sp>
          <p:nvSpPr>
            <p:cNvPr id="241" name="Google Shape;241;p5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100000">
                  <a:srgbClr val="777AF1">
                    <a:alpha val="99215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60967" tIns="30467" rIns="60967" bIns="30467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2" name="Google Shape;242;p57"/>
            <p:cNvSpPr txBox="1"/>
            <p:nvPr/>
          </p:nvSpPr>
          <p:spPr>
            <a:xfrm>
              <a:off x="76200" y="38100"/>
              <a:ext cx="660300" cy="69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033" tIns="27033" rIns="27033" bIns="27033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47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3" name="Google Shape;243;p57"/>
          <p:cNvGrpSpPr/>
          <p:nvPr/>
        </p:nvGrpSpPr>
        <p:grpSpPr>
          <a:xfrm rot="13500000">
            <a:off x="6909840" y="672609"/>
            <a:ext cx="1551328" cy="1551328"/>
            <a:chOff x="0" y="0"/>
            <a:chExt cx="812800" cy="812800"/>
          </a:xfrm>
        </p:grpSpPr>
        <p:sp>
          <p:nvSpPr>
            <p:cNvPr id="244" name="Google Shape;244;p5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100000">
                  <a:srgbClr val="777AF1">
                    <a:alpha val="99215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60967" tIns="30467" rIns="60967" bIns="30467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5" name="Google Shape;245;p57"/>
            <p:cNvSpPr txBox="1"/>
            <p:nvPr/>
          </p:nvSpPr>
          <p:spPr>
            <a:xfrm>
              <a:off x="76200" y="38100"/>
              <a:ext cx="660300" cy="69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033" tIns="27033" rIns="27033" bIns="27033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47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6" name="Google Shape;246;p57"/>
          <p:cNvGrpSpPr/>
          <p:nvPr/>
        </p:nvGrpSpPr>
        <p:grpSpPr>
          <a:xfrm>
            <a:off x="11131790" y="4820509"/>
            <a:ext cx="191929" cy="191929"/>
            <a:chOff x="0" y="0"/>
            <a:chExt cx="812800" cy="812800"/>
          </a:xfrm>
        </p:grpSpPr>
        <p:sp>
          <p:nvSpPr>
            <p:cNvPr id="247" name="Google Shape;247;p5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51764"/>
                  </a:srgbClr>
                </a:gs>
                <a:gs pos="100000">
                  <a:srgbClr val="777AF1">
                    <a:alpha val="51372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60967" tIns="30467" rIns="60967" bIns="30467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8" name="Google Shape;248;p57"/>
            <p:cNvSpPr txBox="1"/>
            <p:nvPr/>
          </p:nvSpPr>
          <p:spPr>
            <a:xfrm>
              <a:off x="76200" y="38100"/>
              <a:ext cx="660300" cy="69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033" tIns="27033" rIns="27033" bIns="27033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47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49" name="Google Shape;249;p57"/>
          <p:cNvGrpSpPr/>
          <p:nvPr/>
        </p:nvGrpSpPr>
        <p:grpSpPr>
          <a:xfrm>
            <a:off x="6740468" y="2596028"/>
            <a:ext cx="449208" cy="449208"/>
            <a:chOff x="0" y="0"/>
            <a:chExt cx="812800" cy="812800"/>
          </a:xfrm>
        </p:grpSpPr>
        <p:sp>
          <p:nvSpPr>
            <p:cNvPr id="250" name="Google Shape;250;p5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32941"/>
                  </a:srgbClr>
                </a:gs>
                <a:gs pos="100000">
                  <a:srgbClr val="777AF1">
                    <a:alpha val="32549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60967" tIns="30467" rIns="60967" bIns="30467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1" name="Google Shape;251;p57"/>
            <p:cNvSpPr txBox="1"/>
            <p:nvPr/>
          </p:nvSpPr>
          <p:spPr>
            <a:xfrm>
              <a:off x="76200" y="38100"/>
              <a:ext cx="660300" cy="69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7400" tIns="17400" rIns="17400" bIns="174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47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2" name="Google Shape;252;p57"/>
          <p:cNvGrpSpPr/>
          <p:nvPr/>
        </p:nvGrpSpPr>
        <p:grpSpPr>
          <a:xfrm>
            <a:off x="7127916" y="3494266"/>
            <a:ext cx="123545" cy="123545"/>
            <a:chOff x="0" y="0"/>
            <a:chExt cx="812800" cy="812800"/>
          </a:xfrm>
        </p:grpSpPr>
        <p:sp>
          <p:nvSpPr>
            <p:cNvPr id="253" name="Google Shape;253;p5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>
              <a:gsLst>
                <a:gs pos="0">
                  <a:srgbClr val="FFFFFF">
                    <a:alpha val="51764"/>
                  </a:srgbClr>
                </a:gs>
                <a:gs pos="100000">
                  <a:srgbClr val="777AF1">
                    <a:alpha val="51372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60967" tIns="30467" rIns="60967" bIns="30467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4" name="Google Shape;254;p57"/>
            <p:cNvSpPr txBox="1"/>
            <p:nvPr/>
          </p:nvSpPr>
          <p:spPr>
            <a:xfrm>
              <a:off x="76200" y="38100"/>
              <a:ext cx="660300" cy="6984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17400" tIns="17400" rIns="17400" bIns="174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47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grpSp>
        <p:nvGrpSpPr>
          <p:cNvPr id="255" name="Google Shape;255;p57"/>
          <p:cNvGrpSpPr/>
          <p:nvPr/>
        </p:nvGrpSpPr>
        <p:grpSpPr>
          <a:xfrm rot="10800000">
            <a:off x="5891103" y="5216924"/>
            <a:ext cx="542496" cy="1641089"/>
            <a:chOff x="0" y="-38100"/>
            <a:chExt cx="660400" cy="1997756"/>
          </a:xfrm>
        </p:grpSpPr>
        <p:sp>
          <p:nvSpPr>
            <p:cNvPr id="256" name="Google Shape;256;p57"/>
            <p:cNvSpPr/>
            <p:nvPr/>
          </p:nvSpPr>
          <p:spPr>
            <a:xfrm>
              <a:off x="0" y="0"/>
              <a:ext cx="660400" cy="1959656"/>
            </a:xfrm>
            <a:custGeom>
              <a:avLst/>
              <a:gdLst/>
              <a:ahLst/>
              <a:cxnLst/>
              <a:rect l="l" t="t" r="r" b="b"/>
              <a:pathLst>
                <a:path w="660400" h="1959656" extrusionOk="0">
                  <a:moveTo>
                    <a:pt x="220252" y="1940587"/>
                  </a:moveTo>
                  <a:cubicBezTo>
                    <a:pt x="254109" y="1952101"/>
                    <a:pt x="292600" y="1959656"/>
                    <a:pt x="330378" y="1959656"/>
                  </a:cubicBezTo>
                  <a:cubicBezTo>
                    <a:pt x="368157" y="1959656"/>
                    <a:pt x="404509" y="1953179"/>
                    <a:pt x="438009" y="1941666"/>
                  </a:cubicBezTo>
                  <a:cubicBezTo>
                    <a:pt x="438723" y="1941306"/>
                    <a:pt x="439435" y="1941306"/>
                    <a:pt x="440148" y="1940947"/>
                  </a:cubicBezTo>
                  <a:cubicBezTo>
                    <a:pt x="565955" y="1894891"/>
                    <a:pt x="658618" y="1773277"/>
                    <a:pt x="660400" y="1605680"/>
                  </a:cubicBezTo>
                  <a:lnTo>
                    <a:pt x="660400" y="0"/>
                  </a:lnTo>
                  <a:lnTo>
                    <a:pt x="0" y="0"/>
                  </a:lnTo>
                  <a:lnTo>
                    <a:pt x="0" y="1604488"/>
                  </a:lnTo>
                  <a:cubicBezTo>
                    <a:pt x="1782" y="1773996"/>
                    <a:pt x="93019" y="1895611"/>
                    <a:pt x="220252" y="1940587"/>
                  </a:cubicBezTo>
                  <a:close/>
                </a:path>
              </a:pathLst>
            </a:custGeom>
            <a:gradFill>
              <a:gsLst>
                <a:gs pos="0">
                  <a:srgbClr val="FFFFFF"/>
                </a:gs>
                <a:gs pos="100000">
                  <a:srgbClr val="777AF1">
                    <a:alpha val="99215"/>
                  </a:srgbClr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60967" tIns="30467" rIns="60967" bIns="30467" anchor="t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7" name="Google Shape;257;p57"/>
            <p:cNvSpPr txBox="1"/>
            <p:nvPr/>
          </p:nvSpPr>
          <p:spPr>
            <a:xfrm>
              <a:off x="0" y="-38100"/>
              <a:ext cx="660300" cy="18708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27033" tIns="27033" rIns="27033" bIns="27033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867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defRPr>
              </a:lvl9pPr>
            </a:lstStyle>
            <a:p>
              <a:pPr marL="0" marR="0" lvl="0" indent="0" algn="ctr" rtl="0">
                <a:lnSpc>
                  <a:spcPct val="147777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2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259" name="Google Shape;259;p57"/>
          <p:cNvSpPr/>
          <p:nvPr/>
        </p:nvSpPr>
        <p:spPr>
          <a:xfrm>
            <a:off x="764427" y="530173"/>
            <a:ext cx="1720851" cy="573617"/>
          </a:xfrm>
          <a:custGeom>
            <a:avLst/>
            <a:gdLst/>
            <a:ahLst/>
            <a:cxnLst/>
            <a:rect l="l" t="t" r="r" b="b"/>
            <a:pathLst>
              <a:path w="2581277" h="860426" extrusionOk="0">
                <a:moveTo>
                  <a:pt x="0" y="0"/>
                </a:moveTo>
                <a:lnTo>
                  <a:pt x="2581277" y="0"/>
                </a:lnTo>
                <a:lnTo>
                  <a:pt x="2581277" y="860426"/>
                </a:lnTo>
                <a:lnTo>
                  <a:pt x="0" y="860426"/>
                </a:lnTo>
                <a:lnTo>
                  <a:pt x="0" y="0"/>
                </a:lnTo>
                <a:close/>
              </a:path>
            </a:pathLst>
          </a:custGeom>
          <a:blipFill rotWithShape="1">
            <a:blip r:embed="rId3">
              <a:alphaModFix/>
            </a:blip>
            <a:stretch>
              <a:fillRect/>
            </a:stretch>
          </a:blipFill>
          <a:ln>
            <a:noFill/>
          </a:ln>
        </p:spPr>
        <p:txBody>
          <a:bodyPr spcFirstLastPara="1" wrap="square" lIns="60967" tIns="30467" rIns="60967" bIns="30467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68" name="Google Shape;268;p5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16879" y="1103816"/>
            <a:ext cx="6656383" cy="5005288"/>
          </a:xfrm>
          <a:prstGeom prst="rect">
            <a:avLst/>
          </a:prstGeom>
          <a:noFill/>
          <a:ln>
            <a:noFill/>
          </a:ln>
        </p:spPr>
      </p:pic>
      <p:sp>
        <p:nvSpPr>
          <p:cNvPr id="3" name="Google Shape;407;p102">
            <a:extLst>
              <a:ext uri="{FF2B5EF4-FFF2-40B4-BE49-F238E27FC236}">
                <a16:creationId xmlns:a16="http://schemas.microsoft.com/office/drawing/2014/main" id="{3768561F-B97A-2DCA-4457-AB219666B666}"/>
              </a:ext>
            </a:extLst>
          </p:cNvPr>
          <p:cNvSpPr txBox="1"/>
          <p:nvPr/>
        </p:nvSpPr>
        <p:spPr>
          <a:xfrm>
            <a:off x="722768" y="4904380"/>
            <a:ext cx="4958160" cy="11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rmAutofit fontScale="92500" lnSpcReduction="20000"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8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r>
              <a:rPr lang="en-US" sz="2000" b="1" dirty="0">
                <a:solidFill>
                  <a:schemeClr val="accent1">
                    <a:lumMod val="50000"/>
                  </a:schemeClr>
                </a:solidFill>
                <a:latin typeface="Aptos"/>
                <a:ea typeface="Calibri"/>
                <a:cs typeface="Calibri"/>
              </a:rPr>
              <a:t>Fibe × InsureMO – Monthly Governance</a:t>
            </a:r>
            <a:endParaRPr lang="en-US" sz="2000" dirty="0">
              <a:solidFill>
                <a:schemeClr val="accent1">
                  <a:lumMod val="50000"/>
                </a:schemeClr>
              </a:solidFill>
              <a:latin typeface="Aptos"/>
              <a:ea typeface="Calibri"/>
              <a:cs typeface="Calibri"/>
            </a:endParaRPr>
          </a:p>
          <a:p>
            <a:r>
              <a:rPr lang="en-US" sz="2000" b="1" dirty="0">
                <a:solidFill>
                  <a:schemeClr val="accent1">
                    <a:lumMod val="50000"/>
                  </a:schemeClr>
                </a:solidFill>
                <a:latin typeface="Aptos"/>
                <a:ea typeface="Calibri"/>
                <a:cs typeface="Calibri"/>
              </a:rPr>
              <a:t>Sep 2026</a:t>
            </a:r>
          </a:p>
          <a:p>
            <a:endParaRPr lang="en-US" sz="2000" b="1" dirty="0">
              <a:solidFill>
                <a:schemeClr val="accent1">
                  <a:lumMod val="50000"/>
                </a:schemeClr>
              </a:solidFill>
              <a:latin typeface="Aptos"/>
              <a:ea typeface="Calibri"/>
              <a:cs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 i="0" dirty="0">
                <a:solidFill>
                  <a:srgbClr val="7776F6"/>
                </a:solidFill>
                <a:latin typeface="Albert Sans"/>
              </a:rPr>
              <a:t>Powered by InsureMO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Agenda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sections — September against August throughout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109087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68680" y="1517904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E8F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2200"/>
          </a:p>
        </p:txBody>
      </p:sp>
      <p:sp>
        <p:nvSpPr>
          <p:cNvPr id="9" name="Text 7"/>
          <p:cNvSpPr/>
          <p:nvPr/>
        </p:nvSpPr>
        <p:spPr>
          <a:xfrm>
            <a:off x="1645920" y="1490472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Registration funnel</a:t>
            </a:r>
            <a:endParaRPr lang="en-US" sz="1400"/>
          </a:p>
        </p:txBody>
      </p:sp>
      <p:sp>
        <p:nvSpPr>
          <p:cNvPr id="10" name="Text 8"/>
          <p:cNvSpPr/>
          <p:nvPr/>
        </p:nvSpPr>
        <p:spPr>
          <a:xfrm>
            <a:off x="1645920" y="1783080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applications, policies and every conversion step</a:t>
            </a:r>
            <a:endParaRPr lang="en-US" sz="1100"/>
          </a:p>
        </p:txBody>
      </p:sp>
      <p:sp>
        <p:nvSpPr>
          <p:cNvPr id="11" name="Shape 9"/>
          <p:cNvSpPr/>
          <p:nvPr/>
        </p:nvSpPr>
        <p:spPr>
          <a:xfrm>
            <a:off x="640080" y="2267712"/>
            <a:ext cx="109087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868680" y="2414016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E8F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2200"/>
          </a:p>
        </p:txBody>
      </p:sp>
      <p:sp>
        <p:nvSpPr>
          <p:cNvPr id="13" name="Text 11"/>
          <p:cNvSpPr/>
          <p:nvPr/>
        </p:nvSpPr>
        <p:spPr>
          <a:xfrm>
            <a:off x="1645920" y="2386584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 comparison</a:t>
            </a:r>
            <a:endParaRPr lang="en-US" sz="1400"/>
          </a:p>
        </p:txBody>
      </p:sp>
      <p:sp>
        <p:nvSpPr>
          <p:cNvPr id="14" name="Text 12"/>
          <p:cNvSpPr/>
          <p:nvPr/>
        </p:nvSpPr>
        <p:spPr>
          <a:xfrm>
            <a:off x="1645920" y="2679192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metrics for all three carriers, 2W and 4W views, and a cumulative Aug + Sep view</a:t>
            </a:r>
            <a:endParaRPr lang="en-US" sz="1100"/>
          </a:p>
        </p:txBody>
      </p:sp>
      <p:sp>
        <p:nvSpPr>
          <p:cNvPr id="15" name="Shape 13"/>
          <p:cNvSpPr/>
          <p:nvPr/>
        </p:nvSpPr>
        <p:spPr>
          <a:xfrm>
            <a:off x="640080" y="3163824"/>
            <a:ext cx="109087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8680" y="3310128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E8F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2200"/>
          </a:p>
        </p:txBody>
      </p:sp>
      <p:sp>
        <p:nvSpPr>
          <p:cNvPr id="17" name="Text 15"/>
          <p:cNvSpPr/>
          <p:nvPr/>
        </p:nvSpPr>
        <p:spPr>
          <a:xfrm>
            <a:off x="1645920" y="3282696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Carrier deep dives</a:t>
            </a:r>
            <a:endParaRPr lang="en-US" sz="1400"/>
          </a:p>
        </p:txBody>
      </p:sp>
      <p:sp>
        <p:nvSpPr>
          <p:cNvPr id="18" name="Text 16"/>
          <p:cNvSpPr/>
          <p:nvPr/>
        </p:nvSpPr>
        <p:spPr>
          <a:xfrm>
            <a:off x="1645920" y="3575304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each for ICICI Lombard, Go Digit, Tata AIG and NIA</a:t>
            </a:r>
            <a:endParaRPr lang="en-US" sz="1100"/>
          </a:p>
        </p:txBody>
      </p:sp>
      <p:sp>
        <p:nvSpPr>
          <p:cNvPr id="19" name="Shape 17"/>
          <p:cNvSpPr/>
          <p:nvPr/>
        </p:nvSpPr>
        <p:spPr>
          <a:xfrm>
            <a:off x="640080" y="4059936"/>
            <a:ext cx="109087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868680" y="4206240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E8F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2200"/>
          </a:p>
        </p:txBody>
      </p:sp>
      <p:sp>
        <p:nvSpPr>
          <p:cNvPr id="21" name="Text 19"/>
          <p:cNvSpPr/>
          <p:nvPr/>
        </p:nvSpPr>
        <p:spPr>
          <a:xfrm>
            <a:off x="1645920" y="417880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Diagnostics</a:t>
            </a:r>
            <a:endParaRPr lang="en-US" sz="1400"/>
          </a:p>
        </p:txBody>
      </p:sp>
      <p:sp>
        <p:nvSpPr>
          <p:cNvPr id="22" name="Text 20"/>
          <p:cNvSpPr/>
          <p:nvPr/>
        </p:nvSpPr>
        <p:spPr>
          <a:xfrm>
            <a:off x="1645920" y="4471416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versus repeat demand, failures, repeat quoting, expiry and segments</a:t>
            </a:r>
            <a:endParaRPr lang="en-US" sz="1100"/>
          </a:p>
        </p:txBody>
      </p:sp>
      <p:sp>
        <p:nvSpPr>
          <p:cNvPr id="23" name="Shape 21"/>
          <p:cNvSpPr/>
          <p:nvPr/>
        </p:nvSpPr>
        <p:spPr>
          <a:xfrm>
            <a:off x="640080" y="4956048"/>
            <a:ext cx="10908792" cy="786384"/>
          </a:xfrm>
          <a:prstGeom prst="roundRect">
            <a:avLst>
              <a:gd name="adj" fmla="val 8140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868680" y="5102352"/>
            <a:ext cx="6400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>
                <a:solidFill>
                  <a:srgbClr val="E8F1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2200"/>
          </a:p>
        </p:txBody>
      </p:sp>
      <p:sp>
        <p:nvSpPr>
          <p:cNvPr id="25" name="Text 23"/>
          <p:cNvSpPr/>
          <p:nvPr/>
        </p:nvSpPr>
        <p:spPr>
          <a:xfrm>
            <a:off x="1645920" y="50749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</a:t>
            </a:r>
            <a:endParaRPr lang="en-US" sz="1400"/>
          </a:p>
        </p:txBody>
      </p:sp>
      <p:sp>
        <p:nvSpPr>
          <p:cNvPr id="26" name="Text 24"/>
          <p:cNvSpPr/>
          <p:nvPr/>
        </p:nvSpPr>
        <p:spPr>
          <a:xfrm>
            <a:off x="1645920" y="536752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Recommendations, delivery impact, remaining gaps and next steps</a:t>
            </a:r>
            <a:endParaRPr lang="en-US" sz="1100"/>
          </a:p>
        </p:txBody>
      </p:sp>
      <p:sp>
        <p:nvSpPr>
          <p:cNvPr id="27" name="Shape 25"/>
          <p:cNvSpPr/>
          <p:nvPr/>
        </p:nvSpPr>
        <p:spPr>
          <a:xfrm>
            <a:off x="640080" y="5870448"/>
            <a:ext cx="10908792" cy="457200"/>
          </a:xfrm>
          <a:prstGeom prst="roundRect">
            <a:avLst>
              <a:gd name="adj" fmla="val 14000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868680" y="5943600"/>
            <a:ext cx="10424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   </a:t>
            </a:r>
            <a:r>
              <a:rPr lang="en-US" sz="110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review covers September 2026 with August 2026 as the only comparison (the API holds July only from 5 July and it does not reconcile to the July figures in the August deck). All figures were extracted directly from the InsureMO transaction log; the same extraction reproduces the August deck exactly.</a:t>
            </a:r>
            <a:endParaRPr lang="en-US" sz="11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against August 2026 — demand and conversion both fell; reliability held but is still weak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3,085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22960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Unique registrations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37.5% vs August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2738628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2921508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2921508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issued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2921508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62.7% vs August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4837176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5020056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INR 73,230</a:t>
            </a:r>
            <a:endParaRPr lang="en-US" sz="1500"/>
          </a:p>
        </p:txBody>
      </p:sp>
      <p:sp>
        <p:nvSpPr>
          <p:cNvPr id="17" name="Text 15"/>
          <p:cNvSpPr/>
          <p:nvPr/>
        </p:nvSpPr>
        <p:spPr>
          <a:xfrm>
            <a:off x="5020056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GWP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5020056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42.7% vs August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6935724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7118604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93.6%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7118604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50">
                <a:solidFill>
                  <a:srgbClr val="1B2733"/>
                </a:solidFill>
                <a:ea typeface="Calibri"/>
                <a:cs typeface="Calibri"/>
              </a:rPr>
              <a:t>Leads getting a price</a:t>
            </a:r>
            <a:endParaRPr lang="en-US" sz="1050">
              <a:solidFill>
                <a:srgbClr val="000000"/>
              </a:solidFill>
              <a:ea typeface="Calibri"/>
              <a:cs typeface="Calibri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7118604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1.3 pp</a:t>
            </a:r>
            <a:endParaRPr lang="en-US" sz="1000"/>
          </a:p>
        </p:txBody>
      </p:sp>
      <p:sp>
        <p:nvSpPr>
          <p:cNvPr id="23" name="Shape 21"/>
          <p:cNvSpPr/>
          <p:nvPr/>
        </p:nvSpPr>
        <p:spPr>
          <a:xfrm>
            <a:off x="9034272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9217152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40,148</a:t>
            </a:r>
            <a:endParaRPr lang="en-US" sz="2000"/>
          </a:p>
        </p:txBody>
      </p:sp>
      <p:sp>
        <p:nvSpPr>
          <p:cNvPr id="25" name="Text 23"/>
          <p:cNvSpPr/>
          <p:nvPr/>
        </p:nvSpPr>
        <p:spPr>
          <a:xfrm>
            <a:off x="9217152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quote calls</a:t>
            </a:r>
            <a:endParaRPr lang="en-US" sz="1050"/>
          </a:p>
        </p:txBody>
      </p:sp>
      <p:sp>
        <p:nvSpPr>
          <p:cNvPr id="26" name="Text 24"/>
          <p:cNvSpPr/>
          <p:nvPr/>
        </p:nvSpPr>
        <p:spPr>
          <a:xfrm>
            <a:off x="9217152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36.3% vs August</a:t>
            </a:r>
            <a:endParaRPr lang="en-US" sz="100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97480"/>
          <a:ext cx="7223760" cy="3124200"/>
        </p:xfrm>
        <a:graphic>
          <a:graphicData uri="http://schemas.openxmlformats.org/drawingml/2006/table">
            <a:tbl>
              <a:tblPr/>
              <a:tblGrid>
                <a:gridCol w="23774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972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88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August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September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Direction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Unique registrations (leads)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4,935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37.5%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vehicles entering the funnel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at least one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4,556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36.6%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Fell, but slower than leads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Applications started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45.0%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 vehicles entering the journey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Vehicles that bought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62.7%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 step that fell most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62.7%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One policy per buying vehicle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1,27,793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73,230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Fewer, richer policies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53.7%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Premium mix moved to 4W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 placed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1,46,324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91,586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37.4%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Machinery shrank with demand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971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63,023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40,148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36.3%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 with volume; rate unchanged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  <p:sp>
        <p:nvSpPr>
          <p:cNvPr id="28" name="Shape 25"/>
          <p:cNvSpPr/>
          <p:nvPr/>
        </p:nvSpPr>
        <p:spPr>
          <a:xfrm>
            <a:off x="8001000" y="2697480"/>
            <a:ext cx="3547872" cy="1554480"/>
          </a:xfrm>
          <a:prstGeom prst="roundRect">
            <a:avLst>
              <a:gd name="adj" fmla="val 4118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Text 26"/>
          <p:cNvSpPr/>
          <p:nvPr/>
        </p:nvSpPr>
        <p:spPr>
          <a:xfrm>
            <a:off x="8229600" y="2798064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went right</a:t>
            </a:r>
            <a:endParaRPr lang="en-US" sz="1200"/>
          </a:p>
        </p:txBody>
      </p:sp>
      <p:sp>
        <p:nvSpPr>
          <p:cNvPr id="30" name="Text 27"/>
          <p:cNvSpPr/>
          <p:nvPr/>
        </p:nvSpPr>
        <p:spPr>
          <a:xfrm>
            <a:off x="8229600" y="3090672"/>
            <a:ext cx="312724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Leads getting a price: 92.3% → 93.6%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Average premium up 53.7% to INR 3,329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Go Digit GWP up 20.7% to INR 39,791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Digit and Tata 4W call success both improved</a:t>
            </a:r>
            <a:endParaRPr lang="en-US" sz="1050"/>
          </a:p>
        </p:txBody>
      </p:sp>
      <p:sp>
        <p:nvSpPr>
          <p:cNvPr id="31" name="Shape 28"/>
          <p:cNvSpPr/>
          <p:nvPr/>
        </p:nvSpPr>
        <p:spPr>
          <a:xfrm>
            <a:off x="8001000" y="4389120"/>
            <a:ext cx="3547872" cy="1234440"/>
          </a:xfrm>
          <a:prstGeom prst="roundRect">
            <a:avLst>
              <a:gd name="adj" fmla="val 5185"/>
            </a:avLst>
          </a:prstGeom>
          <a:solidFill>
            <a:srgbClr val="FCECEA"/>
          </a:solidFill>
          <a:ln w="12700">
            <a:solidFill>
              <a:srgbClr val="F2C9C4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29"/>
          <p:cNvSpPr/>
          <p:nvPr/>
        </p:nvSpPr>
        <p:spPr>
          <a:xfrm>
            <a:off x="8229600" y="4480560"/>
            <a:ext cx="31089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went wrong</a:t>
            </a:r>
            <a:endParaRPr lang="en-US" sz="1200"/>
          </a:p>
        </p:txBody>
      </p:sp>
      <p:sp>
        <p:nvSpPr>
          <p:cNvPr id="33" name="Text 30"/>
          <p:cNvSpPr/>
          <p:nvPr/>
        </p:nvSpPr>
        <p:spPr>
          <a:xfrm>
            <a:off x="8229600" y="4754880"/>
            <a:ext cx="31272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Policies fell 59 → 22; ICICI 25 → 5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Application → bought: 24.4% → 16.5%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Tata AIG 2W priced only 3.0% of calls; iHub incident on 21–22 Sept</a:t>
            </a:r>
            <a:endParaRPr lang="en-US" sz="1050"/>
          </a:p>
        </p:txBody>
      </p:sp>
      <p:sp>
        <p:nvSpPr>
          <p:cNvPr id="34" name="Shape 31"/>
          <p:cNvSpPr/>
          <p:nvPr/>
        </p:nvSpPr>
        <p:spPr>
          <a:xfrm>
            <a:off x="8001000" y="5742432"/>
            <a:ext cx="3547872" cy="512064"/>
          </a:xfrm>
          <a:prstGeom prst="roundRect">
            <a:avLst>
              <a:gd name="adj" fmla="val 12500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2"/>
          <p:cNvSpPr/>
          <p:nvPr/>
        </p:nvSpPr>
        <p:spPr>
          <a:xfrm>
            <a:off x="8229600" y="5797296"/>
            <a:ext cx="312724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one-line story   </a:t>
            </a: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vehicles and fewer buyers, with ICICI Lombard's funnel breaking at KYC — and no improvement in quote reliability.</a:t>
            </a:r>
            <a:endParaRPr lang="en-US" sz="105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2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572000" cy="4572000"/>
          </a:xfrm>
          <a:prstGeom prst="ellipse">
            <a:avLst/>
          </a:prstGeom>
          <a:solidFill>
            <a:srgbClr val="143C7E"/>
          </a:solidFill>
          <a:ln w="12700">
            <a:solidFill>
              <a:srgbClr val="143C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77240" y="20574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>
                <a:solidFill>
                  <a:srgbClr val="1E4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7200"/>
          </a:p>
        </p:txBody>
      </p:sp>
      <p:sp>
        <p:nvSpPr>
          <p:cNvPr id="4" name="Text 2"/>
          <p:cNvSpPr/>
          <p:nvPr/>
        </p:nvSpPr>
        <p:spPr>
          <a:xfrm>
            <a:off x="2148840" y="2286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Registration Funnel</a:t>
            </a:r>
            <a:endParaRPr lang="en-US" sz="3200"/>
          </a:p>
        </p:txBody>
      </p:sp>
      <p:sp>
        <p:nvSpPr>
          <p:cNvPr id="5" name="Text 3"/>
          <p:cNvSpPr/>
          <p:nvPr/>
        </p:nvSpPr>
        <p:spPr>
          <a:xfrm>
            <a:off x="2194560" y="3017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against August, stage by stage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219456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Every step from lead to issued policy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Quote engine efficiency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Business outcome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6E8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5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Funnel, September versus August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stage and every step conversion, per unique registration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5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845620"/>
              </p:ext>
            </p:extLst>
          </p:nvPr>
        </p:nvGraphicFramePr>
        <p:xfrm>
          <a:off x="640080" y="1371600"/>
          <a:ext cx="7589520" cy="3273552"/>
        </p:xfrm>
        <a:graphic>
          <a:graphicData uri="http://schemas.openxmlformats.org/drawingml/2006/table">
            <a:tbl>
              <a:tblPr/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Stage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August 2026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September 2026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Change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Comment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1. Unique registrations (leads)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4,935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3,085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37.5%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Fewer vehicles entering the funnel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2. Leads with at least one price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4,556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2,889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36.6%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Fell 36.6%, slower than leads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3. Leads reaching application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242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133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45.0%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Fell as fast as leads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4. Vehicles that bought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59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22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62.7%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The largest single decline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     Policies issued (count)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59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22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62.7%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One policy per buying vehicle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Step conversions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Lead → quote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92.3%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93.6%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E7C5A"/>
                          </a:solidFill>
                          <a:latin typeface="Calibri"/>
                          <a:ea typeface="Calibri"/>
                          <a:cs typeface="Calibri"/>
                        </a:rPr>
                        <a:t>▲ 1.3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E7C5A"/>
                          </a:solidFill>
                          <a:latin typeface="Calibri"/>
                          <a:ea typeface="Calibri"/>
                          <a:cs typeface="Calibri"/>
                        </a:rPr>
                        <a:t>Improved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Quote→ Proposal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4.9%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4.3%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0.6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Slipped back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Proposal→ Purchase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24.4%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16.5%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7.8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Gave back much of August's gain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Lead → Purchase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1.20%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0.71%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0.48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Down by about 40%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412480" y="1371600"/>
            <a:ext cx="3136392" cy="2103120"/>
          </a:xfrm>
          <a:prstGeom prst="roundRect">
            <a:avLst>
              <a:gd name="adj" fmla="val 304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13648" y="14813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bottom fell</a:t>
            </a:r>
            <a:endParaRPr lang="en-US" sz="1200"/>
          </a:p>
        </p:txBody>
      </p:sp>
      <p:sp>
        <p:nvSpPr>
          <p:cNvPr id="10" name="Text 7"/>
          <p:cNvSpPr/>
          <p:nvPr/>
        </p:nvSpPr>
        <p:spPr>
          <a:xfrm>
            <a:off x="8613648" y="1792224"/>
            <a:ext cx="27614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Application → bought: 24.4% → 16.5%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 → bought: 1.20% → 0.71%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22 vehicles bought, against 59 in August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ICICI Lombard did most of the damage: 40 applications, 5 policies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8412480" y="3611880"/>
            <a:ext cx="3136392" cy="1417320"/>
          </a:xfrm>
          <a:prstGeom prst="roundRect">
            <a:avLst>
              <a:gd name="adj" fmla="val 4516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13648" y="37124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 step improved</a:t>
            </a:r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8613648" y="4005072"/>
            <a:ext cx="27614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 → price: 92.3% → 93.6%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133 applications, down 45.0%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Only 6.4% of leads got no price at all</a:t>
            </a:r>
            <a:endParaRPr lang="en-US" sz="1050"/>
          </a:p>
        </p:txBody>
      </p:sp>
      <p:sp>
        <p:nvSpPr>
          <p:cNvPr id="14" name="Shape 11"/>
          <p:cNvSpPr/>
          <p:nvPr/>
        </p:nvSpPr>
        <p:spPr>
          <a:xfrm>
            <a:off x="8412480" y="5166360"/>
            <a:ext cx="3136392" cy="1005840"/>
          </a:xfrm>
          <a:prstGeom prst="roundRect">
            <a:avLst>
              <a:gd name="adj" fmla="val 6364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613648" y="52578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verify next month</a:t>
            </a:r>
            <a:endParaRPr lang="en-US" sz="1200"/>
          </a:p>
        </p:txBody>
      </p:sp>
      <p:sp>
        <p:nvSpPr>
          <p:cNvPr id="16" name="Text 13"/>
          <p:cNvSpPr/>
          <p:nvPr/>
        </p:nvSpPr>
        <p:spPr>
          <a:xfrm>
            <a:off x="8613648" y="5513832"/>
            <a:ext cx="2761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Whether the application → bought rate recovers above 20%, and whether ICICI proposals stuck at KYC pending (49 of 104 proposal calls) convert.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640080" y="6263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Vehicles that bought and policies issued are identical in both months — registration-level issuance reconciles for all three carriers.</a:t>
            </a:r>
            <a:endParaRPr lang="en-US" sz="9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Quote Engine Efficiency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machinery it takes to produce one lead’s price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91,586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22960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Quote calls in September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37.4% vs August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3438144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21024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29.7</a:t>
            </a:r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3621024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per lead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3621024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29.7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6236208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19088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56.2%</a:t>
            </a:r>
            <a:endParaRPr lang="en-US" sz="2000"/>
          </a:p>
        </p:txBody>
      </p:sp>
      <p:sp>
        <p:nvSpPr>
          <p:cNvPr id="17" name="Text 15"/>
          <p:cNvSpPr/>
          <p:nvPr/>
        </p:nvSpPr>
        <p:spPr>
          <a:xfrm>
            <a:off x="6419088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returning a price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6419088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0.8 pp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9034272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17152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40,148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9217152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calls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9217152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36.3%</a:t>
            </a:r>
            <a:endParaRPr lang="en-US" sz="1000"/>
          </a:p>
        </p:txBody>
      </p:sp>
      <p:graphicFrame>
        <p:nvGraphicFramePr>
          <p:cNvPr id="23" name="Chart 0"/>
          <p:cNvGraphicFramePr/>
          <p:nvPr/>
        </p:nvGraphicFramePr>
        <p:xfrm>
          <a:off x="640080" y="2697480"/>
          <a:ext cx="694944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4" name="Shape 21"/>
          <p:cNvSpPr/>
          <p:nvPr/>
        </p:nvSpPr>
        <p:spPr>
          <a:xfrm>
            <a:off x="7818120" y="2697480"/>
            <a:ext cx="3730752" cy="3017520"/>
          </a:xfrm>
          <a:prstGeom prst="roundRect">
            <a:avLst>
              <a:gd name="adj" fmla="val 2121"/>
            </a:avLst>
          </a:prstGeom>
          <a:solidFill>
            <a:srgbClr val="F4F6F9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8046720" y="27980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down, reliability flat</a:t>
            </a:r>
            <a:endParaRPr lang="en-US" sz="1250"/>
          </a:p>
        </p:txBody>
      </p:sp>
      <p:sp>
        <p:nvSpPr>
          <p:cNvPr id="26" name="Text 23"/>
          <p:cNvSpPr/>
          <p:nvPr/>
        </p:nvSpPr>
        <p:spPr>
          <a:xfrm>
            <a:off x="8046720" y="3108960"/>
            <a:ext cx="331012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56.2% of calls returned a price, against 56.9% in August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40,148 calls failed, against 63,023 in August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Calls fell 37.4% to 91,586; calls per lead flat at 29.7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Tata AIG is the bulk of it: 19,529 failures on 26,365 calls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iHub integration faults: 1,350 calls, 1,330 of them on 21–22 Sept</a:t>
            </a:r>
            <a:endParaRPr lang="en-US" sz="1050"/>
          </a:p>
        </p:txBody>
      </p:sp>
      <p:sp>
        <p:nvSpPr>
          <p:cNvPr id="27" name="Text 24"/>
          <p:cNvSpPr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volumes are the sum of ICICI Lombard, Go Digit and Tata AIG quickquote calls.</a:t>
            </a:r>
            <a:endParaRPr lang="en-US" sz="9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Outcome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Policies, premium and average ticket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50"/>
          </a:p>
        </p:txBody>
      </p:sp>
      <p:graphicFrame>
        <p:nvGraphicFramePr>
          <p:cNvPr id="7" name="Chart 0"/>
          <p:cNvGraphicFramePr/>
          <p:nvPr/>
        </p:nvGraphicFramePr>
        <p:xfrm>
          <a:off x="640080" y="1371600"/>
          <a:ext cx="6949440" cy="31089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Shape 5"/>
          <p:cNvSpPr/>
          <p:nvPr/>
        </p:nvSpPr>
        <p:spPr>
          <a:xfrm>
            <a:off x="7818120" y="1371600"/>
            <a:ext cx="3730752" cy="3108960"/>
          </a:xfrm>
          <a:prstGeom prst="roundRect">
            <a:avLst>
              <a:gd name="adj" fmla="val 2059"/>
            </a:avLst>
          </a:prstGeom>
          <a:solidFill>
            <a:srgbClr val="F4F6F9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046720" y="14813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policies, bigger ticket</a:t>
            </a:r>
            <a:endParaRPr lang="en-US" sz="1250"/>
          </a:p>
        </p:txBody>
      </p:sp>
      <p:sp>
        <p:nvSpPr>
          <p:cNvPr id="10" name="Text 7"/>
          <p:cNvSpPr/>
          <p:nvPr/>
        </p:nvSpPr>
        <p:spPr>
          <a:xfrm>
            <a:off x="8046720" y="1792224"/>
            <a:ext cx="3310128" cy="2560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GWP fell 42.7% to INR 73,230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Policies 59 → 22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Average premium rose 53.7% to INR 3,329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Decline is volume-led: policies fell faster than GWP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4W is 80% of GWP from 7 of 22 policies</a:t>
            </a:r>
            <a:endParaRPr lang="en-US" sz="105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709160"/>
          <a:ext cx="10908792" cy="1517904"/>
        </p:xfrm>
        <a:graphic>
          <a:graphicData uri="http://schemas.openxmlformats.org/drawingml/2006/table">
            <a:tbl>
              <a:tblPr/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86207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August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September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 day (Sep)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62.7%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 a day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1,27,793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73,230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INR 2,441 a day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53.7%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Applications started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45.0%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4.4 a day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640080" y="614476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GWP is premium on policies issued in the month. Both months are complete (Aug 31 days, Sep 30 days), so per-day figures are comparable.</a:t>
            </a:r>
            <a:endParaRPr lang="en-US" sz="9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2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572000" cy="4572000"/>
          </a:xfrm>
          <a:prstGeom prst="ellipse">
            <a:avLst/>
          </a:prstGeom>
          <a:solidFill>
            <a:srgbClr val="143C7E"/>
          </a:solidFill>
          <a:ln w="12700">
            <a:solidFill>
              <a:srgbClr val="143C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77240" y="20574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>
                <a:solidFill>
                  <a:srgbClr val="1E4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7200"/>
          </a:p>
        </p:txBody>
      </p:sp>
      <p:sp>
        <p:nvSpPr>
          <p:cNvPr id="4" name="Text 2"/>
          <p:cNvSpPr/>
          <p:nvPr/>
        </p:nvSpPr>
        <p:spPr>
          <a:xfrm>
            <a:off x="2148840" y="2286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 Comparison</a:t>
            </a:r>
            <a:endParaRPr lang="en-US" sz="3200"/>
          </a:p>
        </p:txBody>
      </p:sp>
      <p:sp>
        <p:nvSpPr>
          <p:cNvPr id="5" name="Text 3"/>
          <p:cNvSpPr/>
          <p:nvPr/>
        </p:nvSpPr>
        <p:spPr>
          <a:xfrm>
            <a:off x="2194560" y="3017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metrics for all three carriers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219456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Registrations, applications and policies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Premium and average ticket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Call efficiency, 2W / 4W views and the cumulative Aug + Sep view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6E8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5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Insurer Scorecard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with the August comparison in brackets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5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347472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ICICI Lombard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 Digit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Tata AIG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Registrations attempted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2,779   (▼ 32.8%)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2,971   (▼ 36.7%)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2,702   (▼ 35.5%)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3,085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2,548   (▼ 34.3%)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2,316   (▼ 35.7%)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904   (▼ 45.5%)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2,889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   (▼ 58.3%)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   (▼ 34.0%)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38   (▼ 37.7%)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 (▼ 80.0%)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  (▼ 52.2%)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  (▼ 45.5%)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5,008   (▼ 91.8%)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39,791   (▲ 20.7%)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28,431   (▼ 14.9%)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73,230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   (▼ 59.2%)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3,617   (▲ 152.3%)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4,738   (▲ 56.0%)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3,329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Share of GWP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   (▼ 85.8%)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54%   (▲ 110.6%)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   (▲ 48.5%)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37,699   (▼ 35.0%)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27,522   (▼ 39.7%)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26,365   (▼ 38.2%)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91,586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8,718   (▼ 19.0%)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11,901   (▼ 44.9%)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19,529   (▼ 36.3%)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40,148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91.7%   (▼ 2.0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78.0%   (▲ 1.2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33.5%   (▼ 6.1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93.6%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ICICI Lombard</a:t>
            </a:r>
            <a:endParaRPr lang="en-US" sz="1150"/>
          </a:p>
        </p:txBody>
      </p:sp>
      <p:sp>
        <p:nvSpPr>
          <p:cNvPr id="10" name="Text 7"/>
          <p:cNvSpPr/>
          <p:nvPr/>
        </p:nvSpPr>
        <p:spPr>
          <a:xfrm>
            <a:off x="868680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policies, down from 25, and 92% of GWP gone — 40 applications became 5 policies (49 proposals stuck at KYC pending).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4352544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9"/>
          <p:cNvSpPr/>
          <p:nvPr/>
        </p:nvSpPr>
        <p:spPr>
          <a:xfrm>
            <a:off x="4581144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Digit</a:t>
            </a:r>
            <a:endParaRPr lang="en-US" sz="1150"/>
          </a:p>
        </p:txBody>
      </p:sp>
      <p:sp>
        <p:nvSpPr>
          <p:cNvPr id="13" name="Text 10"/>
          <p:cNvSpPr/>
          <p:nvPr/>
        </p:nvSpPr>
        <p:spPr>
          <a:xfrm>
            <a:off x="4581144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policies (Aug 23) but GWP up 20.7% to INR 39,791 — now the largest premium contributor at 54%.</a:t>
            </a:r>
            <a:endParaRPr lang="en-US" sz="1050"/>
          </a:p>
        </p:txBody>
      </p:sp>
      <p:sp>
        <p:nvSpPr>
          <p:cNvPr id="14" name="Shape 11"/>
          <p:cNvSpPr/>
          <p:nvPr/>
        </p:nvSpPr>
        <p:spPr>
          <a:xfrm>
            <a:off x="8055864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284464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AIG</a:t>
            </a:r>
            <a:endParaRPr lang="en-US" sz="1150"/>
          </a:p>
        </p:txBody>
      </p:sp>
      <p:sp>
        <p:nvSpPr>
          <p:cNvPr id="16" name="Text 13"/>
          <p:cNvSpPr/>
          <p:nvPr/>
        </p:nvSpPr>
        <p:spPr>
          <a:xfrm>
            <a:off x="8284464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policies at INR 4,738 average — the richest ticket, but only 33.5% of its leads got a price.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640080" y="6263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Brackets compare September with August. Registrations attempted sum to more than the total because a vehicle is quoted with several carriers.</a:t>
            </a:r>
            <a:endParaRPr lang="en-US" sz="90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Registrations, Applications and Policies by Insurer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growth came from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50"/>
          </a:p>
        </p:txBody>
      </p:sp>
      <p:sp>
        <p:nvSpPr>
          <p:cNvPr id="7" name="Text 5"/>
          <p:cNvSpPr/>
          <p:nvPr/>
        </p:nvSpPr>
        <p:spPr>
          <a:xfrm>
            <a:off x="640080" y="117043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Registrations attempted</a:t>
            </a:r>
            <a:endParaRPr lang="en-US" sz="1150"/>
          </a:p>
        </p:txBody>
      </p:sp>
      <p:graphicFrame>
        <p:nvGraphicFramePr>
          <p:cNvPr id="8" name="Chart 0"/>
          <p:cNvGraphicFramePr/>
          <p:nvPr/>
        </p:nvGraphicFramePr>
        <p:xfrm>
          <a:off x="640080" y="1417320"/>
          <a:ext cx="352044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4343400" y="117043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Applications started</a:t>
            </a:r>
            <a:endParaRPr lang="en-US" sz="1150"/>
          </a:p>
        </p:txBody>
      </p:sp>
      <p:graphicFrame>
        <p:nvGraphicFramePr>
          <p:cNvPr id="10" name="Chart 1"/>
          <p:cNvGraphicFramePr/>
          <p:nvPr/>
        </p:nvGraphicFramePr>
        <p:xfrm>
          <a:off x="4343400" y="1417320"/>
          <a:ext cx="3520440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1" name="Text 7"/>
          <p:cNvSpPr/>
          <p:nvPr/>
        </p:nvSpPr>
        <p:spPr>
          <a:xfrm>
            <a:off x="8046720" y="117043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 issued</a:t>
            </a:r>
            <a:endParaRPr lang="en-US" sz="1150"/>
          </a:p>
        </p:txBody>
      </p:sp>
      <p:graphicFrame>
        <p:nvGraphicFramePr>
          <p:cNvPr id="12" name="Chart 2"/>
          <p:cNvGraphicFramePr/>
          <p:nvPr/>
        </p:nvGraphicFramePr>
        <p:xfrm>
          <a:off x="8046720" y="1417320"/>
          <a:ext cx="3502152" cy="21031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749040"/>
          <a:ext cx="10908792" cy="1382776"/>
        </p:xfrm>
        <a:graphic>
          <a:graphicData uri="http://schemas.openxmlformats.org/drawingml/2006/table">
            <a:tbl>
              <a:tblPr/>
              <a:tblGrid>
                <a:gridCol w="1600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8308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35331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Insurer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Registrations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Applications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Applications per policy (Sep)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of September 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Direction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Lombard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4,138 → 2,779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 → 40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→ 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Stalled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Digit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4,691 → 2,971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 → 62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→ 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Down, richer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AIG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4,189 → 2,702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 → 38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→ 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Down, richest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Shape 8"/>
          <p:cNvSpPr/>
          <p:nvPr/>
        </p:nvSpPr>
        <p:spPr>
          <a:xfrm>
            <a:off x="640080" y="5349240"/>
            <a:ext cx="10908792" cy="777240"/>
          </a:xfrm>
          <a:prstGeom prst="roundRect">
            <a:avLst>
              <a:gd name="adj" fmla="val 8235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9"/>
          <p:cNvSpPr/>
          <p:nvPr/>
        </p:nvSpPr>
        <p:spPr>
          <a:xfrm>
            <a:off x="868680" y="54864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ICICI Lombard stalled   </a:t>
            </a:r>
            <a:r>
              <a:rPr lang="en-US" sz="11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August ICICI needed 3.8 applications per policy; in September it needed 8.0. 49 of its 104 proposal calls returned KYC PENDING — the journey is stopping before issuance.</a:t>
            </a:r>
            <a:endParaRPr lang="en-US" sz="1100"/>
          </a:p>
        </p:txBody>
      </p:sp>
      <p:sp>
        <p:nvSpPr>
          <p:cNvPr id="16" name="Text 10"/>
          <p:cNvSpPr/>
          <p:nvPr/>
        </p:nvSpPr>
        <p:spPr>
          <a:xfrm>
            <a:off x="640080" y="6199632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per policy is applications divided by policies issued in the same month (August: ICICI 3.8, Digit 4.1, Tata 5.5).</a:t>
            </a:r>
            <a:endParaRPr lang="en-US" sz="9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 by Insurer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money comes from, and how the ticket size differs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50"/>
          </a:p>
        </p:txBody>
      </p:sp>
      <p:sp>
        <p:nvSpPr>
          <p:cNvPr id="7" name="Text 5"/>
          <p:cNvSpPr/>
          <p:nvPr/>
        </p:nvSpPr>
        <p:spPr>
          <a:xfrm>
            <a:off x="640080" y="117043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GWP by carrier (INR)</a:t>
            </a:r>
            <a:endParaRPr lang="en-US" sz="1150"/>
          </a:p>
        </p:txBody>
      </p:sp>
      <p:graphicFrame>
        <p:nvGraphicFramePr>
          <p:cNvPr id="8" name="Chart 0"/>
          <p:cNvGraphicFramePr/>
          <p:nvPr/>
        </p:nvGraphicFramePr>
        <p:xfrm>
          <a:off x="640080" y="1417320"/>
          <a:ext cx="5303520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" name="Text 6"/>
          <p:cNvSpPr/>
          <p:nvPr/>
        </p:nvSpPr>
        <p:spPr>
          <a:xfrm>
            <a:off x="6172200" y="117043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Average premium by carrier (INR)</a:t>
            </a:r>
            <a:endParaRPr lang="en-US" sz="1150"/>
          </a:p>
        </p:txBody>
      </p:sp>
      <p:graphicFrame>
        <p:nvGraphicFramePr>
          <p:cNvPr id="10" name="Chart 1"/>
          <p:cNvGraphicFramePr/>
          <p:nvPr/>
        </p:nvGraphicFramePr>
        <p:xfrm>
          <a:off x="6172200" y="1417320"/>
          <a:ext cx="5376672" cy="2286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931920"/>
          <a:ext cx="10908792" cy="1353312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716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4630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673352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Insurer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August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September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August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 September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Average premium September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Lombard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61,400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91.8%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INR 1,002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Digit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39,791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20.7%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INR 3,617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747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AIG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33,417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28,431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14.9%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INR 4,738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2" name="Shape 7"/>
          <p:cNvSpPr/>
          <p:nvPr/>
        </p:nvSpPr>
        <p:spPr>
          <a:xfrm>
            <a:off x="640080" y="5486400"/>
            <a:ext cx="10908792" cy="731520"/>
          </a:xfrm>
          <a:prstGeom prst="roundRect">
            <a:avLst>
              <a:gd name="adj" fmla="val 8750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8"/>
          <p:cNvSpPr/>
          <p:nvPr/>
        </p:nvSpPr>
        <p:spPr>
          <a:xfrm>
            <a:off x="868680" y="5623560"/>
            <a:ext cx="10424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more concentrated book   </a:t>
            </a:r>
            <a:r>
              <a:rPr lang="en-US" sz="11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split is 7% / 54% / 39% against August's 48% / 26% / 26%. Go Digit is now the largest contributor, Tata AIG has the richest ticket, and ICICI Lombard — nearly half the book in August — has fallen to 7%.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Quote Call Efficiency by Insurer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Volume, waste and how many calls each lead costs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5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397764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Insurer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August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September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Change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Lombard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57,997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37,699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35.0%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per registration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0.5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returning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81.4%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4.6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10,766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8,718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19.0%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Busiest single registration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31.3%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Digit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45,671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39.7%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per registration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0.5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returning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56.8%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4.1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11,901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44.9%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Busiest single registration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38.3%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AIG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42,656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26,365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38.2%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per registration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10.2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0.4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returning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2.2 pp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30,646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▼ 36.3%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Busiest single registration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▲ 24.8%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486400"/>
            <a:ext cx="5394960" cy="658368"/>
          </a:xfrm>
          <a:prstGeom prst="roundRect">
            <a:avLst>
              <a:gd name="adj" fmla="val 9722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56052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Digit improved, ICICI slipped   </a:t>
            </a: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ICICI call success eased 81.4% → 76.9%; Digit rose 52.7% → 56.8%; Tata 28.2% → 25.9% (Tata 2W only 3.0%).</a:t>
            </a:r>
            <a:endParaRPr lang="en-US" sz="1050"/>
          </a:p>
        </p:txBody>
      </p:sp>
      <p:sp>
        <p:nvSpPr>
          <p:cNvPr id="10" name="Shape 7"/>
          <p:cNvSpPr/>
          <p:nvPr/>
        </p:nvSpPr>
        <p:spPr>
          <a:xfrm>
            <a:off x="6153912" y="5486400"/>
            <a:ext cx="5394960" cy="658368"/>
          </a:xfrm>
          <a:prstGeom prst="roundRect">
            <a:avLst>
              <a:gd name="adj" fmla="val 9722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382512" y="56052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 machinery shrank with demand   </a:t>
            </a: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91,586 calls for 3,085 leads — 29.7 each, flat on 29.7 in August.</a:t>
            </a:r>
            <a:endParaRPr lang="en-US" sz="105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A2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572000" cy="4572000"/>
          </a:xfrm>
          <a:prstGeom prst="ellipse">
            <a:avLst/>
          </a:prstGeom>
          <a:solidFill>
            <a:srgbClr val="143C7E"/>
          </a:solidFill>
          <a:ln w="12700">
            <a:solidFill>
              <a:srgbClr val="143C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77240" y="20574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>
                <a:solidFill>
                  <a:srgbClr val="1E4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7200"/>
          </a:p>
        </p:txBody>
      </p:sp>
      <p:sp>
        <p:nvSpPr>
          <p:cNvPr id="4" name="Text 2"/>
          <p:cNvSpPr/>
          <p:nvPr/>
        </p:nvSpPr>
        <p:spPr>
          <a:xfrm>
            <a:off x="2148840" y="2286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Carrier Deep Dives</a:t>
            </a:r>
            <a:endParaRPr lang="en-US" sz="3200"/>
          </a:p>
        </p:txBody>
      </p:sp>
      <p:sp>
        <p:nvSpPr>
          <p:cNvPr id="5" name="Text 3"/>
          <p:cNvSpPr/>
          <p:nvPr/>
        </p:nvSpPr>
        <p:spPr>
          <a:xfrm>
            <a:off x="2194560" y="3017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page per carrier, September against August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219456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ICICI Lombard, Go Digit and Tata AIG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New India Assurance onboarding status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6E8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5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ICICI Lombard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deep dive — September 2026 against August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22960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in September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in August, down 80.0%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3438144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21024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INR 5,008</a:t>
            </a:r>
            <a:endParaRPr lang="en-US" sz="1500"/>
          </a:p>
        </p:txBody>
      </p:sp>
      <p:sp>
        <p:nvSpPr>
          <p:cNvPr id="13" name="Text 11"/>
          <p:cNvSpPr/>
          <p:nvPr/>
        </p:nvSpPr>
        <p:spPr>
          <a:xfrm>
            <a:off x="3621024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GWP in September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3621024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7% of the book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6236208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19088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91.7%</a:t>
            </a:r>
            <a:endParaRPr lang="en-US" sz="2000"/>
          </a:p>
        </p:txBody>
      </p:sp>
      <p:sp>
        <p:nvSpPr>
          <p:cNvPr id="17" name="Text 15"/>
          <p:cNvSpPr/>
          <p:nvPr/>
        </p:nvSpPr>
        <p:spPr>
          <a:xfrm>
            <a:off x="6419088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priced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6419088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93.7% in August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9034272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17152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13.6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9217152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per registration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9217152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the highest</a:t>
            </a:r>
            <a:endParaRPr lang="en-US" sz="100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51760"/>
          <a:ext cx="6670000" cy="2999232"/>
        </p:xfrm>
        <a:graphic>
          <a:graphicData uri="http://schemas.openxmlformats.org/drawingml/2006/table">
            <a:tbl>
              <a:tblPr/>
              <a:tblGrid>
                <a:gridCol w="133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2W: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4W: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Total: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Registrations attempted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2,470 → 1,578  (▼ 36.1%)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1,668 → 1,201  (▼ 28.0%)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4,138 → 2,779  (▼ 32.8%)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2,373 → 1,459  (▼ 38.5%)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1,504 → 1,089  (▼ 27.6%)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3,877 → 2,548  (▼ 34.3%)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96.1% → 92.5%  (▼ 3.6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90.2% → 90.7%  (▲ 0.5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93.7% → 91.7%  (▼ 2.0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 → 24  (▼ 59.3%)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 → 16  (▼ 56.8%)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96 → 40  (▼ 58.3%)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→ 5  (▼ 76.2%)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→ 0  (▼ 100.0%)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 → 5  (▼ 80.0%)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25,177 → 5,008  (▼ 80.1%)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36,223 → 0  (▼ 100.0%)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61,400 → 5,008  (▼ 91.8%)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1,199 → 1,002  (▼ 16.5%)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2,456 → 1,002  (▼ 59.2%)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success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85.1% → 76.3%  (▼ 8.7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76.7% → 77.5%  (▲ 0.8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81.4% → 76.9%  (▼ 4.6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32,973 → 20,045  (▼ 39.2%)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25,024 → 17,654  (▼ 29.5%)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57,997 → 37,699  (▼ 35.0%)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4,923 → 4,742  (▼ 3.7%)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5,843 → 3,976  (▼ 32.0%)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10,766 → 8,718  (▼ 19.0%)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7543800" y="2651760"/>
            <a:ext cx="4005072" cy="1691640"/>
          </a:xfrm>
          <a:prstGeom prst="roundRect">
            <a:avLst>
              <a:gd name="adj" fmla="val 3784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772400" y="27432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</a:t>
            </a:r>
            <a:endParaRPr lang="en-US" sz="1200"/>
          </a:p>
        </p:txBody>
      </p:sp>
      <p:sp>
        <p:nvSpPr>
          <p:cNvPr id="26" name="Text 23"/>
          <p:cNvSpPr/>
          <p:nvPr/>
        </p:nvSpPr>
        <p:spPr>
          <a:xfrm>
            <a:off x="7772400" y="2999232"/>
            <a:ext cx="3584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 → price held at 91.7% (Aug 93.7%)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4W call success steady at 77.5%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Highest volume of any carrier: 37,699 calls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Failures fell with volume: 8,718 vs 10,766</a:t>
            </a:r>
            <a:endParaRPr lang="en-US" sz="1050"/>
          </a:p>
        </p:txBody>
      </p:sp>
      <p:sp>
        <p:nvSpPr>
          <p:cNvPr id="27" name="Shape 24"/>
          <p:cNvSpPr/>
          <p:nvPr/>
        </p:nvSpPr>
        <p:spPr>
          <a:xfrm>
            <a:off x="7543800" y="4480560"/>
            <a:ext cx="4005072" cy="1691640"/>
          </a:xfrm>
          <a:prstGeom prst="roundRect">
            <a:avLst>
              <a:gd name="adj" fmla="val 3784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772400" y="45720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</a:t>
            </a:r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7772400" y="4828032"/>
            <a:ext cx="3584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5 policies from 40 applications; 49 of 104 proposals at KYC PENDING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GWP down 91.8% to INR 5,008 (7% of the book)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"TP is not allowed": 6,799 calls, 78% of failures (carrier rule)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Platform faults: 481 iHub, 355 NoSuchMethod</a:t>
            </a:r>
            <a:endParaRPr lang="en-US" sz="1050"/>
          </a:p>
        </p:txBody>
      </p:sp>
      <p:sp>
        <p:nvSpPr>
          <p:cNvPr id="30" name="Text 27"/>
          <p:cNvSpPr/>
          <p:nvPr/>
        </p:nvSpPr>
        <p:spPr>
          <a:xfrm>
            <a:off x="640080" y="623620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ICICI's funnel broke at application → policy. Clearing KYC pending (cKYC with OTP, on hold) is the lever.</a:t>
            </a:r>
            <a:endParaRPr lang="en-US" sz="9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Digit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deep dive — September 2026 against August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22960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in September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 in August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3438144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21024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INR 39,791</a:t>
            </a:r>
            <a:endParaRPr lang="en-US" sz="1500"/>
          </a:p>
        </p:txBody>
      </p:sp>
      <p:sp>
        <p:nvSpPr>
          <p:cNvPr id="13" name="Text 11"/>
          <p:cNvSpPr/>
          <p:nvPr/>
        </p:nvSpPr>
        <p:spPr>
          <a:xfrm>
            <a:off x="3621024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GWP in September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3621024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26% → 54% of the book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6236208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19088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78.0%</a:t>
            </a:r>
            <a:endParaRPr lang="en-US" sz="2000"/>
          </a:p>
        </p:txBody>
      </p:sp>
      <p:sp>
        <p:nvSpPr>
          <p:cNvPr id="17" name="Text 15"/>
          <p:cNvSpPr/>
          <p:nvPr/>
        </p:nvSpPr>
        <p:spPr>
          <a:xfrm>
            <a:off x="6419088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priced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6419088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76.8% in August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9034272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17152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5.6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9217152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per policy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9217152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4.1 in August</a:t>
            </a:r>
            <a:endParaRPr lang="en-US" sz="100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51760"/>
          <a:ext cx="6670000" cy="2999232"/>
        </p:xfrm>
        <a:graphic>
          <a:graphicData uri="http://schemas.openxmlformats.org/drawingml/2006/table">
            <a:tbl>
              <a:tblPr/>
              <a:tblGrid>
                <a:gridCol w="133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2W: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4W: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Total: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Registrations attempted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2,955 → 1,744  (▼ 41.0%)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1,736 → 1,227  (▼ 29.3%)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4,691 → 2,971  (▼ 36.7%)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2,168 → 1,288  (▼ 40.6%)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1,434 → 1,028  (▼ 28.3%)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3,602 → 2,316  (▼ 35.7%)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73.4% → 73.9%  (▲ 0.5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82.6% → 83.8%  (▲ 1.2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76.8% → 78.0%  (▲ 1.2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 → 35  (▼ 39.7%)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 → 27  (▼ 25.0%)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 → 62  (▼ 34.0%)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 → 7  (▼ 66.7%)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→ 4  (▲ 100.0%)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 → 11  (▼ 52.2%)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18,967 → 6,311  (▼ 66.7%)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14,009 → 33,480  (▲ 139.0%)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32,976 → 39,791  (▲ 20.7%)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903 → 902  (▼ 0.2%)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7,005 → 8,370  (▲ 19.5%)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1,434 → 3,617  (▲ 152.3%)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success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45.0% → 47.5%  (▲ 2.4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68.8% → 72.6%  (▲ 3.8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52.7% → 56.8%  (▲ 4.1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30,991 → 17,366  (▼ 44.0%)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14,680 → 10,156  (▼ 30.8%)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45,671 → 27,522  (▼ 39.7%)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17,036 → 9,121  (▼ 46.5%)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4,575 → 2,780  (▼ 39.2%)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21,611 → 11,901  (▼ 44.9%)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7543800" y="2651760"/>
            <a:ext cx="4005072" cy="1691640"/>
          </a:xfrm>
          <a:prstGeom prst="roundRect">
            <a:avLst>
              <a:gd name="adj" fmla="val 3784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772400" y="27432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</a:t>
            </a:r>
            <a:endParaRPr lang="en-US" sz="1200"/>
          </a:p>
        </p:txBody>
      </p:sp>
      <p:sp>
        <p:nvSpPr>
          <p:cNvPr id="26" name="Text 23"/>
          <p:cNvSpPr/>
          <p:nvPr/>
        </p:nvSpPr>
        <p:spPr>
          <a:xfrm>
            <a:off x="7772400" y="2999232"/>
            <a:ext cx="3584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GWP up 20.7% to INR 39,791, now the biggest premium contributor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Highest average ticket after Tata: INR 3,617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 → price improved 76.8% → 78.0%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Both 2W (47.5%) and 4W (72.6%) call success rose</a:t>
            </a:r>
            <a:endParaRPr lang="en-US" sz="1050"/>
          </a:p>
        </p:txBody>
      </p:sp>
      <p:sp>
        <p:nvSpPr>
          <p:cNvPr id="27" name="Shape 24"/>
          <p:cNvSpPr/>
          <p:nvPr/>
        </p:nvSpPr>
        <p:spPr>
          <a:xfrm>
            <a:off x="7543800" y="4480560"/>
            <a:ext cx="4005072" cy="1691640"/>
          </a:xfrm>
          <a:prstGeom prst="roundRect">
            <a:avLst>
              <a:gd name="adj" fmla="val 3784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772400" y="45720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</a:t>
            </a:r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7772400" y="4828032"/>
            <a:ext cx="3584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Policies 23 → 11; applications per policy 4.1 → 5.6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UW rules rejected 9,433 calls (79%)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708 calls hit the iHub "outtrf" rule fault (platform)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Fibe-fixable: RTO 469, far-future dates 418</a:t>
            </a:r>
            <a:endParaRPr lang="en-US" sz="1050"/>
          </a:p>
        </p:txBody>
      </p:sp>
      <p:sp>
        <p:nvSpPr>
          <p:cNvPr id="30" name="Text 27"/>
          <p:cNvSpPr/>
          <p:nvPr/>
        </p:nvSpPr>
        <p:spPr>
          <a:xfrm>
            <a:off x="640080" y="623620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Issued = PolicyNo and CarrierPolicyNo both returned; 3 of 11 Sept policies are UW_REFFERED (see workbook).</a:t>
            </a:r>
            <a:endParaRPr lang="en-US" sz="9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AIG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 deep dive — September 2026 against August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22960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Policies in September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in August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3438144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21024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INR 28,431</a:t>
            </a:r>
            <a:endParaRPr lang="en-US" sz="1500"/>
          </a:p>
        </p:txBody>
      </p:sp>
      <p:sp>
        <p:nvSpPr>
          <p:cNvPr id="13" name="Text 11"/>
          <p:cNvSpPr/>
          <p:nvPr/>
        </p:nvSpPr>
        <p:spPr>
          <a:xfrm>
            <a:off x="3621024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GWP in September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3621024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14.9% on August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6236208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19088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INR 4,738</a:t>
            </a:r>
            <a:endParaRPr lang="en-US" sz="2000"/>
          </a:p>
        </p:txBody>
      </p:sp>
      <p:sp>
        <p:nvSpPr>
          <p:cNvPr id="17" name="Text 15"/>
          <p:cNvSpPr/>
          <p:nvPr/>
        </p:nvSpPr>
        <p:spPr>
          <a:xfrm>
            <a:off x="6419088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premium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6419088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Highest of the three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9034272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17152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33.5%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9217152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 priced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9217152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39.6% in August</a:t>
            </a:r>
            <a:endParaRPr lang="en-US" sz="100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651760"/>
          <a:ext cx="6670000" cy="2999232"/>
        </p:xfrm>
        <a:graphic>
          <a:graphicData uri="http://schemas.openxmlformats.org/drawingml/2006/table">
            <a:tbl>
              <a:tblPr/>
              <a:tblGrid>
                <a:gridCol w="133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80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80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2W: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4W: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Total: Aug → Sep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Registrations attempted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2,636 → 1,601  (▼ 39.3%)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1,553 → 1,101  (▼ 29.1%)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4,189 → 2,702  (▼ 35.5%)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775 → 206  (▼ 73.4%)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884 → 698  (▼ 21.0%)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1,659 → 904  (▼ 45.5%)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29.4% → 12.9%  (▼ 16.5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56.9% → 63.4%  (▲ 6.5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39.6% → 33.5%  (▼ 6.1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 → 9  (▼ 55.0%)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 → 29  (▼ 29.3%)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 → 38  (▼ 37.7%)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→ 3  (▼ 57.1%)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→ 3  (▼ 25.0%)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 → 6  (▼ 45.5%)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6,922 → 3,060  (▼ 55.8%)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26,495 → 25,371  (▼ 4.2%)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33,417 → 28,431  (▼ 14.9%)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989 → 1,020  (▲ 3.1%)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6,624 → 8,457  (▲ 27.7%)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3,038 → 4,738  (▲ 56.0%)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success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18.0% → 3.0%  (▼ 15.0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43.4% → 49.5%  (▲ 6.1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28.2% → 25.9%  (▼ 2.2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25,578 → 13,369  (▼ 47.7%)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17,078 → 12,996  (▼ 23.9%)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42,656 → 26,365  (▼ 38.2%)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20,984 → 12,971  (▼ 38.2%)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9,662 → 6,558  (▼ 32.1%)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750" b="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30,646 → 19,529  (▼ 36.3%)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24" name="Shape 21"/>
          <p:cNvSpPr/>
          <p:nvPr/>
        </p:nvSpPr>
        <p:spPr>
          <a:xfrm>
            <a:off x="7543800" y="2651760"/>
            <a:ext cx="4005072" cy="1691640"/>
          </a:xfrm>
          <a:prstGeom prst="roundRect">
            <a:avLst>
              <a:gd name="adj" fmla="val 3784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7772400" y="27432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</a:t>
            </a:r>
            <a:endParaRPr lang="en-US" sz="1200"/>
          </a:p>
        </p:txBody>
      </p:sp>
      <p:sp>
        <p:nvSpPr>
          <p:cNvPr id="26" name="Text 23"/>
          <p:cNvSpPr/>
          <p:nvPr/>
        </p:nvSpPr>
        <p:spPr>
          <a:xfrm>
            <a:off x="7772400" y="2999232"/>
            <a:ext cx="3584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Richest ticket: INR 4,738 against a book average of 3,329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6 policies from 38 applications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4W call success improved 43.4% → 49.5%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Still delivered INR 28,431 GWP despite the failures</a:t>
            </a:r>
            <a:endParaRPr lang="en-US" sz="1050"/>
          </a:p>
        </p:txBody>
      </p:sp>
      <p:sp>
        <p:nvSpPr>
          <p:cNvPr id="27" name="Shape 24"/>
          <p:cNvSpPr/>
          <p:nvPr/>
        </p:nvSpPr>
        <p:spPr>
          <a:xfrm>
            <a:off x="7543800" y="4480560"/>
            <a:ext cx="4005072" cy="1691640"/>
          </a:xfrm>
          <a:prstGeom prst="roundRect">
            <a:avLst>
              <a:gd name="adj" fmla="val 3784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7772400" y="4572000"/>
            <a:ext cx="3566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Watch</a:t>
            </a:r>
            <a:endParaRPr lang="en-US" sz="1200"/>
          </a:p>
        </p:txBody>
      </p:sp>
      <p:sp>
        <p:nvSpPr>
          <p:cNvPr id="29" name="Text 26"/>
          <p:cNvSpPr/>
          <p:nvPr/>
        </p:nvSpPr>
        <p:spPr>
          <a:xfrm>
            <a:off x="7772400" y="4828032"/>
            <a:ext cx="35844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Only 33.5% of leads got a price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2W call success 3.0% (398 of 13,369); Aug 18.0%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7,066 malformed requests: bundle OD dates 5,288, engine options 1,778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"Invalid Policy Plan" 3,075 (Aug 658) — plan-code mapping</a:t>
            </a:r>
            <a:endParaRPr lang="en-US" sz="1050"/>
          </a:p>
        </p:txBody>
      </p:sp>
      <p:sp>
        <p:nvSpPr>
          <p:cNvPr id="30" name="Text 27"/>
          <p:cNvSpPr/>
          <p:nvPr/>
        </p:nvSpPr>
        <p:spPr>
          <a:xfrm>
            <a:off x="640080" y="6236208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AIG 2W is the clearest fix: 3.0% success, flat all month, driven by request/mapping defects we control.</a:t>
            </a:r>
            <a:endParaRPr lang="en-US" sz="9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A2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572000" cy="4572000"/>
          </a:xfrm>
          <a:prstGeom prst="ellipse">
            <a:avLst/>
          </a:prstGeom>
          <a:solidFill>
            <a:srgbClr val="143C7E"/>
          </a:solidFill>
          <a:ln w="12700">
            <a:solidFill>
              <a:srgbClr val="143C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77240" y="20574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>
                <a:solidFill>
                  <a:srgbClr val="1E4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7200"/>
          </a:p>
        </p:txBody>
      </p:sp>
      <p:sp>
        <p:nvSpPr>
          <p:cNvPr id="4" name="Text 2"/>
          <p:cNvSpPr/>
          <p:nvPr/>
        </p:nvSpPr>
        <p:spPr>
          <a:xfrm>
            <a:off x="2148840" y="2286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Diagnostics</a:t>
            </a:r>
            <a:endParaRPr lang="en-US" sz="3200"/>
          </a:p>
        </p:txBody>
      </p:sp>
      <p:sp>
        <p:nvSpPr>
          <p:cNvPr id="5" name="Text 3"/>
          <p:cNvSpPr/>
          <p:nvPr/>
        </p:nvSpPr>
        <p:spPr>
          <a:xfrm>
            <a:off x="2194560" y="3017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September happened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219456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New demand versus returning vehicles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What the remaining failures are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Repeat quoting, expiry and segment mix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6E8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95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New versus Repeat Registrations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September's fall in leads is lost new demand, not fewer re-quotes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22960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2,337</a:t>
            </a:r>
            <a:endParaRPr lang="en-US" sz="2000"/>
          </a:p>
        </p:txBody>
      </p:sp>
      <p:sp>
        <p:nvSpPr>
          <p:cNvPr id="9" name="Text 7"/>
          <p:cNvSpPr/>
          <p:nvPr/>
        </p:nvSpPr>
        <p:spPr>
          <a:xfrm>
            <a:off x="822960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vehicles in September</a:t>
            </a:r>
            <a:endParaRPr lang="en-US" sz="1050"/>
          </a:p>
        </p:txBody>
      </p:sp>
      <p:sp>
        <p:nvSpPr>
          <p:cNvPr id="10" name="Text 8"/>
          <p:cNvSpPr/>
          <p:nvPr/>
        </p:nvSpPr>
        <p:spPr>
          <a:xfrm>
            <a:off x="822960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▼ 47.1% vs August</a:t>
            </a:r>
            <a:endParaRPr lang="en-US" sz="1000"/>
          </a:p>
        </p:txBody>
      </p:sp>
      <p:sp>
        <p:nvSpPr>
          <p:cNvPr id="11" name="Shape 9"/>
          <p:cNvSpPr/>
          <p:nvPr/>
        </p:nvSpPr>
        <p:spPr>
          <a:xfrm>
            <a:off x="3438144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3621024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748</a:t>
            </a:r>
            <a:endParaRPr lang="en-US" sz="2000"/>
          </a:p>
        </p:txBody>
      </p:sp>
      <p:sp>
        <p:nvSpPr>
          <p:cNvPr id="13" name="Text 11"/>
          <p:cNvSpPr/>
          <p:nvPr/>
        </p:nvSpPr>
        <p:spPr>
          <a:xfrm>
            <a:off x="3621024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Returning vehicles</a:t>
            </a:r>
            <a:endParaRPr lang="en-US" sz="1050"/>
          </a:p>
        </p:txBody>
      </p:sp>
      <p:sp>
        <p:nvSpPr>
          <p:cNvPr id="14" name="Text 12"/>
          <p:cNvSpPr/>
          <p:nvPr/>
        </p:nvSpPr>
        <p:spPr>
          <a:xfrm>
            <a:off x="3621024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▲ 44.4% vs August</a:t>
            </a:r>
            <a:endParaRPr lang="en-US" sz="1000"/>
          </a:p>
        </p:txBody>
      </p:sp>
      <p:sp>
        <p:nvSpPr>
          <p:cNvPr id="15" name="Shape 13"/>
          <p:cNvSpPr/>
          <p:nvPr/>
        </p:nvSpPr>
        <p:spPr>
          <a:xfrm>
            <a:off x="6236208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6419088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24.2%</a:t>
            </a:r>
            <a:endParaRPr lang="en-US" sz="2000"/>
          </a:p>
        </p:txBody>
      </p:sp>
      <p:sp>
        <p:nvSpPr>
          <p:cNvPr id="17" name="Text 15"/>
          <p:cNvSpPr/>
          <p:nvPr/>
        </p:nvSpPr>
        <p:spPr>
          <a:xfrm>
            <a:off x="6419088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share</a:t>
            </a:r>
            <a:endParaRPr lang="en-US" sz="1050"/>
          </a:p>
        </p:txBody>
      </p:sp>
      <p:sp>
        <p:nvSpPr>
          <p:cNvPr id="18" name="Text 16"/>
          <p:cNvSpPr/>
          <p:nvPr/>
        </p:nvSpPr>
        <p:spPr>
          <a:xfrm>
            <a:off x="6419088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August 10.5%</a:t>
            </a:r>
            <a:endParaRPr lang="en-US" sz="1000"/>
          </a:p>
        </p:txBody>
      </p:sp>
      <p:sp>
        <p:nvSpPr>
          <p:cNvPr id="19" name="Shape 17"/>
          <p:cNvSpPr/>
          <p:nvPr/>
        </p:nvSpPr>
        <p:spPr>
          <a:xfrm>
            <a:off x="9034272" y="1371600"/>
            <a:ext cx="2514600" cy="1097280"/>
          </a:xfrm>
          <a:prstGeom prst="roundRect">
            <a:avLst>
              <a:gd name="adj" fmla="val 583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9217152" y="1463040"/>
            <a:ext cx="2148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9,806</a:t>
            </a:r>
            <a:endParaRPr lang="en-US" sz="2000"/>
          </a:p>
        </p:txBody>
      </p:sp>
      <p:sp>
        <p:nvSpPr>
          <p:cNvPr id="21" name="Text 19"/>
          <p:cNvSpPr/>
          <p:nvPr/>
        </p:nvSpPr>
        <p:spPr>
          <a:xfrm>
            <a:off x="9217152" y="1865376"/>
            <a:ext cx="2148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unique vehicles</a:t>
            </a:r>
            <a:endParaRPr lang="en-US" sz="1050"/>
          </a:p>
        </p:txBody>
      </p:sp>
      <p:sp>
        <p:nvSpPr>
          <p:cNvPr id="22" name="Text 20"/>
          <p:cNvSpPr/>
          <p:nvPr/>
        </p:nvSpPr>
        <p:spPr>
          <a:xfrm>
            <a:off x="9217152" y="2103120"/>
            <a:ext cx="2148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7,469 at end of August</a:t>
            </a:r>
            <a:endParaRPr lang="en-US" sz="1000"/>
          </a:p>
        </p:txBody>
      </p:sp>
      <p:graphicFrame>
        <p:nvGraphicFramePr>
          <p:cNvPr id="23" name="Chart 0"/>
          <p:cNvGraphicFramePr/>
          <p:nvPr/>
        </p:nvGraphicFramePr>
        <p:xfrm>
          <a:off x="640080" y="2697480"/>
          <a:ext cx="6949440" cy="30175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4" name="Shape 21"/>
          <p:cNvSpPr/>
          <p:nvPr/>
        </p:nvSpPr>
        <p:spPr>
          <a:xfrm>
            <a:off x="7818120" y="2697480"/>
            <a:ext cx="3730752" cy="3017520"/>
          </a:xfrm>
          <a:prstGeom prst="roundRect">
            <a:avLst>
              <a:gd name="adj" fmla="val 2121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Text 22"/>
          <p:cNvSpPr/>
          <p:nvPr/>
        </p:nvSpPr>
        <p:spPr>
          <a:xfrm>
            <a:off x="8046720" y="2798064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fall in leads is a fall in new demand</a:t>
            </a:r>
            <a:endParaRPr lang="en-US" sz="1250"/>
          </a:p>
        </p:txBody>
      </p:sp>
      <p:sp>
        <p:nvSpPr>
          <p:cNvPr id="26" name="Text 23"/>
          <p:cNvSpPr/>
          <p:nvPr/>
        </p:nvSpPr>
        <p:spPr>
          <a:xfrm>
            <a:off x="8046720" y="3108960"/>
            <a:ext cx="3310128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New vehicles fell 47.1%, from 4,417 to 2,337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Returning vehicles rose 44.4%, 518 → 748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Repeat share rose from 10.5% to 24.2%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So the 37.5% drop in leads is lost new demand, not fewer re-quotes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Cumulative base grew 7,469 → 9,806 unique vehicles</a:t>
            </a:r>
            <a:endParaRPr lang="en-US" sz="1050"/>
          </a:p>
        </p:txBody>
      </p:sp>
      <p:sp>
        <p:nvSpPr>
          <p:cNvPr id="27" name="Text 24"/>
          <p:cNvSpPr/>
          <p:nvPr/>
        </p:nvSpPr>
        <p:spPr>
          <a:xfrm>
            <a:off x="640080" y="589788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Repeat = quoted in any earlier month in the API window (from 5 July 2026). August is restated on this basis (4,417 new / 518 returning; the August deck showed 4,368 / 567 using pre-July history the API does not hold).</a:t>
            </a:r>
            <a:endParaRPr lang="en-US" sz="9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Reasons by Carrier — September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40,148 failures, split by who is being asked to price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950"/>
          </a:p>
        </p:txBody>
      </p:sp>
      <p:sp>
        <p:nvSpPr>
          <p:cNvPr id="7" name="Shape 5"/>
          <p:cNvSpPr/>
          <p:nvPr/>
        </p:nvSpPr>
        <p:spPr>
          <a:xfrm>
            <a:off x="640080" y="1371600"/>
            <a:ext cx="3493008" cy="868680"/>
          </a:xfrm>
          <a:prstGeom prst="roundRect">
            <a:avLst>
              <a:gd name="adj" fmla="val 7368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841248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ICICI Lombard</a:t>
            </a:r>
            <a:endParaRPr lang="en-US" sz="1300"/>
          </a:p>
        </p:txBody>
      </p:sp>
      <p:sp>
        <p:nvSpPr>
          <p:cNvPr id="9" name="Text 7"/>
          <p:cNvSpPr/>
          <p:nvPr/>
        </p:nvSpPr>
        <p:spPr>
          <a:xfrm>
            <a:off x="2743200" y="1444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8,718</a:t>
            </a:r>
            <a:endParaRPr lang="en-US" sz="1500"/>
          </a:p>
        </p:txBody>
      </p:sp>
      <p:sp>
        <p:nvSpPr>
          <p:cNvPr id="10" name="Text 8"/>
          <p:cNvSpPr/>
          <p:nvPr/>
        </p:nvSpPr>
        <p:spPr>
          <a:xfrm>
            <a:off x="841248" y="173736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calls  ·  23.1% of its quote calls</a:t>
            </a:r>
            <a:endParaRPr lang="en-US" sz="100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86440593"/>
              </p:ext>
            </p:extLst>
          </p:nvPr>
        </p:nvGraphicFramePr>
        <p:xfrm>
          <a:off x="640080" y="2377440"/>
          <a:ext cx="3493008" cy="2176272"/>
        </p:xfrm>
        <a:graphic>
          <a:graphicData uri="http://schemas.openxmlformats.org/drawingml/2006/table">
            <a:tbl>
              <a:tblPr/>
              <a:tblGrid>
                <a:gridCol w="1847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Reason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 is not allowed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6,799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RTO details not found.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 Mapping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java.lang.NoSuchMethodError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Unclassified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iHub 2W: unresolved IL route placeholder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err="1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Unclassified</a:t>
                      </a: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iHub 4W: unresolved IL route placeholder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192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err="1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Unclassified</a:t>
                      </a: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658368" y="46177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split</a:t>
            </a:r>
            <a:endParaRPr lang="en-US" sz="1050"/>
          </a:p>
        </p:txBody>
      </p:sp>
      <p:sp>
        <p:nvSpPr>
          <p:cNvPr id="13" name="Text 10"/>
          <p:cNvSpPr/>
          <p:nvPr/>
        </p:nvSpPr>
        <p:spPr>
          <a:xfrm>
            <a:off x="658368" y="48920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000"/>
          </a:p>
        </p:txBody>
      </p:sp>
      <p:sp>
        <p:nvSpPr>
          <p:cNvPr id="14" name="Text 11"/>
          <p:cNvSpPr/>
          <p:nvPr/>
        </p:nvSpPr>
        <p:spPr>
          <a:xfrm>
            <a:off x="2011680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7,275</a:t>
            </a:r>
            <a:endParaRPr lang="en-US" sz="1000"/>
          </a:p>
        </p:txBody>
      </p:sp>
      <p:sp>
        <p:nvSpPr>
          <p:cNvPr id="15" name="Text 12"/>
          <p:cNvSpPr/>
          <p:nvPr/>
        </p:nvSpPr>
        <p:spPr>
          <a:xfrm>
            <a:off x="3017520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83%</a:t>
            </a:r>
            <a:endParaRPr lang="en-US" sz="1000"/>
          </a:p>
        </p:txBody>
      </p:sp>
      <p:sp>
        <p:nvSpPr>
          <p:cNvPr id="16" name="Text 13"/>
          <p:cNvSpPr/>
          <p:nvPr/>
        </p:nvSpPr>
        <p:spPr>
          <a:xfrm>
            <a:off x="658368" y="51480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</a:t>
            </a:r>
            <a:endParaRPr lang="en-US" sz="1000"/>
          </a:p>
        </p:txBody>
      </p:sp>
      <p:sp>
        <p:nvSpPr>
          <p:cNvPr id="17" name="Text 14"/>
          <p:cNvSpPr/>
          <p:nvPr/>
        </p:nvSpPr>
        <p:spPr>
          <a:xfrm>
            <a:off x="2011680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63</a:t>
            </a:r>
            <a:endParaRPr lang="en-US" sz="1000"/>
          </a:p>
        </p:txBody>
      </p:sp>
      <p:sp>
        <p:nvSpPr>
          <p:cNvPr id="18" name="Text 15"/>
          <p:cNvSpPr/>
          <p:nvPr/>
        </p:nvSpPr>
        <p:spPr>
          <a:xfrm>
            <a:off x="3017520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1%</a:t>
            </a:r>
            <a:endParaRPr lang="en-US" sz="1000"/>
          </a:p>
        </p:txBody>
      </p:sp>
      <p:sp>
        <p:nvSpPr>
          <p:cNvPr id="19" name="Text 16"/>
          <p:cNvSpPr/>
          <p:nvPr/>
        </p:nvSpPr>
        <p:spPr>
          <a:xfrm>
            <a:off x="658368" y="540410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err="1">
                <a:solidFill>
                  <a:srgbClr val="5A6B80"/>
                </a:solidFill>
                <a:ea typeface="Calibri"/>
                <a:cs typeface="Calibri"/>
              </a:rPr>
              <a:t>Fibe</a:t>
            </a:r>
            <a:r>
              <a:rPr lang="en-US" sz="1000">
                <a:solidFill>
                  <a:srgbClr val="5A6B80"/>
                </a:solidFill>
                <a:ea typeface="Calibri"/>
                <a:cs typeface="Calibri"/>
              </a:rPr>
              <a:t> Mapping</a:t>
            </a:r>
          </a:p>
        </p:txBody>
      </p:sp>
      <p:sp>
        <p:nvSpPr>
          <p:cNvPr id="20" name="Text 17"/>
          <p:cNvSpPr/>
          <p:nvPr/>
        </p:nvSpPr>
        <p:spPr>
          <a:xfrm>
            <a:off x="2011680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358</a:t>
            </a:r>
            <a:endParaRPr lang="en-US" sz="1000"/>
          </a:p>
        </p:txBody>
      </p:sp>
      <p:sp>
        <p:nvSpPr>
          <p:cNvPr id="21" name="Text 18"/>
          <p:cNvSpPr/>
          <p:nvPr/>
        </p:nvSpPr>
        <p:spPr>
          <a:xfrm>
            <a:off x="3017520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000"/>
          </a:p>
        </p:txBody>
      </p:sp>
      <p:sp>
        <p:nvSpPr>
          <p:cNvPr id="22" name="Text 19"/>
          <p:cNvSpPr/>
          <p:nvPr/>
        </p:nvSpPr>
        <p:spPr>
          <a:xfrm>
            <a:off x="658368" y="5660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Unclassified</a:t>
            </a:r>
            <a:endParaRPr lang="en-US" sz="1000"/>
          </a:p>
        </p:txBody>
      </p:sp>
      <p:sp>
        <p:nvSpPr>
          <p:cNvPr id="23" name="Text 20"/>
          <p:cNvSpPr/>
          <p:nvPr/>
        </p:nvSpPr>
        <p:spPr>
          <a:xfrm>
            <a:off x="2011680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1,022</a:t>
            </a:r>
            <a:endParaRPr lang="en-US" sz="1000"/>
          </a:p>
        </p:txBody>
      </p:sp>
      <p:sp>
        <p:nvSpPr>
          <p:cNvPr id="24" name="Text 21"/>
          <p:cNvSpPr/>
          <p:nvPr/>
        </p:nvSpPr>
        <p:spPr>
          <a:xfrm>
            <a:off x="3017520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000"/>
          </a:p>
        </p:txBody>
      </p:sp>
      <p:sp>
        <p:nvSpPr>
          <p:cNvPr id="11" name="Shape 22"/>
          <p:cNvSpPr/>
          <p:nvPr/>
        </p:nvSpPr>
        <p:spPr>
          <a:xfrm>
            <a:off x="4379976" y="1371600"/>
            <a:ext cx="3493008" cy="868680"/>
          </a:xfrm>
          <a:prstGeom prst="roundRect">
            <a:avLst>
              <a:gd name="adj" fmla="val 7368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3"/>
          <p:cNvSpPr/>
          <p:nvPr/>
        </p:nvSpPr>
        <p:spPr>
          <a:xfrm>
            <a:off x="4581144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Digit</a:t>
            </a:r>
            <a:endParaRPr lang="en-US" sz="1300"/>
          </a:p>
        </p:txBody>
      </p:sp>
      <p:sp>
        <p:nvSpPr>
          <p:cNvPr id="27" name="Text 24"/>
          <p:cNvSpPr/>
          <p:nvPr/>
        </p:nvSpPr>
        <p:spPr>
          <a:xfrm>
            <a:off x="6483096" y="1444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11,901</a:t>
            </a:r>
            <a:endParaRPr lang="en-US" sz="1500"/>
          </a:p>
        </p:txBody>
      </p:sp>
      <p:sp>
        <p:nvSpPr>
          <p:cNvPr id="28" name="Text 25"/>
          <p:cNvSpPr/>
          <p:nvPr/>
        </p:nvSpPr>
        <p:spPr>
          <a:xfrm>
            <a:off x="4581144" y="173736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calls  ·  43.2% of its quote calls</a:t>
            </a:r>
            <a:endParaRPr lang="en-US" sz="1000"/>
          </a:p>
        </p:txBody>
      </p:sp>
      <p:graphicFrame>
        <p:nvGraphicFramePr>
          <p:cNvPr id="4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5255200"/>
              </p:ext>
            </p:extLst>
          </p:nvPr>
        </p:nvGraphicFramePr>
        <p:xfrm>
          <a:off x="4379976" y="2377440"/>
          <a:ext cx="3493008" cy="2176272"/>
        </p:xfrm>
        <a:graphic>
          <a:graphicData uri="http://schemas.openxmlformats.org/drawingml/2006/table">
            <a:tbl>
              <a:tblPr/>
              <a:tblGrid>
                <a:gridCol w="1847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Reason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 rules violated!!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9,433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iHub Digit "outtrf" rule failed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708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err="1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Unclassified</a:t>
                      </a: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Invalid RTO identified from registration number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469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 Mapping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Inception date more than 6 months ahead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Vehicle type does not match Vahan data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30" name="Text 26"/>
          <p:cNvSpPr/>
          <p:nvPr/>
        </p:nvSpPr>
        <p:spPr>
          <a:xfrm>
            <a:off x="4398264" y="46177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split</a:t>
            </a:r>
            <a:endParaRPr lang="en-US" sz="1050"/>
          </a:p>
        </p:txBody>
      </p:sp>
      <p:sp>
        <p:nvSpPr>
          <p:cNvPr id="31" name="Text 27"/>
          <p:cNvSpPr/>
          <p:nvPr/>
        </p:nvSpPr>
        <p:spPr>
          <a:xfrm>
            <a:off x="4398264" y="48920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000"/>
          </a:p>
        </p:txBody>
      </p:sp>
      <p:sp>
        <p:nvSpPr>
          <p:cNvPr id="32" name="Text 28"/>
          <p:cNvSpPr/>
          <p:nvPr/>
        </p:nvSpPr>
        <p:spPr>
          <a:xfrm>
            <a:off x="5751576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9,493</a:t>
            </a:r>
            <a:endParaRPr lang="en-US" sz="1000"/>
          </a:p>
        </p:txBody>
      </p:sp>
      <p:sp>
        <p:nvSpPr>
          <p:cNvPr id="33" name="Text 29"/>
          <p:cNvSpPr/>
          <p:nvPr/>
        </p:nvSpPr>
        <p:spPr>
          <a:xfrm>
            <a:off x="6757416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1000"/>
          </a:p>
        </p:txBody>
      </p:sp>
      <p:sp>
        <p:nvSpPr>
          <p:cNvPr id="34" name="Text 30"/>
          <p:cNvSpPr/>
          <p:nvPr/>
        </p:nvSpPr>
        <p:spPr>
          <a:xfrm>
            <a:off x="4398264" y="51480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</a:t>
            </a:r>
            <a:endParaRPr lang="en-US" sz="1000"/>
          </a:p>
        </p:txBody>
      </p:sp>
      <p:sp>
        <p:nvSpPr>
          <p:cNvPr id="35" name="Text 31"/>
          <p:cNvSpPr/>
          <p:nvPr/>
        </p:nvSpPr>
        <p:spPr>
          <a:xfrm>
            <a:off x="5751576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780</a:t>
            </a:r>
            <a:endParaRPr lang="en-US" sz="1000"/>
          </a:p>
        </p:txBody>
      </p:sp>
      <p:sp>
        <p:nvSpPr>
          <p:cNvPr id="36" name="Text 32"/>
          <p:cNvSpPr/>
          <p:nvPr/>
        </p:nvSpPr>
        <p:spPr>
          <a:xfrm>
            <a:off x="6757416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000"/>
          </a:p>
        </p:txBody>
      </p:sp>
      <p:sp>
        <p:nvSpPr>
          <p:cNvPr id="37" name="Text 33"/>
          <p:cNvSpPr/>
          <p:nvPr/>
        </p:nvSpPr>
        <p:spPr>
          <a:xfrm>
            <a:off x="4398264" y="540410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err="1">
                <a:solidFill>
                  <a:srgbClr val="5A6B80"/>
                </a:solidFill>
                <a:ea typeface="Calibri"/>
                <a:cs typeface="Calibri"/>
              </a:rPr>
              <a:t>Fibe</a:t>
            </a:r>
            <a:r>
              <a:rPr lang="en-US" sz="1000">
                <a:solidFill>
                  <a:srgbClr val="5A6B80"/>
                </a:solidFill>
                <a:ea typeface="Calibri"/>
                <a:cs typeface="Calibri"/>
              </a:rPr>
              <a:t> Mapping</a:t>
            </a:r>
          </a:p>
        </p:txBody>
      </p:sp>
      <p:sp>
        <p:nvSpPr>
          <p:cNvPr id="38" name="Text 34"/>
          <p:cNvSpPr/>
          <p:nvPr/>
        </p:nvSpPr>
        <p:spPr>
          <a:xfrm>
            <a:off x="5751576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469</a:t>
            </a:r>
            <a:endParaRPr lang="en-US" sz="1000"/>
          </a:p>
        </p:txBody>
      </p:sp>
      <p:sp>
        <p:nvSpPr>
          <p:cNvPr id="39" name="Text 35"/>
          <p:cNvSpPr/>
          <p:nvPr/>
        </p:nvSpPr>
        <p:spPr>
          <a:xfrm>
            <a:off x="6757416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4%</a:t>
            </a:r>
            <a:endParaRPr lang="en-US" sz="1000"/>
          </a:p>
        </p:txBody>
      </p:sp>
      <p:sp>
        <p:nvSpPr>
          <p:cNvPr id="40" name="Text 36"/>
          <p:cNvSpPr/>
          <p:nvPr/>
        </p:nvSpPr>
        <p:spPr>
          <a:xfrm>
            <a:off x="4398264" y="5660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Unclassified</a:t>
            </a:r>
            <a:endParaRPr lang="en-US" sz="1000"/>
          </a:p>
        </p:txBody>
      </p:sp>
      <p:sp>
        <p:nvSpPr>
          <p:cNvPr id="41" name="Text 37"/>
          <p:cNvSpPr/>
          <p:nvPr/>
        </p:nvSpPr>
        <p:spPr>
          <a:xfrm>
            <a:off x="5751576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1,159</a:t>
            </a:r>
            <a:endParaRPr lang="en-US" sz="1000"/>
          </a:p>
        </p:txBody>
      </p:sp>
      <p:sp>
        <p:nvSpPr>
          <p:cNvPr id="42" name="Text 38"/>
          <p:cNvSpPr/>
          <p:nvPr/>
        </p:nvSpPr>
        <p:spPr>
          <a:xfrm>
            <a:off x="6757416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10%</a:t>
            </a:r>
            <a:endParaRPr lang="en-US" sz="1000"/>
          </a:p>
        </p:txBody>
      </p:sp>
      <p:sp>
        <p:nvSpPr>
          <p:cNvPr id="43" name="Shape 39"/>
          <p:cNvSpPr/>
          <p:nvPr/>
        </p:nvSpPr>
        <p:spPr>
          <a:xfrm>
            <a:off x="8119872" y="1371600"/>
            <a:ext cx="3493008" cy="868680"/>
          </a:xfrm>
          <a:prstGeom prst="roundRect">
            <a:avLst>
              <a:gd name="adj" fmla="val 7368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Text 40"/>
          <p:cNvSpPr/>
          <p:nvPr/>
        </p:nvSpPr>
        <p:spPr>
          <a:xfrm>
            <a:off x="8321040" y="1444752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AIG</a:t>
            </a:r>
            <a:endParaRPr lang="en-US" sz="1300"/>
          </a:p>
        </p:txBody>
      </p:sp>
      <p:sp>
        <p:nvSpPr>
          <p:cNvPr id="45" name="Text 41"/>
          <p:cNvSpPr/>
          <p:nvPr/>
        </p:nvSpPr>
        <p:spPr>
          <a:xfrm>
            <a:off x="10222992" y="144475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500" b="1">
                <a:solidFill>
                  <a:srgbClr val="B3261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19,529</a:t>
            </a:r>
            <a:endParaRPr lang="en-US" sz="1500"/>
          </a:p>
        </p:txBody>
      </p:sp>
      <p:sp>
        <p:nvSpPr>
          <p:cNvPr id="46" name="Text 42"/>
          <p:cNvSpPr/>
          <p:nvPr/>
        </p:nvSpPr>
        <p:spPr>
          <a:xfrm>
            <a:off x="8321040" y="1737360"/>
            <a:ext cx="3090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failed calls  ·  74.1% of its quote calls</a:t>
            </a:r>
            <a:endParaRPr lang="en-US" sz="1000"/>
          </a:p>
        </p:txBody>
      </p:sp>
      <p:graphicFrame>
        <p:nvGraphicFramePr>
          <p:cNvPr id="7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46323866"/>
              </p:ext>
            </p:extLst>
          </p:nvPr>
        </p:nvGraphicFramePr>
        <p:xfrm>
          <a:off x="8119872" y="2377440"/>
          <a:ext cx="3493008" cy="2176272"/>
        </p:xfrm>
        <a:graphic>
          <a:graphicData uri="http://schemas.openxmlformats.org/drawingml/2006/table">
            <a:tbl>
              <a:tblPr/>
              <a:tblGrid>
                <a:gridCol w="184708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315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Reason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Calls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1182-bundle OD start/end date missing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5,288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Invalid Policy Plan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3,075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engine_secure_options is mandatory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1,778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 err="1">
                          <a:solidFill>
                            <a:srgbClr val="1877D2"/>
                          </a:solidFill>
                          <a:latin typeface="Calibri"/>
                          <a:ea typeface="Calibri"/>
                          <a:cs typeface="Calibri"/>
                        </a:rPr>
                        <a:t>Fibe</a:t>
                      </a: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1197 - Referral: moratorium vehicle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1,089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Carrier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RTO Location code is mismatched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1,065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00" b="1">
                          <a:solidFill>
                            <a:srgbClr val="1877D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Fibe Mapping</a:t>
                      </a:r>
                      <a:endParaRPr lang="en-US" sz="9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48" name="Text 43"/>
          <p:cNvSpPr/>
          <p:nvPr/>
        </p:nvSpPr>
        <p:spPr>
          <a:xfrm>
            <a:off x="8138160" y="461772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Ownership split</a:t>
            </a:r>
            <a:endParaRPr lang="en-US" sz="1050"/>
          </a:p>
        </p:txBody>
      </p:sp>
      <p:sp>
        <p:nvSpPr>
          <p:cNvPr id="29" name="Text 44"/>
          <p:cNvSpPr/>
          <p:nvPr/>
        </p:nvSpPr>
        <p:spPr>
          <a:xfrm>
            <a:off x="8138160" y="4892040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Carrier</a:t>
            </a:r>
            <a:endParaRPr lang="en-US" sz="1000"/>
          </a:p>
        </p:txBody>
      </p:sp>
      <p:sp>
        <p:nvSpPr>
          <p:cNvPr id="50" name="Text 45"/>
          <p:cNvSpPr/>
          <p:nvPr/>
        </p:nvSpPr>
        <p:spPr>
          <a:xfrm>
            <a:off x="9491472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5,390</a:t>
            </a:r>
            <a:endParaRPr lang="en-US" sz="1000"/>
          </a:p>
        </p:txBody>
      </p:sp>
      <p:sp>
        <p:nvSpPr>
          <p:cNvPr id="51" name="Text 46"/>
          <p:cNvSpPr/>
          <p:nvPr/>
        </p:nvSpPr>
        <p:spPr>
          <a:xfrm>
            <a:off x="10497312" y="4892040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28%</a:t>
            </a:r>
            <a:endParaRPr lang="en-US" sz="1000"/>
          </a:p>
        </p:txBody>
      </p:sp>
      <p:sp>
        <p:nvSpPr>
          <p:cNvPr id="52" name="Text 47"/>
          <p:cNvSpPr/>
          <p:nvPr/>
        </p:nvSpPr>
        <p:spPr>
          <a:xfrm>
            <a:off x="8138160" y="5148072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</a:t>
            </a:r>
            <a:endParaRPr lang="en-US" sz="1000"/>
          </a:p>
        </p:txBody>
      </p:sp>
      <p:sp>
        <p:nvSpPr>
          <p:cNvPr id="53" name="Text 48"/>
          <p:cNvSpPr/>
          <p:nvPr/>
        </p:nvSpPr>
        <p:spPr>
          <a:xfrm>
            <a:off x="9491472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11,074</a:t>
            </a:r>
            <a:endParaRPr lang="en-US" sz="1000"/>
          </a:p>
        </p:txBody>
      </p:sp>
      <p:sp>
        <p:nvSpPr>
          <p:cNvPr id="54" name="Text 49"/>
          <p:cNvSpPr/>
          <p:nvPr/>
        </p:nvSpPr>
        <p:spPr>
          <a:xfrm>
            <a:off x="10497312" y="5148072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1000"/>
          </a:p>
        </p:txBody>
      </p:sp>
      <p:sp>
        <p:nvSpPr>
          <p:cNvPr id="55" name="Text 50"/>
          <p:cNvSpPr/>
          <p:nvPr/>
        </p:nvSpPr>
        <p:spPr>
          <a:xfrm>
            <a:off x="8138160" y="5404104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000" err="1">
                <a:solidFill>
                  <a:srgbClr val="5A6B80"/>
                </a:solidFill>
                <a:ea typeface="Calibri"/>
                <a:cs typeface="Calibri"/>
              </a:rPr>
              <a:t>Fibe</a:t>
            </a:r>
            <a:r>
              <a:rPr lang="en-US" sz="1000">
                <a:solidFill>
                  <a:srgbClr val="5A6B80"/>
                </a:solidFill>
                <a:ea typeface="Calibri"/>
                <a:cs typeface="Calibri"/>
              </a:rPr>
              <a:t> </a:t>
            </a:r>
            <a:r>
              <a:rPr lang="en-US" sz="1000" err="1">
                <a:solidFill>
                  <a:srgbClr val="5A6B80"/>
                </a:solidFill>
                <a:ea typeface="Calibri"/>
                <a:cs typeface="Calibri"/>
              </a:rPr>
              <a:t>Maping</a:t>
            </a:r>
          </a:p>
        </p:txBody>
      </p:sp>
      <p:sp>
        <p:nvSpPr>
          <p:cNvPr id="56" name="Text 51"/>
          <p:cNvSpPr/>
          <p:nvPr/>
        </p:nvSpPr>
        <p:spPr>
          <a:xfrm>
            <a:off x="9491472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1,460</a:t>
            </a:r>
            <a:endParaRPr lang="en-US" sz="1000"/>
          </a:p>
        </p:txBody>
      </p:sp>
      <p:sp>
        <p:nvSpPr>
          <p:cNvPr id="57" name="Text 52"/>
          <p:cNvSpPr/>
          <p:nvPr/>
        </p:nvSpPr>
        <p:spPr>
          <a:xfrm>
            <a:off x="10497312" y="540410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1000"/>
          </a:p>
        </p:txBody>
      </p:sp>
      <p:sp>
        <p:nvSpPr>
          <p:cNvPr id="58" name="Text 53"/>
          <p:cNvSpPr/>
          <p:nvPr/>
        </p:nvSpPr>
        <p:spPr>
          <a:xfrm>
            <a:off x="8138160" y="5660136"/>
            <a:ext cx="1371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Unclassified</a:t>
            </a:r>
            <a:endParaRPr lang="en-US" sz="1000"/>
          </a:p>
        </p:txBody>
      </p:sp>
      <p:sp>
        <p:nvSpPr>
          <p:cNvPr id="59" name="Text 54"/>
          <p:cNvSpPr/>
          <p:nvPr/>
        </p:nvSpPr>
        <p:spPr>
          <a:xfrm>
            <a:off x="9491472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b="1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1,605</a:t>
            </a:r>
            <a:endParaRPr lang="en-US" sz="1000"/>
          </a:p>
        </p:txBody>
      </p:sp>
      <p:sp>
        <p:nvSpPr>
          <p:cNvPr id="60" name="Text 55"/>
          <p:cNvSpPr/>
          <p:nvPr/>
        </p:nvSpPr>
        <p:spPr>
          <a:xfrm>
            <a:off x="10497312" y="56601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8%</a:t>
            </a:r>
            <a:endParaRPr lang="en-US" sz="1000"/>
          </a:p>
        </p:txBody>
      </p:sp>
      <p:sp>
        <p:nvSpPr>
          <p:cNvPr id="61" name="Shape 56"/>
          <p:cNvSpPr/>
          <p:nvPr/>
        </p:nvSpPr>
        <p:spPr>
          <a:xfrm>
            <a:off x="640080" y="5897880"/>
            <a:ext cx="10908792" cy="365760"/>
          </a:xfrm>
          <a:prstGeom prst="roundRect">
            <a:avLst>
              <a:gd name="adj" fmla="val 17500"/>
            </a:avLst>
          </a:prstGeom>
          <a:solidFill>
            <a:srgbClr val="F4F6F9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62" name="Text 57"/>
          <p:cNvSpPr/>
          <p:nvPr/>
        </p:nvSpPr>
        <p:spPr>
          <a:xfrm>
            <a:off x="868680" y="5925312"/>
            <a:ext cx="10424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0B8D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incident   </a:t>
            </a: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1,350 failed calls on 21–22 Sept (iHub: unresolved ICICI route placeholder, Digit "outtrf" rule, Tata gateway errors) sit under Unclassified — all engineering-fixable. Owner split is by root-cause category, applied identically to August.</a:t>
            </a:r>
            <a:endParaRPr lang="en-US" sz="105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Segment Mix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bought in September, and where the premium came from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950"/>
          </a:p>
        </p:txBody>
      </p:sp>
      <p:sp>
        <p:nvSpPr>
          <p:cNvPr id="7" name="Text 5"/>
          <p:cNvSpPr/>
          <p:nvPr/>
        </p:nvSpPr>
        <p:spPr>
          <a:xfrm>
            <a:off x="640080" y="123444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type</a:t>
            </a:r>
            <a:endParaRPr lang="en-US" sz="115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490472"/>
          <a:ext cx="5257800" cy="1024128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(INR)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Two-wheeler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14,379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Private car / Commercial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58,850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Unclassified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278892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Vehicle age</a:t>
            </a:r>
            <a:endParaRPr lang="en-US" sz="1150"/>
          </a:p>
        </p:txBody>
      </p:sp>
      <p:graphicFrame>
        <p:nvGraphicFramePr>
          <p:cNvPr id="5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3044952"/>
          <a:ext cx="5257800" cy="1024128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(INR)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8+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1,162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49,728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0-3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12,290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4-7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11,212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40080" y="4343400"/>
            <a:ext cx="5257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IDV band</a:t>
            </a:r>
            <a:endParaRPr lang="en-US" sz="1150"/>
          </a:p>
        </p:txBody>
      </p:sp>
      <p:graphicFrame>
        <p:nvGraphicFramePr>
          <p:cNvPr id="8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4599432"/>
          <a:ext cx="5257800" cy="1536192"/>
        </p:xfrm>
        <a:graphic>
          <a:graphicData uri="http://schemas.openxmlformats.org/drawingml/2006/table">
            <a:tbl>
              <a:tblPr/>
              <a:tblGrid>
                <a:gridCol w="2240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(INR)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9,782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1-3L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36,841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3-5L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13,686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5-10L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9,803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10L+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" name="Text 8"/>
          <p:cNvSpPr/>
          <p:nvPr/>
        </p:nvSpPr>
        <p:spPr>
          <a:xfrm>
            <a:off x="6172200" y="1234440"/>
            <a:ext cx="5376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states</a:t>
            </a:r>
            <a:endParaRPr lang="en-US" sz="1150"/>
          </a:p>
        </p:txBody>
      </p:sp>
      <p:graphicFrame>
        <p:nvGraphicFramePr>
          <p:cNvPr id="10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72200" y="1490472"/>
          <a:ext cx="5376672" cy="2304288"/>
        </p:xfrm>
        <a:graphic>
          <a:graphicData uri="http://schemas.openxmlformats.org/drawingml/2006/table">
            <a:tbl>
              <a:tblPr/>
              <a:tblGrid>
                <a:gridCol w="23591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22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Leads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Policies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GWP (INR)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Maharashtra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40,973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Uttar Pradesh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Karnataka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319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9,578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Tamil Nadu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1,530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Telangana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Andhra Pradesh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Gujarat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4,905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56032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Haryana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63500" marR="635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15" name="Shape 9"/>
          <p:cNvSpPr/>
          <p:nvPr/>
        </p:nvSpPr>
        <p:spPr>
          <a:xfrm>
            <a:off x="6172200" y="4343400"/>
            <a:ext cx="5376672" cy="1783080"/>
          </a:xfrm>
          <a:prstGeom prst="roundRect">
            <a:avLst>
              <a:gd name="adj" fmla="val 3590"/>
            </a:avLst>
          </a:prstGeom>
          <a:solidFill>
            <a:srgbClr val="F4F6F9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0"/>
          <p:cNvSpPr/>
          <p:nvPr/>
        </p:nvSpPr>
        <p:spPr>
          <a:xfrm>
            <a:off x="6400800" y="4453128"/>
            <a:ext cx="4937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the mix says</a:t>
            </a:r>
            <a:endParaRPr lang="en-US" sz="1200"/>
          </a:p>
        </p:txBody>
      </p:sp>
      <p:sp>
        <p:nvSpPr>
          <p:cNvPr id="17" name="Text 11"/>
          <p:cNvSpPr/>
          <p:nvPr/>
        </p:nvSpPr>
        <p:spPr>
          <a:xfrm>
            <a:off x="6400800" y="4754880"/>
            <a:ext cx="495604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Two-wheelers are 59% of leads and 68% of policies, but only 20% of premium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Private car and commercial: 7 policies carrying INR 58,850 — INR 8,407 a policy against 959 for two-wheelers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Older vehicles convert best again: 8+ years produced 12 policies and INR 49,728 of premium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Maharashtra: 11 of 22 policies (INR 40,973)</a:t>
            </a:r>
            <a:endParaRPr lang="en-US" sz="1050"/>
          </a:p>
        </p:txBody>
      </p:sp>
      <p:sp>
        <p:nvSpPr>
          <p:cNvPr id="18" name="Text 12"/>
          <p:cNvSpPr/>
          <p:nvPr/>
        </p:nvSpPr>
        <p:spPr>
          <a:xfrm>
            <a:off x="640080" y="6263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 2026, full month. Segments from the quote request; IDV = lowest returned per priced vehicle. August restated on the same basis.</a:t>
            </a:r>
            <a:endParaRPr lang="en-US" sz="9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A2A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371600"/>
            <a:ext cx="4572000" cy="4572000"/>
          </a:xfrm>
          <a:prstGeom prst="ellipse">
            <a:avLst/>
          </a:prstGeom>
          <a:solidFill>
            <a:srgbClr val="143C7E"/>
          </a:solidFill>
          <a:ln w="12700">
            <a:solidFill>
              <a:srgbClr val="143C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777240" y="2057400"/>
            <a:ext cx="1828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200" b="1">
                <a:solidFill>
                  <a:srgbClr val="1E4A9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7200"/>
          </a:p>
        </p:txBody>
      </p:sp>
      <p:sp>
        <p:nvSpPr>
          <p:cNvPr id="4" name="Text 2"/>
          <p:cNvSpPr/>
          <p:nvPr/>
        </p:nvSpPr>
        <p:spPr>
          <a:xfrm>
            <a:off x="2148840" y="22860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Actions</a:t>
            </a:r>
            <a:endParaRPr lang="en-US" sz="3200"/>
          </a:p>
        </p:txBody>
      </p:sp>
      <p:sp>
        <p:nvSpPr>
          <p:cNvPr id="5" name="Text 3"/>
          <p:cNvSpPr/>
          <p:nvPr/>
        </p:nvSpPr>
        <p:spPr>
          <a:xfrm>
            <a:off x="2194560" y="30175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>
                <a:solidFill>
                  <a:srgbClr val="A8C0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do about it</a:t>
            </a:r>
            <a:endParaRPr lang="en-US" sz="1400"/>
          </a:p>
        </p:txBody>
      </p:sp>
      <p:sp>
        <p:nvSpPr>
          <p:cNvPr id="6" name="Text 4"/>
          <p:cNvSpPr/>
          <p:nvPr/>
        </p:nvSpPr>
        <p:spPr>
          <a:xfrm>
            <a:off x="2194560" y="3520440"/>
            <a:ext cx="8229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Recommendations, re-prioritised after September</a:t>
            </a:r>
            <a:endParaRPr lang="en-US" sz="1200"/>
          </a:p>
          <a:p>
            <a:pPr marL="0" indent="0">
              <a:spcAft>
                <a:spcPts val="500"/>
              </a:spcAft>
              <a:buNone/>
            </a:pPr>
            <a:r>
              <a:rPr lang="en-US" sz="1200">
                <a:solidFill>
                  <a:srgbClr val="C6D8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   Delivery mapped to funnel impact</a:t>
            </a:r>
            <a:endParaRPr lang="en-US" sz="1200"/>
          </a:p>
        </p:txBody>
      </p:sp>
      <p:sp>
        <p:nvSpPr>
          <p:cNvPr id="7" name="Text 5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6E88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95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Delivery → Funnel Impact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each item lands in the funnel (status carried from the August review — owners to update)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95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3854696"/>
              </p:ext>
            </p:extLst>
          </p:nvPr>
        </p:nvGraphicFramePr>
        <p:xfrm>
          <a:off x="640080" y="1371600"/>
          <a:ext cx="8439912" cy="3172968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9260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Delivery item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Funnel step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Effect and status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Error mapping across all carriers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B873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UAT – Pending from </a:t>
                      </a:r>
                      <a:r>
                        <a:rPr lang="en-US" sz="1000" err="1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Fibe</a:t>
                      </a:r>
                      <a:endParaRPr lang="en-US" sz="1000" err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Business exception dashboards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→ bought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UAT –Pending from Fibe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cKYC with OTP (IL + Tata)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B873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→ bought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On Hold by Fibe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Inspection webhook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B8730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Application → bought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On Hold by Fibe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Single-IDV and session-level capping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per lead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Dev in progress by </a:t>
                      </a:r>
                      <a:r>
                        <a:rPr lang="en-US" sz="1000" err="1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Fibe</a:t>
                      </a:r>
                      <a:endParaRPr lang="en-US" sz="1000" err="1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alerts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steps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Confirmation pending by Fibe</a:t>
                      </a: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1148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NIA integration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Pending API Kit- Meeting planned with NIA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C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7A3BF4-F70D-30C4-E88B-A91CCE6507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>
            <a:extLst>
              <a:ext uri="{FF2B5EF4-FFF2-40B4-BE49-F238E27FC236}">
                <a16:creationId xmlns:a16="http://schemas.microsoft.com/office/drawing/2014/main" id="{E9D7F339-698C-5395-EB63-E8FB25BF5292}"/>
              </a:ext>
            </a:extLst>
          </p:cNvPr>
          <p:cNvSpPr/>
          <p:nvPr/>
        </p:nvSpPr>
        <p:spPr>
          <a:xfrm>
            <a:off x="640080" y="402336"/>
            <a:ext cx="8778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Recommendations for Business Growth</a:t>
            </a:r>
            <a:endParaRPr lang="en-US" sz="2600" dirty="0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349D1A82-659D-DCB1-92B1-4EBB5805FC76}"/>
              </a:ext>
            </a:extLst>
          </p:cNvPr>
          <p:cNvSpPr/>
          <p:nvPr/>
        </p:nvSpPr>
        <p:spPr>
          <a:xfrm>
            <a:off x="640080" y="886968"/>
            <a:ext cx="8778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Changes proposed to cut failed calls and lift conversion — for agreement in this review</a:t>
            </a:r>
            <a:endParaRPr lang="en-US" sz="1250" dirty="0"/>
          </a:p>
        </p:txBody>
      </p:sp>
      <p:sp>
        <p:nvSpPr>
          <p:cNvPr id="4" name="Text 2">
            <a:extLst>
              <a:ext uri="{FF2B5EF4-FFF2-40B4-BE49-F238E27FC236}">
                <a16:creationId xmlns:a16="http://schemas.microsoft.com/office/drawing/2014/main" id="{DA08BE5E-3032-CE3A-7053-D06B63132485}"/>
              </a:ext>
            </a:extLst>
          </p:cNvPr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 dirty="0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 dirty="0"/>
          </a:p>
        </p:txBody>
      </p:sp>
      <p:sp>
        <p:nvSpPr>
          <p:cNvPr id="5" name="Text 3">
            <a:extLst>
              <a:ext uri="{FF2B5EF4-FFF2-40B4-BE49-F238E27FC236}">
                <a16:creationId xmlns:a16="http://schemas.microsoft.com/office/drawing/2014/main" id="{857A3748-080D-9A2D-1627-E710F7187DB5}"/>
              </a:ext>
            </a:extLst>
          </p:cNvPr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10385330-6752-FB7E-0F17-B8C3F06507A8}"/>
              </a:ext>
            </a:extLst>
          </p:cNvPr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 dirty="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950" dirty="0"/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D9BCC6FF-671D-8CC2-667D-7390F3759AE9}"/>
              </a:ext>
            </a:extLst>
          </p:cNvPr>
          <p:cNvSpPr/>
          <p:nvPr/>
        </p:nvSpPr>
        <p:spPr>
          <a:xfrm>
            <a:off x="670560" y="1408176"/>
            <a:ext cx="3493008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 dirty="0"/>
          </a:p>
        </p:txBody>
      </p:sp>
      <p:sp>
        <p:nvSpPr>
          <p:cNvPr id="8" name="Shape 6">
            <a:extLst>
              <a:ext uri="{FF2B5EF4-FFF2-40B4-BE49-F238E27FC236}">
                <a16:creationId xmlns:a16="http://schemas.microsoft.com/office/drawing/2014/main" id="{4A9CA1FB-9AD2-26AC-5D69-C6FE6839DB7E}"/>
              </a:ext>
            </a:extLst>
          </p:cNvPr>
          <p:cNvSpPr/>
          <p:nvPr/>
        </p:nvSpPr>
        <p:spPr>
          <a:xfrm>
            <a:off x="868680" y="1572768"/>
            <a:ext cx="457200" cy="292608"/>
          </a:xfrm>
          <a:prstGeom prst="roundRect">
            <a:avLst>
              <a:gd name="adj" fmla="val 25000"/>
            </a:avLst>
          </a:prstGeom>
          <a:solidFill>
            <a:srgbClr val="1877D2"/>
          </a:solidFill>
          <a:ln w="12700">
            <a:solidFill>
              <a:srgbClr val="1877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>
            <a:extLst>
              <a:ext uri="{FF2B5EF4-FFF2-40B4-BE49-F238E27FC236}">
                <a16:creationId xmlns:a16="http://schemas.microsoft.com/office/drawing/2014/main" id="{78DD16CE-7485-0F64-8133-86F60CE5E851}"/>
              </a:ext>
            </a:extLst>
          </p:cNvPr>
          <p:cNvSpPr/>
          <p:nvPr/>
        </p:nvSpPr>
        <p:spPr>
          <a:xfrm>
            <a:off x="868680" y="157276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>
            <a:extLst>
              <a:ext uri="{FF2B5EF4-FFF2-40B4-BE49-F238E27FC236}">
                <a16:creationId xmlns:a16="http://schemas.microsoft.com/office/drawing/2014/main" id="{F9381087-5C20-33B8-344D-F36FA9879354}"/>
              </a:ext>
            </a:extLst>
          </p:cNvPr>
          <p:cNvSpPr/>
          <p:nvPr/>
        </p:nvSpPr>
        <p:spPr>
          <a:xfrm>
            <a:off x="1435608" y="15361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11" name="Text 9">
            <a:extLst>
              <a:ext uri="{FF2B5EF4-FFF2-40B4-BE49-F238E27FC236}">
                <a16:creationId xmlns:a16="http://schemas.microsoft.com/office/drawing/2014/main" id="{B9E7AE42-835B-1AF8-A476-F48D7635B3FB}"/>
              </a:ext>
            </a:extLst>
          </p:cNvPr>
          <p:cNvSpPr/>
          <p:nvPr/>
        </p:nvSpPr>
        <p:spPr>
          <a:xfrm>
            <a:off x="868680" y="1993392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2" name="Text 10">
            <a:extLst>
              <a:ext uri="{FF2B5EF4-FFF2-40B4-BE49-F238E27FC236}">
                <a16:creationId xmlns:a16="http://schemas.microsoft.com/office/drawing/2014/main" id="{8E64426E-453F-0FC2-1629-BF337A1A7820}"/>
              </a:ext>
            </a:extLst>
          </p:cNvPr>
          <p:cNvSpPr/>
          <p:nvPr/>
        </p:nvSpPr>
        <p:spPr>
          <a:xfrm>
            <a:off x="868680" y="278892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13" name="Text 11">
            <a:extLst>
              <a:ext uri="{FF2B5EF4-FFF2-40B4-BE49-F238E27FC236}">
                <a16:creationId xmlns:a16="http://schemas.microsoft.com/office/drawing/2014/main" id="{6D3E9A9E-AA72-59CE-45FA-3AB97A316A88}"/>
              </a:ext>
            </a:extLst>
          </p:cNvPr>
          <p:cNvSpPr/>
          <p:nvPr/>
        </p:nvSpPr>
        <p:spPr>
          <a:xfrm>
            <a:off x="868680" y="324612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owner</a:t>
            </a:r>
            <a:endParaRPr lang="en-US" sz="950" dirty="0"/>
          </a:p>
        </p:txBody>
      </p:sp>
      <p:sp>
        <p:nvSpPr>
          <p:cNvPr id="14" name="Shape 12">
            <a:extLst>
              <a:ext uri="{FF2B5EF4-FFF2-40B4-BE49-F238E27FC236}">
                <a16:creationId xmlns:a16="http://schemas.microsoft.com/office/drawing/2014/main" id="{F623DAFD-C274-CC86-1DAE-91662617BAE1}"/>
              </a:ext>
            </a:extLst>
          </p:cNvPr>
          <p:cNvSpPr/>
          <p:nvPr/>
        </p:nvSpPr>
        <p:spPr>
          <a:xfrm>
            <a:off x="4379976" y="1371600"/>
            <a:ext cx="3493008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>
            <a:extLst>
              <a:ext uri="{FF2B5EF4-FFF2-40B4-BE49-F238E27FC236}">
                <a16:creationId xmlns:a16="http://schemas.microsoft.com/office/drawing/2014/main" id="{D4F8E9FE-440F-7BA8-BF2A-7CDE605FD85F}"/>
              </a:ext>
            </a:extLst>
          </p:cNvPr>
          <p:cNvSpPr/>
          <p:nvPr/>
        </p:nvSpPr>
        <p:spPr>
          <a:xfrm>
            <a:off x="4608576" y="1572768"/>
            <a:ext cx="457200" cy="292608"/>
          </a:xfrm>
          <a:prstGeom prst="roundRect">
            <a:avLst>
              <a:gd name="adj" fmla="val 25000"/>
            </a:avLst>
          </a:prstGeom>
          <a:solidFill>
            <a:srgbClr val="00B8D9"/>
          </a:solidFill>
          <a:ln w="12700">
            <a:solidFill>
              <a:srgbClr val="00B8D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>
            <a:extLst>
              <a:ext uri="{FF2B5EF4-FFF2-40B4-BE49-F238E27FC236}">
                <a16:creationId xmlns:a16="http://schemas.microsoft.com/office/drawing/2014/main" id="{25540574-F657-BDC1-ECD1-4123DE63EF55}"/>
              </a:ext>
            </a:extLst>
          </p:cNvPr>
          <p:cNvSpPr/>
          <p:nvPr/>
        </p:nvSpPr>
        <p:spPr>
          <a:xfrm>
            <a:off x="4608576" y="157276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100" dirty="0"/>
          </a:p>
        </p:txBody>
      </p:sp>
      <p:sp>
        <p:nvSpPr>
          <p:cNvPr id="17" name="Text 15">
            <a:extLst>
              <a:ext uri="{FF2B5EF4-FFF2-40B4-BE49-F238E27FC236}">
                <a16:creationId xmlns:a16="http://schemas.microsoft.com/office/drawing/2014/main" id="{C4DB0F27-F52C-F3AE-9FF1-C77191E53BD4}"/>
              </a:ext>
            </a:extLst>
          </p:cNvPr>
          <p:cNvSpPr/>
          <p:nvPr/>
        </p:nvSpPr>
        <p:spPr>
          <a:xfrm>
            <a:off x="5175504" y="15361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18" name="Text 16">
            <a:extLst>
              <a:ext uri="{FF2B5EF4-FFF2-40B4-BE49-F238E27FC236}">
                <a16:creationId xmlns:a16="http://schemas.microsoft.com/office/drawing/2014/main" id="{B8A6E0C0-0307-567E-A79C-3FC317A2588D}"/>
              </a:ext>
            </a:extLst>
          </p:cNvPr>
          <p:cNvSpPr/>
          <p:nvPr/>
        </p:nvSpPr>
        <p:spPr>
          <a:xfrm>
            <a:off x="4608576" y="1993392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19" name="Text 17">
            <a:extLst>
              <a:ext uri="{FF2B5EF4-FFF2-40B4-BE49-F238E27FC236}">
                <a16:creationId xmlns:a16="http://schemas.microsoft.com/office/drawing/2014/main" id="{8054C9B7-E449-B317-B7D8-43DC5DE6F1F6}"/>
              </a:ext>
            </a:extLst>
          </p:cNvPr>
          <p:cNvSpPr/>
          <p:nvPr/>
        </p:nvSpPr>
        <p:spPr>
          <a:xfrm>
            <a:off x="4608576" y="278892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0" name="Text 18">
            <a:extLst>
              <a:ext uri="{FF2B5EF4-FFF2-40B4-BE49-F238E27FC236}">
                <a16:creationId xmlns:a16="http://schemas.microsoft.com/office/drawing/2014/main" id="{3C2231E1-3FC4-1C0A-79E3-16366FAB7D03}"/>
              </a:ext>
            </a:extLst>
          </p:cNvPr>
          <p:cNvSpPr/>
          <p:nvPr/>
        </p:nvSpPr>
        <p:spPr>
          <a:xfrm>
            <a:off x="4608576" y="324612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owner</a:t>
            </a:r>
            <a:endParaRPr lang="en-US" sz="950" dirty="0"/>
          </a:p>
        </p:txBody>
      </p:sp>
      <p:sp>
        <p:nvSpPr>
          <p:cNvPr id="21" name="Shape 19">
            <a:extLst>
              <a:ext uri="{FF2B5EF4-FFF2-40B4-BE49-F238E27FC236}">
                <a16:creationId xmlns:a16="http://schemas.microsoft.com/office/drawing/2014/main" id="{5905B441-2BB6-3720-693C-28B241D6A577}"/>
              </a:ext>
            </a:extLst>
          </p:cNvPr>
          <p:cNvSpPr/>
          <p:nvPr/>
        </p:nvSpPr>
        <p:spPr>
          <a:xfrm>
            <a:off x="8119872" y="1371600"/>
            <a:ext cx="3493008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Shape 20">
            <a:extLst>
              <a:ext uri="{FF2B5EF4-FFF2-40B4-BE49-F238E27FC236}">
                <a16:creationId xmlns:a16="http://schemas.microsoft.com/office/drawing/2014/main" id="{A9FFF5DC-364D-96C7-E294-D9EB0992A113}"/>
              </a:ext>
            </a:extLst>
          </p:cNvPr>
          <p:cNvSpPr/>
          <p:nvPr/>
        </p:nvSpPr>
        <p:spPr>
          <a:xfrm>
            <a:off x="8348472" y="1572768"/>
            <a:ext cx="457200" cy="292608"/>
          </a:xfrm>
          <a:prstGeom prst="roundRect">
            <a:avLst>
              <a:gd name="adj" fmla="val 25000"/>
            </a:avLst>
          </a:prstGeom>
          <a:solidFill>
            <a:srgbClr val="0A2A5E"/>
          </a:solidFill>
          <a:ln w="12700">
            <a:solidFill>
              <a:srgbClr val="0A2A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Text 21">
            <a:extLst>
              <a:ext uri="{FF2B5EF4-FFF2-40B4-BE49-F238E27FC236}">
                <a16:creationId xmlns:a16="http://schemas.microsoft.com/office/drawing/2014/main" id="{13EC7BE6-9294-74EE-21FA-7C75722D09F0}"/>
              </a:ext>
            </a:extLst>
          </p:cNvPr>
          <p:cNvSpPr/>
          <p:nvPr/>
        </p:nvSpPr>
        <p:spPr>
          <a:xfrm>
            <a:off x="8348472" y="1572768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100" dirty="0"/>
          </a:p>
        </p:txBody>
      </p:sp>
      <p:sp>
        <p:nvSpPr>
          <p:cNvPr id="24" name="Text 22">
            <a:extLst>
              <a:ext uri="{FF2B5EF4-FFF2-40B4-BE49-F238E27FC236}">
                <a16:creationId xmlns:a16="http://schemas.microsoft.com/office/drawing/2014/main" id="{69EE3C0A-F6E4-86A4-EA91-D9FA39673CF9}"/>
              </a:ext>
            </a:extLst>
          </p:cNvPr>
          <p:cNvSpPr/>
          <p:nvPr/>
        </p:nvSpPr>
        <p:spPr>
          <a:xfrm>
            <a:off x="8915400" y="1536192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25" name="Text 23">
            <a:extLst>
              <a:ext uri="{FF2B5EF4-FFF2-40B4-BE49-F238E27FC236}">
                <a16:creationId xmlns:a16="http://schemas.microsoft.com/office/drawing/2014/main" id="{369E0464-3D5F-A103-AE54-C51B22FFA964}"/>
              </a:ext>
            </a:extLst>
          </p:cNvPr>
          <p:cNvSpPr/>
          <p:nvPr/>
        </p:nvSpPr>
        <p:spPr>
          <a:xfrm>
            <a:off x="8348472" y="1993392"/>
            <a:ext cx="317296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26" name="Text 24">
            <a:extLst>
              <a:ext uri="{FF2B5EF4-FFF2-40B4-BE49-F238E27FC236}">
                <a16:creationId xmlns:a16="http://schemas.microsoft.com/office/drawing/2014/main" id="{FA266A9D-773B-976B-84C0-AAA1C72DCEE9}"/>
              </a:ext>
            </a:extLst>
          </p:cNvPr>
          <p:cNvSpPr/>
          <p:nvPr/>
        </p:nvSpPr>
        <p:spPr>
          <a:xfrm>
            <a:off x="8348472" y="2788920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27" name="Text 25">
            <a:extLst>
              <a:ext uri="{FF2B5EF4-FFF2-40B4-BE49-F238E27FC236}">
                <a16:creationId xmlns:a16="http://schemas.microsoft.com/office/drawing/2014/main" id="{F3F1F3C2-1D06-6AB4-6BCB-CBF817546FFC}"/>
              </a:ext>
            </a:extLst>
          </p:cNvPr>
          <p:cNvSpPr/>
          <p:nvPr/>
        </p:nvSpPr>
        <p:spPr>
          <a:xfrm>
            <a:off x="8348472" y="3246120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owner</a:t>
            </a:r>
            <a:endParaRPr lang="en-US" sz="950" dirty="0"/>
          </a:p>
        </p:txBody>
      </p:sp>
      <p:sp>
        <p:nvSpPr>
          <p:cNvPr id="28" name="Shape 26">
            <a:extLst>
              <a:ext uri="{FF2B5EF4-FFF2-40B4-BE49-F238E27FC236}">
                <a16:creationId xmlns:a16="http://schemas.microsoft.com/office/drawing/2014/main" id="{C95BFE05-92A2-8265-D88B-F670FF7524E6}"/>
              </a:ext>
            </a:extLst>
          </p:cNvPr>
          <p:cNvSpPr/>
          <p:nvPr/>
        </p:nvSpPr>
        <p:spPr>
          <a:xfrm>
            <a:off x="640080" y="3767328"/>
            <a:ext cx="3493008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7">
            <a:extLst>
              <a:ext uri="{FF2B5EF4-FFF2-40B4-BE49-F238E27FC236}">
                <a16:creationId xmlns:a16="http://schemas.microsoft.com/office/drawing/2014/main" id="{C198D910-62DD-77BC-72B0-B982E1AF77F0}"/>
              </a:ext>
            </a:extLst>
          </p:cNvPr>
          <p:cNvSpPr/>
          <p:nvPr/>
        </p:nvSpPr>
        <p:spPr>
          <a:xfrm>
            <a:off x="868680" y="3968496"/>
            <a:ext cx="457200" cy="292608"/>
          </a:xfrm>
          <a:prstGeom prst="roundRect">
            <a:avLst>
              <a:gd name="adj" fmla="val 25000"/>
            </a:avLst>
          </a:prstGeom>
          <a:solidFill>
            <a:srgbClr val="1877D2"/>
          </a:solidFill>
          <a:ln w="12700">
            <a:solidFill>
              <a:srgbClr val="1877D2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>
            <a:extLst>
              <a:ext uri="{FF2B5EF4-FFF2-40B4-BE49-F238E27FC236}">
                <a16:creationId xmlns:a16="http://schemas.microsoft.com/office/drawing/2014/main" id="{0D663DAF-A644-494D-62F7-24EACA4E64BC}"/>
              </a:ext>
            </a:extLst>
          </p:cNvPr>
          <p:cNvSpPr/>
          <p:nvPr/>
        </p:nvSpPr>
        <p:spPr>
          <a:xfrm>
            <a:off x="868680" y="396849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100" dirty="0"/>
          </a:p>
        </p:txBody>
      </p:sp>
      <p:sp>
        <p:nvSpPr>
          <p:cNvPr id="31" name="Text 29">
            <a:extLst>
              <a:ext uri="{FF2B5EF4-FFF2-40B4-BE49-F238E27FC236}">
                <a16:creationId xmlns:a16="http://schemas.microsoft.com/office/drawing/2014/main" id="{6E358E69-034E-C55D-B6AF-9363A53C265B}"/>
              </a:ext>
            </a:extLst>
          </p:cNvPr>
          <p:cNvSpPr/>
          <p:nvPr/>
        </p:nvSpPr>
        <p:spPr>
          <a:xfrm>
            <a:off x="1435608" y="39319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32" name="Text 30">
            <a:extLst>
              <a:ext uri="{FF2B5EF4-FFF2-40B4-BE49-F238E27FC236}">
                <a16:creationId xmlns:a16="http://schemas.microsoft.com/office/drawing/2014/main" id="{8C703B1E-D5CD-CD7D-1104-FE2894DE43BF}"/>
              </a:ext>
            </a:extLst>
          </p:cNvPr>
          <p:cNvSpPr/>
          <p:nvPr/>
        </p:nvSpPr>
        <p:spPr>
          <a:xfrm>
            <a:off x="868680" y="4389120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34" name="Text 32">
            <a:extLst>
              <a:ext uri="{FF2B5EF4-FFF2-40B4-BE49-F238E27FC236}">
                <a16:creationId xmlns:a16="http://schemas.microsoft.com/office/drawing/2014/main" id="{37CF0F54-D476-A35B-9675-36E306D36E51}"/>
              </a:ext>
            </a:extLst>
          </p:cNvPr>
          <p:cNvSpPr/>
          <p:nvPr/>
        </p:nvSpPr>
        <p:spPr>
          <a:xfrm>
            <a:off x="868680" y="5641848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owner</a:t>
            </a:r>
            <a:endParaRPr lang="en-US" sz="950" dirty="0"/>
          </a:p>
        </p:txBody>
      </p:sp>
      <p:sp>
        <p:nvSpPr>
          <p:cNvPr id="35" name="Shape 33">
            <a:extLst>
              <a:ext uri="{FF2B5EF4-FFF2-40B4-BE49-F238E27FC236}">
                <a16:creationId xmlns:a16="http://schemas.microsoft.com/office/drawing/2014/main" id="{B7557FF7-3BF6-0F36-B7D9-A2949F4107CE}"/>
              </a:ext>
            </a:extLst>
          </p:cNvPr>
          <p:cNvSpPr/>
          <p:nvPr/>
        </p:nvSpPr>
        <p:spPr>
          <a:xfrm>
            <a:off x="4379976" y="3767328"/>
            <a:ext cx="3493008" cy="2212848"/>
          </a:xfrm>
          <a:prstGeom prst="roundRect">
            <a:avLst>
              <a:gd name="adj" fmla="val 2893"/>
            </a:avLst>
          </a:prstGeom>
          <a:solidFill>
            <a:srgbClr val="FFFFFF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6" name="Shape 34">
            <a:extLst>
              <a:ext uri="{FF2B5EF4-FFF2-40B4-BE49-F238E27FC236}">
                <a16:creationId xmlns:a16="http://schemas.microsoft.com/office/drawing/2014/main" id="{7646FB78-6D0F-AC34-36AE-3F29616CCDFE}"/>
              </a:ext>
            </a:extLst>
          </p:cNvPr>
          <p:cNvSpPr/>
          <p:nvPr/>
        </p:nvSpPr>
        <p:spPr>
          <a:xfrm>
            <a:off x="4608576" y="3968496"/>
            <a:ext cx="457200" cy="292608"/>
          </a:xfrm>
          <a:prstGeom prst="roundRect">
            <a:avLst>
              <a:gd name="adj" fmla="val 25000"/>
            </a:avLst>
          </a:prstGeom>
          <a:solidFill>
            <a:srgbClr val="B8730A"/>
          </a:solidFill>
          <a:ln w="12700">
            <a:solidFill>
              <a:srgbClr val="B8730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Text 35">
            <a:extLst>
              <a:ext uri="{FF2B5EF4-FFF2-40B4-BE49-F238E27FC236}">
                <a16:creationId xmlns:a16="http://schemas.microsoft.com/office/drawing/2014/main" id="{666785D0-89AF-771F-4A56-CE9DD0D4A8F7}"/>
              </a:ext>
            </a:extLst>
          </p:cNvPr>
          <p:cNvSpPr/>
          <p:nvPr/>
        </p:nvSpPr>
        <p:spPr>
          <a:xfrm>
            <a:off x="4608576" y="3968496"/>
            <a:ext cx="457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100" dirty="0"/>
          </a:p>
        </p:txBody>
      </p:sp>
      <p:sp>
        <p:nvSpPr>
          <p:cNvPr id="38" name="Text 36">
            <a:extLst>
              <a:ext uri="{FF2B5EF4-FFF2-40B4-BE49-F238E27FC236}">
                <a16:creationId xmlns:a16="http://schemas.microsoft.com/office/drawing/2014/main" id="{8920CF3A-6550-45F3-0556-8292ED1D5946}"/>
              </a:ext>
            </a:extLst>
          </p:cNvPr>
          <p:cNvSpPr/>
          <p:nvPr/>
        </p:nvSpPr>
        <p:spPr>
          <a:xfrm>
            <a:off x="5175504" y="393192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1250" dirty="0"/>
          </a:p>
        </p:txBody>
      </p:sp>
      <p:sp>
        <p:nvSpPr>
          <p:cNvPr id="39" name="Text 37">
            <a:extLst>
              <a:ext uri="{FF2B5EF4-FFF2-40B4-BE49-F238E27FC236}">
                <a16:creationId xmlns:a16="http://schemas.microsoft.com/office/drawing/2014/main" id="{2A061463-0C09-45E3-74DB-61FB530E521E}"/>
              </a:ext>
            </a:extLst>
          </p:cNvPr>
          <p:cNvSpPr/>
          <p:nvPr/>
        </p:nvSpPr>
        <p:spPr>
          <a:xfrm>
            <a:off x="4608576" y="4389120"/>
            <a:ext cx="3035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1100" dirty="0"/>
          </a:p>
        </p:txBody>
      </p:sp>
      <p:sp>
        <p:nvSpPr>
          <p:cNvPr id="41" name="Text 39">
            <a:extLst>
              <a:ext uri="{FF2B5EF4-FFF2-40B4-BE49-F238E27FC236}">
                <a16:creationId xmlns:a16="http://schemas.microsoft.com/office/drawing/2014/main" id="{799C3D63-40B9-93C5-7BD7-CE563AE9038B}"/>
              </a:ext>
            </a:extLst>
          </p:cNvPr>
          <p:cNvSpPr/>
          <p:nvPr/>
        </p:nvSpPr>
        <p:spPr>
          <a:xfrm>
            <a:off x="4608576" y="5641848"/>
            <a:ext cx="30358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5A6B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Proposed owner</a:t>
            </a:r>
            <a:endParaRPr lang="en-US" sz="950" dirty="0"/>
          </a:p>
        </p:txBody>
      </p:sp>
      <p:sp>
        <p:nvSpPr>
          <p:cNvPr id="45" name="Text 43">
            <a:extLst>
              <a:ext uri="{FF2B5EF4-FFF2-40B4-BE49-F238E27FC236}">
                <a16:creationId xmlns:a16="http://schemas.microsoft.com/office/drawing/2014/main" id="{854F9999-A3AC-6BFC-73B3-D46F1EC522F8}"/>
              </a:ext>
            </a:extLst>
          </p:cNvPr>
          <p:cNvSpPr/>
          <p:nvPr/>
        </p:nvSpPr>
        <p:spPr>
          <a:xfrm>
            <a:off x="640080" y="6108192"/>
            <a:ext cx="10881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42" name="Text 17">
            <a:extLst>
              <a:ext uri="{FF2B5EF4-FFF2-40B4-BE49-F238E27FC236}">
                <a16:creationId xmlns:a16="http://schemas.microsoft.com/office/drawing/2014/main" id="{6B0AB521-5059-35F1-BF42-52911F99E970}"/>
              </a:ext>
            </a:extLst>
          </p:cNvPr>
          <p:cNvSpPr/>
          <p:nvPr/>
        </p:nvSpPr>
        <p:spPr>
          <a:xfrm>
            <a:off x="850053" y="2907792"/>
            <a:ext cx="30358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endParaRPr lang="en-US" sz="950" dirty="0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C7CDEE0-8CFE-DB26-907A-1E854D398798}"/>
              </a:ext>
            </a:extLst>
          </p:cNvPr>
          <p:cNvSpPr txBox="1"/>
          <p:nvPr/>
        </p:nvSpPr>
        <p:spPr>
          <a:xfrm>
            <a:off x="1279799" y="1803809"/>
            <a:ext cx="226434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Addition of Insurer which provides more discounts to high selling vehicles. Maximum reach. Location based.</a:t>
            </a:r>
          </a:p>
          <a:p>
            <a:r>
              <a:rPr lang="en-IN" sz="160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Ex: Maruti, Tata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8586946-EA84-9749-6E1A-1D3B77765925}"/>
              </a:ext>
            </a:extLst>
          </p:cNvPr>
          <p:cNvSpPr txBox="1"/>
          <p:nvPr/>
        </p:nvSpPr>
        <p:spPr>
          <a:xfrm>
            <a:off x="4972651" y="1837944"/>
            <a:ext cx="2216217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In-App Insurance Campaigns. Home Page banner promotion.</a:t>
            </a:r>
          </a:p>
          <a:p>
            <a:endParaRPr lang="en-IN" sz="1600" dirty="0">
              <a:solidFill>
                <a:srgbClr val="5A6B80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6A11143-7183-C8F4-451A-266ECB97766F}"/>
              </a:ext>
            </a:extLst>
          </p:cNvPr>
          <p:cNvSpPr txBox="1"/>
          <p:nvPr/>
        </p:nvSpPr>
        <p:spPr>
          <a:xfrm>
            <a:off x="8823960" y="1823987"/>
            <a:ext cx="2196004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Nudges on WhatsApp and email whenever customer visits app and is close to expiry.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8717F95-AE8F-9331-882A-A58CA428ABBC}"/>
              </a:ext>
            </a:extLst>
          </p:cNvPr>
          <p:cNvSpPr txBox="1"/>
          <p:nvPr/>
        </p:nvSpPr>
        <p:spPr>
          <a:xfrm>
            <a:off x="1325880" y="4242816"/>
            <a:ext cx="2046572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160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 Expiry details on </a:t>
            </a:r>
            <a:r>
              <a:rPr lang="en-IN" sz="1600" dirty="0" err="1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</a:t>
            </a:r>
            <a:r>
              <a:rPr lang="en-IN" sz="160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be displayed. Currently </a:t>
            </a:r>
            <a:r>
              <a:rPr lang="en-IN" sz="1600" dirty="0" err="1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hows</a:t>
            </a:r>
            <a:r>
              <a:rPr lang="en-IN" sz="1600" dirty="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add vehicle unless opened</a:t>
            </a:r>
          </a:p>
        </p:txBody>
      </p:sp>
    </p:spTree>
    <p:extLst>
      <p:ext uri="{BB962C8B-B14F-4D97-AF65-F5344CB8AC3E}">
        <p14:creationId xmlns:p14="http://schemas.microsoft.com/office/powerpoint/2010/main" val="13570696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83" name="Google Shape;4783;p30"/>
          <p:cNvSpPr txBox="1">
            <a:spLocks noGrp="1"/>
          </p:cNvSpPr>
          <p:nvPr>
            <p:ph type="subTitle" idx="4294967295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40" tIns="45720" rIns="91440" bIns="45720" rtlCol="0" anchor="ctr" anchorCtr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600" b="1" dirty="0">
                <a:solidFill>
                  <a:srgbClr val="0A2A5E"/>
                </a:solidFill>
                <a:latin typeface="Arial" pitchFamily="34" charset="0"/>
                <a:cs typeface="Arial" pitchFamily="34" charset="-120"/>
              </a:rPr>
              <a:t>Thank you</a:t>
            </a:r>
            <a:endParaRPr lang="en-US" sz="2600" b="1" dirty="0">
              <a:solidFill>
                <a:srgbClr val="0A2A5E"/>
              </a:solidFill>
              <a:latin typeface="Arial" pitchFamily="34" charset="0"/>
              <a:cs typeface="Arial" pitchFamily="34" charset="-120"/>
              <a:sym typeface="Albert Sans"/>
            </a:endParaRPr>
          </a:p>
        </p:txBody>
      </p:sp>
      <p:pic>
        <p:nvPicPr>
          <p:cNvPr id="2" name="Google Shape;4158;p21">
            <a:extLst>
              <a:ext uri="{FF2B5EF4-FFF2-40B4-BE49-F238E27FC236}">
                <a16:creationId xmlns:a16="http://schemas.microsoft.com/office/drawing/2014/main" id="{69C11E4A-03AF-C9AB-B87F-85A449CE48AB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2366" y="6218674"/>
            <a:ext cx="1594301" cy="5480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0782894"/>
      </p:ext>
    </p:extLst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Two-Wheeler (2W) View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with the August comparison in brackets — 2W only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5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347472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ICICI Lombard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 Digit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Tata AIG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Registrations attempted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1,578   (▼ 36.1%)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1,744   (▼ 41.0%)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1,601   (▼ 39.3%)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1,822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1,459   (▼ 38.5%)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1,288   (▼ 40.6%)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206   (▼ 73.4%)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1,689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92.5%   (▼ 3.6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73.9%   (▲ 0.5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12.9%   (▼ 16.5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20,045   (▼ 39.2%)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17,366   (▼ 44.0%)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13,369   (▼ 47.7%)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50,780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success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76.3%   (▼ 8.7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47.5%   (▲ 2.4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3.0%   (▼ 15.0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47.2%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4,742   (▼ 3.7%)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9,121   (▼ 46.5%)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12,971   (▼ 38.2%)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26,834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  (▼ 76.2%)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  (▼ 66.7%)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 (▼ 57.1%)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5,008   (▼ 80.1%)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6,311   (▼ 66.7%)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3,060   (▼ 55.8%)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14,379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1,002   (▼ 16.5%)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902   (▼ 0.2%)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1,020   (▲ 3.1%)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failure reason (Sep)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 is not allowed (3,699)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 rules violated!! (7,715)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1182-bundle OD start/end date missing (5,288)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ICICI Lombard</a:t>
            </a:r>
            <a:endParaRPr lang="en-US" sz="1150"/>
          </a:p>
        </p:txBody>
      </p:sp>
      <p:sp>
        <p:nvSpPr>
          <p:cNvPr id="10" name="Text 7"/>
          <p:cNvSpPr/>
          <p:nvPr/>
        </p:nvSpPr>
        <p:spPr>
          <a:xfrm>
            <a:off x="868680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ICICI Lombard call success 76.3% (Aug 85.1%); 5 2W policies, INR 5,008 GWP.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4352544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9"/>
          <p:cNvSpPr/>
          <p:nvPr/>
        </p:nvSpPr>
        <p:spPr>
          <a:xfrm>
            <a:off x="4581144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Digit</a:t>
            </a:r>
            <a:endParaRPr lang="en-US" sz="1150"/>
          </a:p>
        </p:txBody>
      </p:sp>
      <p:sp>
        <p:nvSpPr>
          <p:cNvPr id="13" name="Text 10"/>
          <p:cNvSpPr/>
          <p:nvPr/>
        </p:nvSpPr>
        <p:spPr>
          <a:xfrm>
            <a:off x="4581144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Digit call success 47.5% (Aug 45.0%); 7 2W policies, INR 6,311 GWP.</a:t>
            </a:r>
            <a:endParaRPr lang="en-US" sz="1050"/>
          </a:p>
        </p:txBody>
      </p:sp>
      <p:sp>
        <p:nvSpPr>
          <p:cNvPr id="14" name="Shape 11"/>
          <p:cNvSpPr/>
          <p:nvPr/>
        </p:nvSpPr>
        <p:spPr>
          <a:xfrm>
            <a:off x="8055864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284464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AIG</a:t>
            </a:r>
            <a:endParaRPr lang="en-US" sz="1150"/>
          </a:p>
        </p:txBody>
      </p:sp>
      <p:sp>
        <p:nvSpPr>
          <p:cNvPr id="16" name="Text 13"/>
          <p:cNvSpPr/>
          <p:nvPr/>
        </p:nvSpPr>
        <p:spPr>
          <a:xfrm>
            <a:off x="8284464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AIG call success 3.0% (Aug 18.0%); 3 2W policies, INR 3,060 GWP.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640080" y="6263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2W figures count a registration once per carrier it was quoted with; totals show distinct registrations. Policies and GWP are split by the vehicle type on the issued policy.</a:t>
            </a:r>
            <a:endParaRPr lang="en-US" sz="90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Four-Wheeler (4W) View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2026 with the August comparison in brackets — 4W only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5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3474720"/>
        </p:xfrm>
        <a:graphic>
          <a:graphicData uri="http://schemas.openxmlformats.org/drawingml/2006/table">
            <a:tbl>
              <a:tblPr/>
              <a:tblGrid>
                <a:gridCol w="2788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12140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75564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ICICI Lombard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 Digit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Tata AIG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Registrations attempted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1,201   (▼ 28.0%)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1,227   (▼ 29.3%)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1,101   (▼ 29.1%)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1,263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Leads with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1,089   (▼ 27.6%)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1,028   (▼ 28.3%)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698   (▼ 21.0%)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1,200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Lead → price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90.7%   (▲ 0.5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83.8%   (▲ 1.2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63.4%   (▲ 6.5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95.0%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17,654   (▼ 29.5%)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10,156   (▼ 30.8%)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12,996   (▼ 23.9%)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40,806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 success 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77.5%   (▲ 0.8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72.6%   (▲ 3.8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49.5%   (▲ 6.1 pp)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67.4%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3,976   (▼ 32.0%)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2,780   (▼ 39.2%)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6,558   (▼ 32.1%)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13,314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  (▼ 100.0%)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  (▲ 100.0%)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  (▼ 25.0%)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   (▼ 100.0%)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33,480   (▲ 139.0%)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B3261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25,371   (▼ 4.2%)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58,850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Average premium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8,370   (▲ 19.5%)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E7C5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8,457   (▲ 27.7%)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8,407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Top failure reason (Sep)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TP is not allowed (3,100)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UW rules violated!! (1,718)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engine_secure_options is mandatory (1,778)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88900" marR="889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ICICI Lombard</a:t>
            </a:r>
            <a:endParaRPr lang="en-US" sz="1150"/>
          </a:p>
        </p:txBody>
      </p:sp>
      <p:sp>
        <p:nvSpPr>
          <p:cNvPr id="10" name="Text 7"/>
          <p:cNvSpPr/>
          <p:nvPr/>
        </p:nvSpPr>
        <p:spPr>
          <a:xfrm>
            <a:off x="868680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ICICI Lombard call success 77.5% (Aug 76.7%); 0 4W policies, INR 0 GWP.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4352544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Text 9"/>
          <p:cNvSpPr/>
          <p:nvPr/>
        </p:nvSpPr>
        <p:spPr>
          <a:xfrm>
            <a:off x="4581144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 Digit</a:t>
            </a:r>
            <a:endParaRPr lang="en-US" sz="1150"/>
          </a:p>
        </p:txBody>
      </p:sp>
      <p:sp>
        <p:nvSpPr>
          <p:cNvPr id="13" name="Text 10"/>
          <p:cNvSpPr/>
          <p:nvPr/>
        </p:nvSpPr>
        <p:spPr>
          <a:xfrm>
            <a:off x="4581144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Digit call success 72.6% (Aug 68.8%); 4 4W policies, INR 33,480 GWP.</a:t>
            </a:r>
            <a:endParaRPr lang="en-US" sz="1050"/>
          </a:p>
        </p:txBody>
      </p:sp>
      <p:sp>
        <p:nvSpPr>
          <p:cNvPr id="14" name="Shape 11"/>
          <p:cNvSpPr/>
          <p:nvPr/>
        </p:nvSpPr>
        <p:spPr>
          <a:xfrm>
            <a:off x="8055864" y="5074920"/>
            <a:ext cx="3493008" cy="1097280"/>
          </a:xfrm>
          <a:prstGeom prst="roundRect">
            <a:avLst>
              <a:gd name="adj" fmla="val 5833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284464" y="5166360"/>
            <a:ext cx="30175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Tata AIG</a:t>
            </a:r>
            <a:endParaRPr lang="en-US" sz="1150"/>
          </a:p>
        </p:txBody>
      </p:sp>
      <p:sp>
        <p:nvSpPr>
          <p:cNvPr id="16" name="Text 13"/>
          <p:cNvSpPr/>
          <p:nvPr/>
        </p:nvSpPr>
        <p:spPr>
          <a:xfrm>
            <a:off x="8284464" y="5422392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AIG call success 49.5% (Aug 43.4%); 3 4W policies, INR 25,371 GWP.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640080" y="6263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4W figures count a registration once per carrier it was quoted with; totals show distinct registrations. Policies and GWP are split by the vehicle type on the issued policy.</a:t>
            </a:r>
            <a:endParaRPr lang="en-US" sz="9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Cumulative — August + September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months combined, by carrier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5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371600"/>
          <a:ext cx="10908792" cy="3977640"/>
        </p:xfrm>
        <a:graphic>
          <a:graphicData uri="http://schemas.openxmlformats.org/drawingml/2006/table">
            <a:tbl>
              <a:tblPr/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3639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9202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Insurer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August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September 2026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Cumulative</a:t>
                      </a: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ICICI Lombard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57,997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37,699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95,696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returning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81.4%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76.9%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79.6%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10,766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8,718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19,484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61,400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5,008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66,408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Go Digit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45,671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27,522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73,193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returning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52.7%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56.8%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54.2%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21,611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11,901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33,512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34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32,976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39,791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72,767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>
                          <a:solidFill>
                            <a:srgbClr val="0A2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Tata AIG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Quote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42,656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26,365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69,021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Calls returning a price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28.2%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25.9%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27.3%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Failed calls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30,646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19,529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50,175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Policies issued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4688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GWP (INR)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>
                          <a:solidFill>
                            <a:srgbClr val="5A6B8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33,417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28,431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>
                          <a:solidFill>
                            <a:srgbClr val="1B27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61,848</a:t>
                      </a:r>
                      <a:endParaRPr lang="en-US" sz="100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640080" y="5486400"/>
            <a:ext cx="5394960" cy="658368"/>
          </a:xfrm>
          <a:prstGeom prst="roundRect">
            <a:avLst>
              <a:gd name="adj" fmla="val 9722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8680" y="56052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 months, one picture   </a:t>
            </a: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2,37,910 quote calls, 56.6% returned a price; 81 policies and INR 2,01,023 GWP from 9,806 distinct vehicles quoted since 5 July.</a:t>
            </a:r>
            <a:endParaRPr lang="en-US" sz="1050"/>
          </a:p>
        </p:txBody>
      </p:sp>
      <p:sp>
        <p:nvSpPr>
          <p:cNvPr id="10" name="Shape 7"/>
          <p:cNvSpPr/>
          <p:nvPr/>
        </p:nvSpPr>
        <p:spPr>
          <a:xfrm>
            <a:off x="6153912" y="5486400"/>
            <a:ext cx="5394960" cy="658368"/>
          </a:xfrm>
          <a:prstGeom prst="roundRect">
            <a:avLst>
              <a:gd name="adj" fmla="val 9722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6382512" y="5605272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Where the failures sit   </a:t>
            </a:r>
            <a:r>
              <a:rPr lang="en-US" sz="1050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1,03,171 failed calls in total — Tata AIG 49%, Go Digit 32%, ICICI Lombard 19%.</a:t>
            </a:r>
            <a:endParaRPr lang="en-US" sz="105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Funnel — Two-Wheeler (2W)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versus August, 2W only — every stage and step conversion, per unique registration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5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845620"/>
              </p:ext>
            </p:extLst>
          </p:nvPr>
        </p:nvGraphicFramePr>
        <p:xfrm>
          <a:off x="640080" y="1371600"/>
          <a:ext cx="7589520" cy="3273552"/>
        </p:xfrm>
        <a:graphic>
          <a:graphicData uri="http://schemas.openxmlformats.org/drawingml/2006/table">
            <a:tbl>
              <a:tblPr/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Stage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August 2026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September 2026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Change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Comment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1. Unique registrations (leads)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3,133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1,822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41.8%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Vehicles entering the funnel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2. Leads with at least one price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2,883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1,689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41.4%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Leads that got a price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3. Leads reaching application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134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65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51.5%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Vehicles reaching application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4. Vehicles that bought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49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15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69.4%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Vehicles that bought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     Policies issued (count)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49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15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69.4%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One policy per buying vehicle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Step conversions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Lead → quote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92.0%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92.7%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E7C5A"/>
                          </a:solidFill>
                          <a:latin typeface="Calibri"/>
                          <a:ea typeface="Calibri"/>
                          <a:cs typeface="Calibri"/>
                        </a:rPr>
                        <a:t>▲ 0.7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E7C5A"/>
                          </a:solidFill>
                          <a:latin typeface="Calibri"/>
                          <a:ea typeface="Calibri"/>
                          <a:cs typeface="Calibri"/>
                        </a:rPr>
                        <a:t>Improved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Quote→ Proposal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4.3%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3.6%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0.7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Slipped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Proposal→ Purchase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36.6%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23.1%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13.5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Slipped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Lead → Purchase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1.56%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0.82%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0.74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Slipped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412480" y="1371600"/>
            <a:ext cx="3136392" cy="2103120"/>
          </a:xfrm>
          <a:prstGeom prst="roundRect">
            <a:avLst>
              <a:gd name="adj" fmla="val 304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13648" y="14813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bottom of the funnel</a:t>
            </a:r>
            <a:endParaRPr lang="en-US" sz="1200"/>
          </a:p>
        </p:txBody>
      </p:sp>
      <p:sp>
        <p:nvSpPr>
          <p:cNvPr id="10" name="Text 7"/>
          <p:cNvSpPr/>
          <p:nvPr/>
        </p:nvSpPr>
        <p:spPr>
          <a:xfrm>
            <a:off x="8613648" y="1792224"/>
            <a:ext cx="27614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Application → bought: 36.6% → 23.1%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 → bought: 1.56% → 0.82%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15 2W vehicles bought, against 49 in August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2W GWP: INR 14,379 (Aug INR 51,066)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8412480" y="3611880"/>
            <a:ext cx="3136392" cy="1417320"/>
          </a:xfrm>
          <a:prstGeom prst="roundRect">
            <a:avLst>
              <a:gd name="adj" fmla="val 4516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13648" y="37124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price step</a:t>
            </a:r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8613648" y="4005072"/>
            <a:ext cx="27614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 → price: 92.0% → 92.7%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65 applications, down 51.5%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Quote-call success 47.2% (Aug 52.0%)</a:t>
            </a:r>
            <a:endParaRPr lang="en-US" sz="1050"/>
          </a:p>
        </p:txBody>
      </p:sp>
      <p:sp>
        <p:nvSpPr>
          <p:cNvPr id="14" name="Shape 11"/>
          <p:cNvSpPr/>
          <p:nvPr/>
        </p:nvSpPr>
        <p:spPr>
          <a:xfrm>
            <a:off x="8412480" y="5166360"/>
            <a:ext cx="3136392" cy="1005840"/>
          </a:xfrm>
          <a:prstGeom prst="roundRect">
            <a:avLst>
              <a:gd name="adj" fmla="val 6364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613648" y="52578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carrier (Sep)</a:t>
            </a:r>
            <a:endParaRPr lang="en-US" sz="1200"/>
          </a:p>
        </p:txBody>
      </p:sp>
      <p:sp>
        <p:nvSpPr>
          <p:cNvPr id="16" name="Text 13"/>
          <p:cNvSpPr/>
          <p:nvPr/>
        </p:nvSpPr>
        <p:spPr>
          <a:xfrm>
            <a:off x="8613648" y="5513832"/>
            <a:ext cx="2761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ICICI Lombard 1459 of 1578 priced · Go Digit 1288 of 1744 priced · Tata AIG 206 of 1601 priced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640080" y="6263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and policies are split by the vehicle type on the request / issued policy. Same definitions as the combined funnel.</a:t>
            </a:r>
            <a:endParaRPr lang="en-US" sz="90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0"/>
          <p:cNvSpPr/>
          <p:nvPr/>
        </p:nvSpPr>
        <p:spPr>
          <a:xfrm>
            <a:off x="640080" y="402336"/>
            <a:ext cx="8961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Funnel — Four-Wheeler (4W)</a:t>
            </a:r>
            <a:endParaRPr lang="en-US" sz="2600"/>
          </a:p>
        </p:txBody>
      </p:sp>
      <p:sp>
        <p:nvSpPr>
          <p:cNvPr id="3" name="Text 1"/>
          <p:cNvSpPr/>
          <p:nvPr/>
        </p:nvSpPr>
        <p:spPr>
          <a:xfrm>
            <a:off x="640080" y="886968"/>
            <a:ext cx="8961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September versus August, 4W only — every stage and step conversion, per unique registration</a:t>
            </a:r>
            <a:endParaRPr lang="en-US" sz="1250"/>
          </a:p>
        </p:txBody>
      </p:sp>
      <p:sp>
        <p:nvSpPr>
          <p:cNvPr id="4" name="Text 2"/>
          <p:cNvSpPr/>
          <p:nvPr/>
        </p:nvSpPr>
        <p:spPr>
          <a:xfrm>
            <a:off x="10149840" y="457200"/>
            <a:ext cx="1399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insure</a:t>
            </a:r>
            <a:r>
              <a:rPr lang="en-US" sz="1400" b="1">
                <a:solidFill>
                  <a:srgbClr val="1877D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</a:t>
            </a:r>
            <a:endParaRPr lang="en-US" sz="1400"/>
          </a:p>
        </p:txBody>
      </p:sp>
      <p:sp>
        <p:nvSpPr>
          <p:cNvPr id="5" name="Text 3"/>
          <p:cNvSpPr/>
          <p:nvPr/>
        </p:nvSpPr>
        <p:spPr>
          <a:xfrm>
            <a:off x="640080" y="6355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FIBE  ·  Monthly Business Review  ·  September 2026</a:t>
            </a:r>
            <a:endParaRPr lang="en-US" sz="950"/>
          </a:p>
        </p:txBody>
      </p:sp>
      <p:sp>
        <p:nvSpPr>
          <p:cNvPr id="6" name="Text 4"/>
          <p:cNvSpPr/>
          <p:nvPr/>
        </p:nvSpPr>
        <p:spPr>
          <a:xfrm>
            <a:off x="10881360" y="6355080"/>
            <a:ext cx="6675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50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5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2845620"/>
              </p:ext>
            </p:extLst>
          </p:nvPr>
        </p:nvGraphicFramePr>
        <p:xfrm>
          <a:off x="640080" y="1371600"/>
          <a:ext cx="7589520" cy="3273552"/>
        </p:xfrm>
        <a:graphic>
          <a:graphicData uri="http://schemas.openxmlformats.org/drawingml/2006/table">
            <a:tbl>
              <a:tblPr/>
              <a:tblGrid>
                <a:gridCol w="2423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1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0574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74320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Stage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August 2026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September 2026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Change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Comment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A2A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1. Unique registrations (leads)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1,802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1,263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29.9%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Vehicles entering the funnel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2. Leads with at least one price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1,673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1,200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28.3%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Leads that got a price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3. Leads reaching application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108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68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37.0%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Vehicles reaching application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4. Vehicles that bought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7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30.0%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Vehicles that bought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     Policies issued (count)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7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30.0%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One policy per buying vehicle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1168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Arial"/>
                          <a:ea typeface="Arial" pitchFamily="34" charset="-122"/>
                          <a:cs typeface="Arial"/>
                        </a:rPr>
                        <a:t>Step conversions</a:t>
                      </a:r>
                      <a:endParaRPr lang="en-US" sz="950" dirty="0">
                        <a:latin typeface="Arial"/>
                        <a:ea typeface="Arial" charset="0"/>
                        <a:cs typeface="Arial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95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3C7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Lead → quote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92.8%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95.0%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E7C5A"/>
                          </a:solidFill>
                          <a:latin typeface="Calibri"/>
                          <a:ea typeface="Calibri"/>
                          <a:cs typeface="Calibri"/>
                        </a:rPr>
                        <a:t>▲ 2.2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0E7C5A"/>
                          </a:solidFill>
                          <a:latin typeface="Calibri"/>
                          <a:ea typeface="Calibri"/>
                          <a:cs typeface="Calibri"/>
                        </a:rPr>
                        <a:t>Improved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Quote→ Proposal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6.0%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5.4%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▼ 0.6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Slipped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Proposal→ Purchase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9.3%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10.3%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E7C5A"/>
                          </a:solidFill>
                          <a:latin typeface="Calibri"/>
                          <a:ea typeface="Calibri"/>
                          <a:cs typeface="Calibri"/>
                        </a:rPr>
                        <a:t>▲ 1.0 pp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B3261E"/>
                          </a:solidFill>
                          <a:latin typeface="Calibri"/>
                          <a:ea typeface="Calibri"/>
                          <a:cs typeface="Calibri"/>
                        </a:rPr>
                        <a:t>Improved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b="1" dirty="0">
                          <a:solidFill>
                            <a:srgbClr val="1B2733"/>
                          </a:solidFill>
                          <a:latin typeface="Calibri"/>
                          <a:ea typeface="Calibri"/>
                          <a:cs typeface="Calibri"/>
                        </a:rPr>
                        <a:t>Lead → Purchase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dirty="0">
                          <a:solidFill>
                            <a:srgbClr val="5A6B80"/>
                          </a:solidFill>
                          <a:latin typeface="Calibri"/>
                          <a:ea typeface="Calibri"/>
                          <a:cs typeface="Calibri"/>
                        </a:rPr>
                        <a:t>0.55%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0A2A5E"/>
                          </a:solidFill>
                          <a:latin typeface="Calibri"/>
                          <a:ea typeface="Calibri"/>
                          <a:cs typeface="Calibri"/>
                        </a:rPr>
                        <a:t>0.55%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9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00" b="1" dirty="0">
                          <a:solidFill>
                            <a:srgbClr val="595959"/>
                          </a:solidFill>
                          <a:latin typeface="Calibri"/>
                          <a:ea typeface="Calibri"/>
                          <a:cs typeface="Calibri"/>
                        </a:rPr>
                        <a:t>▬ no change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buNone/>
                      </a:pPr>
                      <a:r>
                        <a:rPr lang="en-US" sz="1000" dirty="0">
                          <a:solidFill>
                            <a:srgbClr val="595959"/>
                          </a:solidFill>
                          <a:latin typeface="Calibri"/>
                          <a:ea typeface="Calibri"/>
                          <a:cs typeface="Calibri"/>
                        </a:rPr>
                        <a:t>Flat</a:t>
                      </a:r>
                      <a:endParaRPr lang="en-US" sz="1000" dirty="0">
                        <a:latin typeface="Calibri"/>
                        <a:ea typeface="Calibri"/>
                        <a:cs typeface="Calibri"/>
                      </a:endParaRPr>
                    </a:p>
                  </a:txBody>
                  <a:tcPr marL="76200" marR="76200" marT="25400" marB="25400" anchor="ctr">
                    <a:lnL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E3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8412480" y="1371600"/>
            <a:ext cx="3136392" cy="2103120"/>
          </a:xfrm>
          <a:prstGeom prst="roundRect">
            <a:avLst>
              <a:gd name="adj" fmla="val 3043"/>
            </a:avLst>
          </a:prstGeom>
          <a:solidFill>
            <a:srgbClr val="E9F6F1"/>
          </a:solidFill>
          <a:ln w="12700">
            <a:solidFill>
              <a:srgbClr val="CBE7DB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8613648" y="1481328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E7C5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bottom of the funnel</a:t>
            </a:r>
            <a:endParaRPr lang="en-US" sz="1200"/>
          </a:p>
        </p:txBody>
      </p:sp>
      <p:sp>
        <p:nvSpPr>
          <p:cNvPr id="10" name="Text 7"/>
          <p:cNvSpPr/>
          <p:nvPr/>
        </p:nvSpPr>
        <p:spPr>
          <a:xfrm>
            <a:off x="8613648" y="1792224"/>
            <a:ext cx="27614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Application → bought: 9.3% → 10.3%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 → bought: 0.55% → 0.55%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7 4W vehicles bought, against 10 in August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4W GWP: INR 58,850 (Aug INR 76,727)</a:t>
            </a:r>
            <a:endParaRPr lang="en-US" sz="1050"/>
          </a:p>
        </p:txBody>
      </p:sp>
      <p:sp>
        <p:nvSpPr>
          <p:cNvPr id="11" name="Shape 8"/>
          <p:cNvSpPr/>
          <p:nvPr/>
        </p:nvSpPr>
        <p:spPr>
          <a:xfrm>
            <a:off x="8412480" y="3611880"/>
            <a:ext cx="3136392" cy="1417320"/>
          </a:xfrm>
          <a:prstGeom prst="roundRect">
            <a:avLst>
              <a:gd name="adj" fmla="val 4516"/>
            </a:avLst>
          </a:prstGeom>
          <a:solidFill>
            <a:srgbClr val="E8F1FC"/>
          </a:solidFill>
          <a:ln w="12700">
            <a:solidFill>
              <a:srgbClr val="D6E3F5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613648" y="3712464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0A2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price step</a:t>
            </a:r>
            <a:endParaRPr lang="en-US" sz="1200"/>
          </a:p>
        </p:txBody>
      </p:sp>
      <p:sp>
        <p:nvSpPr>
          <p:cNvPr id="13" name="Text 10"/>
          <p:cNvSpPr/>
          <p:nvPr/>
        </p:nvSpPr>
        <p:spPr>
          <a:xfrm>
            <a:off x="8613648" y="4005072"/>
            <a:ext cx="276148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Lead → price: 92.8% → 95.0%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68 applications, down 37.0%</a:t>
            </a:r>
            <a:endParaRPr lang="en-US" sz="1050"/>
          </a:p>
          <a:p>
            <a:pPr marL="0" indent="0">
              <a:spcAft>
                <a:spcPts val="400"/>
              </a:spcAft>
              <a:buNone/>
            </a:pPr>
            <a:r>
              <a:rPr lang="en-US" sz="1050">
                <a:solidFill>
                  <a:srgbClr val="5A6B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▪   Quote-call success 67.4% (Aug 64.6%)</a:t>
            </a:r>
            <a:endParaRPr lang="en-US" sz="1050"/>
          </a:p>
        </p:txBody>
      </p:sp>
      <p:sp>
        <p:nvSpPr>
          <p:cNvPr id="14" name="Shape 11"/>
          <p:cNvSpPr/>
          <p:nvPr/>
        </p:nvSpPr>
        <p:spPr>
          <a:xfrm>
            <a:off x="8412480" y="5166360"/>
            <a:ext cx="3136392" cy="1005840"/>
          </a:xfrm>
          <a:prstGeom prst="roundRect">
            <a:avLst>
              <a:gd name="adj" fmla="val 6364"/>
            </a:avLst>
          </a:prstGeom>
          <a:solidFill>
            <a:srgbClr val="FDF3E4"/>
          </a:solidFill>
          <a:ln w="12700">
            <a:solidFill>
              <a:srgbClr val="F2DFC0"/>
            </a:solidFill>
            <a:prstDash val="solid"/>
          </a:ln>
          <a:effectLst>
            <a:outerShdw blurRad="152400" dist="25400" dir="5400000" algn="bl" rotWithShape="0">
              <a:srgbClr val="0A2A5E">
                <a:alpha val="10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8613648" y="525780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>
                <a:solidFill>
                  <a:srgbClr val="B873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carrier (Sep)</a:t>
            </a:r>
            <a:endParaRPr lang="en-US" sz="1200"/>
          </a:p>
        </p:txBody>
      </p:sp>
      <p:sp>
        <p:nvSpPr>
          <p:cNvPr id="16" name="Text 13"/>
          <p:cNvSpPr/>
          <p:nvPr/>
        </p:nvSpPr>
        <p:spPr>
          <a:xfrm>
            <a:off x="8613648" y="5513832"/>
            <a:ext cx="276148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50" b="1">
                <a:solidFill>
                  <a:srgbClr val="1B27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ICICI Lombard 1089 of 1201 priced · Go Digit 1028 of 1227 priced · Tata AIG 698 of 1101 priced</a:t>
            </a:r>
            <a:endParaRPr lang="en-US" sz="1050"/>
          </a:p>
        </p:txBody>
      </p:sp>
      <p:sp>
        <p:nvSpPr>
          <p:cNvPr id="17" name="Text 14"/>
          <p:cNvSpPr/>
          <p:nvPr/>
        </p:nvSpPr>
        <p:spPr>
          <a:xfrm>
            <a:off x="640080" y="6263640"/>
            <a:ext cx="109087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>
                <a:solidFill>
                  <a:srgbClr val="93A3B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Applications and policies are split by the vehicle type on the request / issued policy. Same definitions as the combined funnel.</a:t>
            </a:r>
            <a:endParaRPr lang="en-US" sz="9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Widescreen</PresentationFormat>
  <Slides>24</Slides>
  <Notes>24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5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FIBE x insureMO - Monthly Business Review - August 2026</dc:title>
  <dc:subject>PptxGenJS Presentation</dc:subject>
  <dc:creator>PptxGenJS</dc:creator>
  <cp:revision>19</cp:revision>
  <dcterms:created xsi:type="dcterms:W3CDTF">2026-09-03T07:44:32Z</dcterms:created>
  <dcterms:modified xsi:type="dcterms:W3CDTF">2026-09-03T12:49:19Z</dcterms:modified>
</cp:coreProperties>
</file>