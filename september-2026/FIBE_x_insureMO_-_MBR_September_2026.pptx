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94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97" r:id="rId33"/>
    <p:sldId id="298" r:id="rId34"/>
    <p:sldId id="299" r:id="rId35"/>
    <p:sldId id="271" r:id="rId14"/>
    <p:sldId id="272" r:id="rId15"/>
    <p:sldId id="273" r:id="rId16"/>
    <p:sldId id="274" r:id="rId17"/>
    <p:sldId id="276" r:id="rId18"/>
    <p:sldId id="277" r:id="rId19"/>
    <p:sldId id="279" r:id="rId20"/>
    <p:sldId id="282" r:id="rId21"/>
    <p:sldId id="283" r:id="rId22"/>
    <p:sldId id="284" r:id="rId23"/>
    <p:sldId id="296" r:id="rId24"/>
    <p:sldId id="295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76ACE9-65F3-1C3F-0FD7-B0D5DE5FB8CF}" v="340" dt="2026-09-03T10:31:56.097"/>
    <p1510:client id="{A8CAA7EB-08A3-5484-7624-78D7354F01B0}" v="129" dt="2026-09-03T12:49:18.739"/>
    <p1510:client id="{CC0C8E50-F229-AADD-A904-F8A0A81E97B7}" v="131" dt="2026-09-03T10:16:52.0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microsoft.com/office/2015/10/relationships/revisionInfo" Target="revisionInfo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eha Konkalil" userId="S::sneha.konkalil@insuremo.com::52f3e289-b4eb-49eb-bdcf-df358d3eeca7" providerId="AD" clId="Web-{5D76ACE9-65F3-1C3F-0FD7-B0D5DE5FB8CF}"/>
    <pc:docChg chg="modSld">
      <pc:chgData name="Sneha Konkalil" userId="S::sneha.konkalil@insuremo.com::52f3e289-b4eb-49eb-bdcf-df358d3eeca7" providerId="AD" clId="Web-{5D76ACE9-65F3-1C3F-0FD7-B0D5DE5FB8CF}" dt="2026-09-03T10:31:53.878" v="325"/>
      <pc:docMkLst>
        <pc:docMk/>
      </pc:docMkLst>
      <pc:sldChg chg="modSp">
        <pc:chgData name="Sneha Konkalil" userId="S::sneha.konkalil@insuremo.com::52f3e289-b4eb-49eb-bdcf-df358d3eeca7" providerId="AD" clId="Web-{5D76ACE9-65F3-1C3F-0FD7-B0D5DE5FB8CF}" dt="2026-09-03T10:10:47.830" v="1" actId="20577"/>
        <pc:sldMkLst>
          <pc:docMk/>
          <pc:sldMk cId="0" sldId="258"/>
        </pc:sldMkLst>
        <pc:spChg chg="mod">
          <ac:chgData name="Sneha Konkalil" userId="S::sneha.konkalil@insuremo.com::52f3e289-b4eb-49eb-bdcf-df358d3eeca7" providerId="AD" clId="Web-{5D76ACE9-65F3-1C3F-0FD7-B0D5DE5FB8CF}" dt="2026-09-03T10:10:47.830" v="1" actId="20577"/>
          <ac:spMkLst>
            <pc:docMk/>
            <pc:sldMk cId="0" sldId="258"/>
            <ac:spMk id="21" creationId="{00000000-0000-0000-0000-000000000000}"/>
          </ac:spMkLst>
        </pc:spChg>
      </pc:sldChg>
      <pc:sldChg chg="addSp delSp modSp">
        <pc:chgData name="Sneha Konkalil" userId="S::sneha.konkalil@insuremo.com::52f3e289-b4eb-49eb-bdcf-df358d3eeca7" providerId="AD" clId="Web-{5D76ACE9-65F3-1C3F-0FD7-B0D5DE5FB8CF}" dt="2026-09-03T10:31:53.878" v="325"/>
        <pc:sldMkLst>
          <pc:docMk/>
          <pc:sldMk cId="0" sldId="284"/>
        </pc:sldMkLst>
        <pc:graphicFrameChg chg="add del mod">
          <ac:chgData name="Sneha Konkalil" userId="S::sneha.konkalil@insuremo.com::52f3e289-b4eb-49eb-bdcf-df358d3eeca7" providerId="AD" clId="Web-{5D76ACE9-65F3-1C3F-0FD7-B0D5DE5FB8CF}" dt="2026-09-03T10:29:43.751" v="103"/>
          <ac:graphicFrameMkLst>
            <pc:docMk/>
            <pc:sldMk cId="0" sldId="284"/>
            <ac:graphicFrameMk id="8" creationId="{8F65F86E-C75E-24C1-27F0-A1D6D99DD621}"/>
          </ac:graphicFrameMkLst>
        </pc:graphicFrameChg>
        <pc:graphicFrameChg chg="mod modGraphic">
          <ac:chgData name="Sneha Konkalil" userId="S::sneha.konkalil@insuremo.com::52f3e289-b4eb-49eb-bdcf-df358d3eeca7" providerId="AD" clId="Web-{5D76ACE9-65F3-1C3F-0FD7-B0D5DE5FB8CF}" dt="2026-09-03T10:31:53.878" v="325"/>
          <ac:graphicFrameMkLst>
            <pc:docMk/>
            <pc:sldMk cId="0" sldId="284"/>
            <ac:graphicFrameMk id="30" creationId="{00000000-0000-0000-0000-000000000000}"/>
          </ac:graphicFrameMkLst>
        </pc:graphicFrameChg>
      </pc:sldChg>
    </pc:docChg>
  </pc:docChgLst>
  <pc:docChgLst>
    <pc:chgData name="Sneha Konkalil" userId="S::sneha.konkalil@insuremo.com::52f3e289-b4eb-49eb-bdcf-df358d3eeca7" providerId="AD" clId="Web-{A8CAA7EB-08A3-5484-7624-78D7354F01B0}"/>
    <pc:docChg chg="addSld delSld modSld">
      <pc:chgData name="Sneha Konkalil" userId="S::sneha.konkalil@insuremo.com::52f3e289-b4eb-49eb-bdcf-df358d3eeca7" providerId="AD" clId="Web-{A8CAA7EB-08A3-5484-7624-78D7354F01B0}" dt="2026-09-03T12:49:18.739" v="70"/>
      <pc:docMkLst>
        <pc:docMk/>
      </pc:docMkLst>
      <pc:sldChg chg="del">
        <pc:chgData name="Sneha Konkalil" userId="S::sneha.konkalil@insuremo.com::52f3e289-b4eb-49eb-bdcf-df358d3eeca7" providerId="AD" clId="Web-{A8CAA7EB-08A3-5484-7624-78D7354F01B0}" dt="2026-09-03T11:46:29.608" v="13"/>
        <pc:sldMkLst>
          <pc:docMk/>
          <pc:sldMk cId="0" sldId="256"/>
        </pc:sldMkLst>
      </pc:sldChg>
      <pc:sldChg chg="modSp">
        <pc:chgData name="Sneha Konkalil" userId="S::sneha.konkalil@insuremo.com::52f3e289-b4eb-49eb-bdcf-df358d3eeca7" providerId="AD" clId="Web-{A8CAA7EB-08A3-5484-7624-78D7354F01B0}" dt="2026-09-03T11:59:55.138" v="69"/>
        <pc:sldMkLst>
          <pc:docMk/>
          <pc:sldMk cId="0" sldId="261"/>
        </pc:sldMkLst>
        <pc:graphicFrameChg chg="mod modGraphic">
          <ac:chgData name="Sneha Konkalil" userId="S::sneha.konkalil@insuremo.com::52f3e289-b4eb-49eb-bdcf-df358d3eeca7" providerId="AD" clId="Web-{A8CAA7EB-08A3-5484-7624-78D7354F01B0}" dt="2026-09-03T11:59:55.138" v="69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del">
        <pc:chgData name="Sneha Konkalil" userId="S::sneha.konkalil@insuremo.com::52f3e289-b4eb-49eb-bdcf-df358d3eeca7" providerId="AD" clId="Web-{A8CAA7EB-08A3-5484-7624-78D7354F01B0}" dt="2026-09-03T11:49:44.848" v="15"/>
        <pc:sldMkLst>
          <pc:docMk/>
          <pc:sldMk cId="0" sldId="288"/>
        </pc:sldMkLst>
      </pc:sldChg>
      <pc:sldChg chg="modSp add">
        <pc:chgData name="Sneha Konkalil" userId="S::sneha.konkalil@insuremo.com::52f3e289-b4eb-49eb-bdcf-df358d3eeca7" providerId="AD" clId="Web-{A8CAA7EB-08A3-5484-7624-78D7354F01B0}" dt="2026-09-03T11:46:22.998" v="12" actId="14100"/>
        <pc:sldMkLst>
          <pc:docMk/>
          <pc:sldMk cId="0" sldId="294"/>
        </pc:sldMkLst>
        <pc:spChg chg="mod">
          <ac:chgData name="Sneha Konkalil" userId="S::sneha.konkalil@insuremo.com::52f3e289-b4eb-49eb-bdcf-df358d3eeca7" providerId="AD" clId="Web-{A8CAA7EB-08A3-5484-7624-78D7354F01B0}" dt="2026-09-03T11:46:22.998" v="12" actId="14100"/>
          <ac:spMkLst>
            <pc:docMk/>
            <pc:sldMk cId="0" sldId="294"/>
            <ac:spMk id="3" creationId="{3768561F-B97A-2DCA-4457-AB219666B666}"/>
          </ac:spMkLst>
        </pc:spChg>
      </pc:sldChg>
      <pc:sldChg chg="add">
        <pc:chgData name="Sneha Konkalil" userId="S::sneha.konkalil@insuremo.com::52f3e289-b4eb-49eb-bdcf-df358d3eeca7" providerId="AD" clId="Web-{A8CAA7EB-08A3-5484-7624-78D7354F01B0}" dt="2026-09-03T11:49:42.113" v="14"/>
        <pc:sldMkLst>
          <pc:docMk/>
          <pc:sldMk cId="60782894" sldId="295"/>
        </pc:sldMkLst>
      </pc:sldChg>
      <pc:sldChg chg="add">
        <pc:chgData name="Sneha Konkalil" userId="S::sneha.konkalil@insuremo.com::52f3e289-b4eb-49eb-bdcf-df358d3eeca7" providerId="AD" clId="Web-{A8CAA7EB-08A3-5484-7624-78D7354F01B0}" dt="2026-09-03T12:49:18.739" v="70"/>
        <pc:sldMkLst>
          <pc:docMk/>
          <pc:sldMk cId="1357069627" sldId="296"/>
        </pc:sldMkLst>
      </pc:sldChg>
      <pc:sldMasterChg chg="addSldLayout">
        <pc:chgData name="Sneha Konkalil" userId="S::sneha.konkalil@insuremo.com::52f3e289-b4eb-49eb-bdcf-df358d3eeca7" providerId="AD" clId="Web-{A8CAA7EB-08A3-5484-7624-78D7354F01B0}" dt="2026-09-03T11:49:42.113" v="14"/>
        <pc:sldMasterMkLst>
          <pc:docMk/>
          <pc:sldMasterMk cId="0" sldId="2147483648"/>
        </pc:sldMasterMkLst>
        <pc:sldLayoutChg chg="add">
          <pc:chgData name="Sneha Konkalil" userId="S::sneha.konkalil@insuremo.com::52f3e289-b4eb-49eb-bdcf-df358d3eeca7" providerId="AD" clId="Web-{A8CAA7EB-08A3-5484-7624-78D7354F01B0}" dt="2026-09-03T11:45:33.777" v="0"/>
          <pc:sldLayoutMkLst>
            <pc:docMk/>
            <pc:sldMasterMk cId="0" sldId="2147483648"/>
            <pc:sldLayoutMk cId="3840719445" sldId="2147483650"/>
          </pc:sldLayoutMkLst>
        </pc:sldLayoutChg>
        <pc:sldLayoutChg chg="add">
          <pc:chgData name="Sneha Konkalil" userId="S::sneha.konkalil@insuremo.com::52f3e289-b4eb-49eb-bdcf-df358d3eeca7" providerId="AD" clId="Web-{A8CAA7EB-08A3-5484-7624-78D7354F01B0}" dt="2026-09-03T11:49:42.113" v="14"/>
          <pc:sldLayoutMkLst>
            <pc:docMk/>
            <pc:sldMasterMk cId="0" sldId="2147483648"/>
            <pc:sldLayoutMk cId="378603448" sldId="2147483651"/>
          </pc:sldLayoutMkLst>
        </pc:sldLayoutChg>
      </pc:sldMasterChg>
    </pc:docChg>
  </pc:docChgLst>
  <pc:docChgLst>
    <pc:chgData name="Ravi Teja" userId="S::ravi.teja@insuremo.com::9c7f817d-c985-4167-9564-642afabb8db1" providerId="AD" clId="Web-{CC0C8E50-F229-AADD-A904-F8A0A81E97B7}"/>
    <pc:docChg chg="modSld">
      <pc:chgData name="Ravi Teja" userId="S::ravi.teja@insuremo.com::9c7f817d-c985-4167-9564-642afabb8db1" providerId="AD" clId="Web-{CC0C8E50-F229-AADD-A904-F8A0A81E97B7}" dt="2026-09-03T10:16:49.668" v="115"/>
      <pc:docMkLst>
        <pc:docMk/>
      </pc:docMkLst>
      <pc:sldChg chg="modSp">
        <pc:chgData name="Ravi Teja" userId="S::ravi.teja@insuremo.com::9c7f817d-c985-4167-9564-642afabb8db1" providerId="AD" clId="Web-{CC0C8E50-F229-AADD-A904-F8A0A81E97B7}" dt="2026-09-03T10:16:49.668" v="115"/>
        <pc:sldMkLst>
          <pc:docMk/>
          <pc:sldMk cId="0" sldId="279"/>
        </pc:sldMkLst>
        <pc:spChg chg="mod">
          <ac:chgData name="Ravi Teja" userId="S::ravi.teja@insuremo.com::9c7f817d-c985-4167-9564-642afabb8db1" providerId="AD" clId="Web-{CC0C8E50-F229-AADD-A904-F8A0A81E97B7}" dt="2026-09-03T10:14:35.902" v="92" actId="20577"/>
          <ac:spMkLst>
            <pc:docMk/>
            <pc:sldMk cId="0" sldId="279"/>
            <ac:spMk id="19" creationId="{00000000-0000-0000-0000-000000000000}"/>
          </ac:spMkLst>
        </pc:spChg>
        <pc:spChg chg="mod">
          <ac:chgData name="Ravi Teja" userId="S::ravi.teja@insuremo.com::9c7f817d-c985-4167-9564-642afabb8db1" providerId="AD" clId="Web-{CC0C8E50-F229-AADD-A904-F8A0A81E97B7}" dt="2026-09-03T10:14:43.902" v="111" actId="20577"/>
          <ac:spMkLst>
            <pc:docMk/>
            <pc:sldMk cId="0" sldId="279"/>
            <ac:spMk id="37" creationId="{00000000-0000-0000-0000-000000000000}"/>
          </ac:spMkLst>
        </pc:spChg>
        <pc:spChg chg="mod">
          <ac:chgData name="Ravi Teja" userId="S::ravi.teja@insuremo.com::9c7f817d-c985-4167-9564-642afabb8db1" providerId="AD" clId="Web-{CC0C8E50-F229-AADD-A904-F8A0A81E97B7}" dt="2026-09-03T10:14:20.636" v="73" actId="20577"/>
          <ac:spMkLst>
            <pc:docMk/>
            <pc:sldMk cId="0" sldId="279"/>
            <ac:spMk id="55" creationId="{00000000-0000-0000-0000-000000000000}"/>
          </ac:spMkLst>
        </pc:spChg>
        <pc:graphicFrameChg chg="mod modGraphic">
          <ac:chgData name="Ravi Teja" userId="S::ravi.teja@insuremo.com::9c7f817d-c985-4167-9564-642afabb8db1" providerId="AD" clId="Web-{CC0C8E50-F229-AADD-A904-F8A0A81E97B7}" dt="2026-09-03T10:13:48.120" v="23"/>
          <ac:graphicFrameMkLst>
            <pc:docMk/>
            <pc:sldMk cId="0" sldId="279"/>
            <ac:graphicFrameMk id="25" creationId="{00000000-0000-0000-0000-000000000000}"/>
          </ac:graphicFrameMkLst>
        </pc:graphicFrameChg>
        <pc:graphicFrameChg chg="mod modGraphic">
          <ac:chgData name="Ravi Teja" userId="S::ravi.teja@insuremo.com::9c7f817d-c985-4167-9564-642afabb8db1" providerId="AD" clId="Web-{CC0C8E50-F229-AADD-A904-F8A0A81E97B7}" dt="2026-09-03T10:16:49.668" v="115"/>
          <ac:graphicFrameMkLst>
            <pc:docMk/>
            <pc:sldMk cId="0" sldId="279"/>
            <ac:graphicFrameMk id="49" creationId="{00000000-0000-0000-0000-000000000000}"/>
          </ac:graphicFrameMkLst>
        </pc:graphicFrameChg>
        <pc:graphicFrameChg chg="mod modGraphic">
          <ac:chgData name="Ravi Teja" userId="S::ravi.teja@insuremo.com::9c7f817d-c985-4167-9564-642afabb8db1" providerId="AD" clId="Web-{CC0C8E50-F229-AADD-A904-F8A0A81E97B7}" dt="2026-09-03T10:14:00.370" v="61"/>
          <ac:graphicFrameMkLst>
            <pc:docMk/>
            <pc:sldMk cId="0" sldId="279"/>
            <ac:graphicFrameMk id="73" creationId="{00000000-0000-0000-0000-000000000000}"/>
          </ac:graphicFrameMkLst>
        </pc:graphicFrame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7_0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8_0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B_01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B_02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C_0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C_0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15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Quote calls</c:v>
                </c:pt>
              </c:strCache>
            </c:strRef>
          </c:tx>
          <c:spPr>
            <a:solidFill>
              <a:srgbClr val="E8F1F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A6B80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August 2026</c:v>
                </c:pt>
                <c:pt idx="1">
                  <c:v>September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146324</c:v>
                </c:pt>
                <c:pt idx="1">
                  <c:v>91586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59-DB40-B91B-2C5877AF7FB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Calls returning a price (%)</c:v>
                </c:pt>
              </c:strCache>
            </c:strRef>
          </c:tx>
          <c:spPr>
            <a:ln w="31750" cap="flat">
              <a:solidFill>
                <a:srgbClr val="0E7C5A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E7C5A"/>
              </a:solidFill>
              <a:ln w="9525" cap="flat">
                <a:solidFill>
                  <a:srgbClr val="0E7C5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7C5A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August 2026</c:v>
                </c:pt>
                <c:pt idx="1">
                  <c:v>September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56.9</c:v>
                </c:pt>
                <c:pt idx="1">
                  <c:v>56.2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459-DB40-B91B-2C5877AF7FB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6E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00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7C5A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GWP (INR)</c:v>
                </c:pt>
              </c:strCache>
            </c:strRef>
          </c:tx>
          <c:spPr>
            <a:solidFill>
              <a:srgbClr val="1877D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2A5E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August 2026</c:v>
                </c:pt>
                <c:pt idx="1">
                  <c:v>September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127793.47999999998</c:v>
                </c:pt>
                <c:pt idx="1">
                  <c:v>73229.53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89-2B4F-A581-67A1B8A481E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Policies issued</c:v>
                </c:pt>
              </c:strCache>
            </c:strRef>
          </c:tx>
          <c:spPr>
            <a:ln w="31750" cap="flat">
              <a:solidFill>
                <a:srgbClr val="B8730A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B8730A"/>
              </a:solidFill>
              <a:ln w="9525" cap="flat">
                <a:solidFill>
                  <a:srgbClr val="B8730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B8730A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August 2026</c:v>
                </c:pt>
                <c:pt idx="1">
                  <c:v>September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59</c:v>
                </c:pt>
                <c:pt idx="1">
                  <c:v>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89-2B4F-A581-67A1B8A481E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6E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70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730A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August 2026</c:v>
                </c:pt>
              </c:strCache>
            </c:strRef>
          </c:tx>
          <c:spPr>
            <a:solidFill>
              <a:srgbClr val="C7D5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A2A5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ICICI Lombard</c:v>
                </c:pt>
                <c:pt idx="1">
                  <c:v>Go Digit</c:v>
                </c:pt>
                <c:pt idx="2">
                  <c:v>Tata AIG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4138</c:v>
                </c:pt>
                <c:pt idx="1">
                  <c:v>4691</c:v>
                </c:pt>
                <c:pt idx="2">
                  <c:v>4189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20-E344-A3B4-EF6BDF77AD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 2026</c:v>
                </c:pt>
              </c:strCache>
            </c:strRef>
          </c:tx>
          <c:spPr>
            <a:solidFill>
              <a:srgbClr val="1877D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A2A5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ICICI Lombard</c:v>
                </c:pt>
                <c:pt idx="1">
                  <c:v>Go Digit</c:v>
                </c:pt>
                <c:pt idx="2">
                  <c:v>Tata AIG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2779</c:v>
                </c:pt>
                <c:pt idx="1">
                  <c:v>2971</c:v>
                </c:pt>
                <c:pt idx="2">
                  <c:v>2702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20-E344-A3B4-EF6BDF77AD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6E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August 2026</c:v>
                </c:pt>
              </c:strCache>
            </c:strRef>
          </c:tx>
          <c:spPr>
            <a:solidFill>
              <a:srgbClr val="C7D5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A2A5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ICICI Lombard</c:v>
                </c:pt>
                <c:pt idx="1">
                  <c:v>Go Digit</c:v>
                </c:pt>
                <c:pt idx="2">
                  <c:v>Tata AIG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</c:v>
                </c:pt>
                <c:pt idx="1">
                  <c:v>94</c:v>
                </c:pt>
                <c:pt idx="2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9F-7444-A356-5F6C9AE97A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 2026</c:v>
                </c:pt>
              </c:strCache>
            </c:strRef>
          </c:tx>
          <c:spPr>
            <a:solidFill>
              <a:srgbClr val="00B8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A2A5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ICICI Lombard</c:v>
                </c:pt>
                <c:pt idx="1">
                  <c:v>Go Digit</c:v>
                </c:pt>
                <c:pt idx="2">
                  <c:v>Tata AIG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62</c:v>
                </c:pt>
                <c:pt idx="2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9F-7444-A356-5F6C9AE97A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6E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August 2026</c:v>
                </c:pt>
              </c:strCache>
            </c:strRef>
          </c:tx>
          <c:spPr>
            <a:solidFill>
              <a:srgbClr val="C7D5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A2A5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ICICI Lombard</c:v>
                </c:pt>
                <c:pt idx="1">
                  <c:v>Go Digit</c:v>
                </c:pt>
                <c:pt idx="2">
                  <c:v>Tata AIG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23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E0-F04C-BC44-3BF799485E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 2026</c:v>
                </c:pt>
              </c:strCache>
            </c:strRef>
          </c:tx>
          <c:spPr>
            <a:solidFill>
              <a:srgbClr val="0E7C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A2A5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ICICI Lombard</c:v>
                </c:pt>
                <c:pt idx="1">
                  <c:v>Go Digit</c:v>
                </c:pt>
                <c:pt idx="2">
                  <c:v>Tata AIG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11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E0-F04C-BC44-3BF799485E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6E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August 2026</c:v>
                </c:pt>
              </c:strCache>
            </c:strRef>
          </c:tx>
          <c:spPr>
            <a:solidFill>
              <a:srgbClr val="C7D5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A2A5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ICICI Lombard</c:v>
                </c:pt>
                <c:pt idx="1">
                  <c:v>Go Digit</c:v>
                </c:pt>
                <c:pt idx="2">
                  <c:v>Tata AIG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61400.0</c:v>
                </c:pt>
                <c:pt idx="1">
                  <c:v>32976.479999999996</c:v>
                </c:pt>
                <c:pt idx="2">
                  <c:v>33417.0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B0-4847-B3FE-66893283FE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 2026</c:v>
                </c:pt>
              </c:strCache>
            </c:strRef>
          </c:tx>
          <c:spPr>
            <a:solidFill>
              <a:srgbClr val="1877D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A2A5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ICICI Lombard</c:v>
                </c:pt>
                <c:pt idx="1">
                  <c:v>Go Digit</c:v>
                </c:pt>
                <c:pt idx="2">
                  <c:v>Tata AIG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5008.0</c:v>
                </c:pt>
                <c:pt idx="1">
                  <c:v>39790.52999999999</c:v>
                </c:pt>
                <c:pt idx="2">
                  <c:v>28431.0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B0-4847-B3FE-66893283FE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6E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August 2026</c:v>
                </c:pt>
              </c:strCache>
            </c:strRef>
          </c:tx>
          <c:spPr>
            <a:solidFill>
              <a:srgbClr val="C7D5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A2A5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ICICI Lombard</c:v>
                </c:pt>
                <c:pt idx="1">
                  <c:v>Go Digit</c:v>
                </c:pt>
                <c:pt idx="2">
                  <c:v>Tata AIG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2456</c:v>
                </c:pt>
                <c:pt idx="1">
                  <c:v>1434</c:v>
                </c:pt>
                <c:pt idx="2">
                  <c:v>3038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99-504D-A081-8B55CEDD2C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 2026</c:v>
                </c:pt>
              </c:strCache>
            </c:strRef>
          </c:tx>
          <c:spPr>
            <a:solidFill>
              <a:srgbClr val="B8730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A2A5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ICICI Lombard</c:v>
                </c:pt>
                <c:pt idx="1">
                  <c:v>Go Digit</c:v>
                </c:pt>
                <c:pt idx="2">
                  <c:v>Tata AIG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1002</c:v>
                </c:pt>
                <c:pt idx="1">
                  <c:v>3617</c:v>
                </c:pt>
                <c:pt idx="2">
                  <c:v>4738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99-504D-A081-8B55CEDD2C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6E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this month</c:v>
                </c:pt>
              </c:strCache>
            </c:strRef>
          </c:tx>
          <c:spPr>
            <a:solidFill>
              <a:srgbClr val="1877D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August 2026</c:v>
                </c:pt>
                <c:pt idx="1">
                  <c:v>September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4417</c:v>
                </c:pt>
                <c:pt idx="1">
                  <c:v>2337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C-2340-8178-A4DA5D2BC0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Seen in an earlier month</c:v>
                </c:pt>
              </c:strCache>
            </c:strRef>
          </c:tx>
          <c:spPr>
            <a:solidFill>
              <a:srgbClr val="C7D5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August 2026</c:v>
                </c:pt>
                <c:pt idx="1">
                  <c:v>September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518</c:v>
                </c:pt>
                <c:pt idx="1">
                  <c:v>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8C-2340-8178-A4DA5D2BC07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6E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329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5f1bb3f58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325f1bb3f58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4106-FCED-196A-6BD7-44506ABF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58C9E-CC30-3BA0-4393-2C5EF66E1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1EFF6-ABAB-61A1-28CF-63FA7D9CE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04BB2-EB06-0CE2-1B17-12273119E3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570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0" name="Google Shape;4780;g244c29b6ad2_0_22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781" name="Google Shape;4781;g244c29b6ad2_0_22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F1C9B6-6524-91C9-8393-F649F404B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26042-3C1E-4B49-9832-8E287CA57625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F6829C-3E4C-F9FC-6D03-371A7775A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3540D-8487-C3EB-4BF8-5C3772F4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F6718-EF07-4D05-9BB2-2DDDAE774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719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934300" y="3063200"/>
            <a:ext cx="48652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737600" y="6553200"/>
            <a:ext cx="2844800" cy="1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0" name="Google Shape;50;p9"/>
          <p:cNvPicPr preferRelativeResize="0"/>
          <p:nvPr/>
        </p:nvPicPr>
        <p:blipFill rotWithShape="1">
          <a:blip r:embed="rId2">
            <a:alphaModFix/>
          </a:blip>
          <a:srcRect l="39055" t="1746" r="23653" b="1737"/>
          <a:stretch/>
        </p:blipFill>
        <p:spPr>
          <a:xfrm>
            <a:off x="7646763" y="1"/>
            <a:ext cx="4545236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6034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57"/>
          <p:cNvGrpSpPr/>
          <p:nvPr/>
        </p:nvGrpSpPr>
        <p:grpSpPr>
          <a:xfrm>
            <a:off x="10726218" y="45733"/>
            <a:ext cx="1117309" cy="3572108"/>
            <a:chOff x="0" y="-38100"/>
            <a:chExt cx="660400" cy="2111341"/>
          </a:xfrm>
        </p:grpSpPr>
        <p:sp>
          <p:nvSpPr>
            <p:cNvPr id="238" name="Google Shape;238;p57"/>
            <p:cNvSpPr/>
            <p:nvPr/>
          </p:nvSpPr>
          <p:spPr>
            <a:xfrm>
              <a:off x="0" y="0"/>
              <a:ext cx="660400" cy="2073241"/>
            </a:xfrm>
            <a:custGeom>
              <a:avLst/>
              <a:gdLst/>
              <a:ahLst/>
              <a:cxnLst/>
              <a:rect l="l" t="t" r="r" b="b"/>
              <a:pathLst>
                <a:path w="660400" h="2073241" extrusionOk="0">
                  <a:moveTo>
                    <a:pt x="220252" y="2054172"/>
                  </a:moveTo>
                  <a:cubicBezTo>
                    <a:pt x="254109" y="2065686"/>
                    <a:pt x="292600" y="2073241"/>
                    <a:pt x="330378" y="2073241"/>
                  </a:cubicBezTo>
                  <a:cubicBezTo>
                    <a:pt x="368157" y="2073241"/>
                    <a:pt x="404509" y="2066765"/>
                    <a:pt x="438009" y="2055251"/>
                  </a:cubicBezTo>
                  <a:cubicBezTo>
                    <a:pt x="438723" y="2054891"/>
                    <a:pt x="439435" y="2054891"/>
                    <a:pt x="440148" y="2054532"/>
                  </a:cubicBezTo>
                  <a:cubicBezTo>
                    <a:pt x="565955" y="2008476"/>
                    <a:pt x="658618" y="1886863"/>
                    <a:pt x="660400" y="1716742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715467"/>
                  </a:lnTo>
                  <a:cubicBezTo>
                    <a:pt x="1782" y="1887581"/>
                    <a:pt x="93019" y="2009197"/>
                    <a:pt x="220252" y="2054172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777AF1">
                    <a:alpha val="9921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0967" tIns="30467" rIns="60967" bIns="30467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57"/>
            <p:cNvSpPr txBox="1"/>
            <p:nvPr/>
          </p:nvSpPr>
          <p:spPr>
            <a:xfrm>
              <a:off x="0" y="-38100"/>
              <a:ext cx="660300" cy="19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033" tIns="27033" rIns="27033" bIns="2703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57"/>
          <p:cNvGrpSpPr/>
          <p:nvPr/>
        </p:nvGrpSpPr>
        <p:grpSpPr>
          <a:xfrm rot="2700000">
            <a:off x="9114027" y="4649414"/>
            <a:ext cx="2111812" cy="2111735"/>
            <a:chOff x="0" y="0"/>
            <a:chExt cx="812800" cy="812800"/>
          </a:xfrm>
        </p:grpSpPr>
        <p:sp>
          <p:nvSpPr>
            <p:cNvPr id="241" name="Google Shape;241;p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777AF1">
                    <a:alpha val="9921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0967" tIns="30467" rIns="60967" bIns="30467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5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033" tIns="27033" rIns="27033" bIns="2703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57"/>
          <p:cNvGrpSpPr/>
          <p:nvPr/>
        </p:nvGrpSpPr>
        <p:grpSpPr>
          <a:xfrm rot="13500000">
            <a:off x="6909840" y="672609"/>
            <a:ext cx="1551328" cy="1551328"/>
            <a:chOff x="0" y="0"/>
            <a:chExt cx="812800" cy="812800"/>
          </a:xfrm>
        </p:grpSpPr>
        <p:sp>
          <p:nvSpPr>
            <p:cNvPr id="244" name="Google Shape;244;p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777AF1">
                    <a:alpha val="9921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0967" tIns="30467" rIns="60967" bIns="30467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5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033" tIns="27033" rIns="27033" bIns="2703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57"/>
          <p:cNvGrpSpPr/>
          <p:nvPr/>
        </p:nvGrpSpPr>
        <p:grpSpPr>
          <a:xfrm>
            <a:off x="11131790" y="4820509"/>
            <a:ext cx="191929" cy="191929"/>
            <a:chOff x="0" y="0"/>
            <a:chExt cx="812800" cy="812800"/>
          </a:xfrm>
        </p:grpSpPr>
        <p:sp>
          <p:nvSpPr>
            <p:cNvPr id="247" name="Google Shape;247;p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51764"/>
                  </a:srgbClr>
                </a:gs>
                <a:gs pos="100000">
                  <a:srgbClr val="777AF1">
                    <a:alpha val="51372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0967" tIns="30467" rIns="60967" bIns="30467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5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033" tIns="27033" rIns="27033" bIns="2703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57"/>
          <p:cNvGrpSpPr/>
          <p:nvPr/>
        </p:nvGrpSpPr>
        <p:grpSpPr>
          <a:xfrm>
            <a:off x="6740468" y="2596028"/>
            <a:ext cx="449208" cy="449208"/>
            <a:chOff x="0" y="0"/>
            <a:chExt cx="812800" cy="812800"/>
          </a:xfrm>
        </p:grpSpPr>
        <p:sp>
          <p:nvSpPr>
            <p:cNvPr id="250" name="Google Shape;250;p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777AF1">
                    <a:alpha val="3254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0967" tIns="30467" rIns="60967" bIns="30467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5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400" tIns="17400" rIns="17400" bIns="174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57"/>
          <p:cNvGrpSpPr/>
          <p:nvPr/>
        </p:nvGrpSpPr>
        <p:grpSpPr>
          <a:xfrm>
            <a:off x="7127916" y="3494266"/>
            <a:ext cx="123545" cy="123545"/>
            <a:chOff x="0" y="0"/>
            <a:chExt cx="812800" cy="812800"/>
          </a:xfrm>
        </p:grpSpPr>
        <p:sp>
          <p:nvSpPr>
            <p:cNvPr id="253" name="Google Shape;253;p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51764"/>
                  </a:srgbClr>
                </a:gs>
                <a:gs pos="100000">
                  <a:srgbClr val="777AF1">
                    <a:alpha val="51372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0967" tIns="30467" rIns="60967" bIns="30467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5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400" tIns="17400" rIns="17400" bIns="174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57"/>
          <p:cNvGrpSpPr/>
          <p:nvPr/>
        </p:nvGrpSpPr>
        <p:grpSpPr>
          <a:xfrm rot="10800000">
            <a:off x="5891103" y="5216924"/>
            <a:ext cx="542496" cy="1641089"/>
            <a:chOff x="0" y="-38100"/>
            <a:chExt cx="660400" cy="1997756"/>
          </a:xfrm>
        </p:grpSpPr>
        <p:sp>
          <p:nvSpPr>
            <p:cNvPr id="256" name="Google Shape;256;p57"/>
            <p:cNvSpPr/>
            <p:nvPr/>
          </p:nvSpPr>
          <p:spPr>
            <a:xfrm>
              <a:off x="0" y="0"/>
              <a:ext cx="660400" cy="1959656"/>
            </a:xfrm>
            <a:custGeom>
              <a:avLst/>
              <a:gdLst/>
              <a:ahLst/>
              <a:cxnLst/>
              <a:rect l="l" t="t" r="r" b="b"/>
              <a:pathLst>
                <a:path w="660400" h="1959656" extrusionOk="0">
                  <a:moveTo>
                    <a:pt x="220252" y="1940587"/>
                  </a:moveTo>
                  <a:cubicBezTo>
                    <a:pt x="254109" y="1952101"/>
                    <a:pt x="292600" y="1959656"/>
                    <a:pt x="330378" y="1959656"/>
                  </a:cubicBezTo>
                  <a:cubicBezTo>
                    <a:pt x="368157" y="1959656"/>
                    <a:pt x="404509" y="1953179"/>
                    <a:pt x="438009" y="1941666"/>
                  </a:cubicBezTo>
                  <a:cubicBezTo>
                    <a:pt x="438723" y="1941306"/>
                    <a:pt x="439435" y="1941306"/>
                    <a:pt x="440148" y="1940947"/>
                  </a:cubicBezTo>
                  <a:cubicBezTo>
                    <a:pt x="565955" y="1894891"/>
                    <a:pt x="658618" y="1773277"/>
                    <a:pt x="660400" y="160568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604488"/>
                  </a:lnTo>
                  <a:cubicBezTo>
                    <a:pt x="1782" y="1773996"/>
                    <a:pt x="93019" y="1895611"/>
                    <a:pt x="220252" y="1940587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777AF1">
                    <a:alpha val="9921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60967" tIns="30467" rIns="60967" bIns="30467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57"/>
            <p:cNvSpPr txBox="1"/>
            <p:nvPr/>
          </p:nvSpPr>
          <p:spPr>
            <a:xfrm>
              <a:off x="0" y="-38100"/>
              <a:ext cx="660300" cy="18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033" tIns="27033" rIns="27033" bIns="2703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57"/>
          <p:cNvSpPr/>
          <p:nvPr/>
        </p:nvSpPr>
        <p:spPr>
          <a:xfrm>
            <a:off x="764427" y="530173"/>
            <a:ext cx="1720851" cy="573617"/>
          </a:xfrm>
          <a:custGeom>
            <a:avLst/>
            <a:gdLst/>
            <a:ahLst/>
            <a:cxnLst/>
            <a:rect l="l" t="t" r="r" b="b"/>
            <a:pathLst>
              <a:path w="2581277" h="860426" extrusionOk="0">
                <a:moveTo>
                  <a:pt x="0" y="0"/>
                </a:moveTo>
                <a:lnTo>
                  <a:pt x="2581277" y="0"/>
                </a:lnTo>
                <a:lnTo>
                  <a:pt x="2581277" y="860426"/>
                </a:lnTo>
                <a:lnTo>
                  <a:pt x="0" y="8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67" tIns="30467" rIns="60967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6879" y="1103816"/>
            <a:ext cx="6656383" cy="50052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07;p102">
            <a:extLst>
              <a:ext uri="{FF2B5EF4-FFF2-40B4-BE49-F238E27FC236}">
                <a16:creationId xmlns:a16="http://schemas.microsoft.com/office/drawing/2014/main" id="{3768561F-B97A-2DCA-4457-AB219666B666}"/>
              </a:ext>
            </a:extLst>
          </p:cNvPr>
          <p:cNvSpPr txBox="1"/>
          <p:nvPr/>
        </p:nvSpPr>
        <p:spPr>
          <a:xfrm>
            <a:off x="722768" y="4904380"/>
            <a:ext cx="4958160" cy="1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ptos"/>
                <a:ea typeface="Calibri"/>
                <a:cs typeface="Calibri"/>
              </a:rPr>
              <a:t>Fibe × InsureMO – Monthly Governance</a:t>
            </a:r>
            <a:endParaRPr lang="en-US" sz="2000" dirty="0">
              <a:solidFill>
                <a:schemeClr val="accent1">
                  <a:lumMod val="50000"/>
                </a:schemeClr>
              </a:solidFill>
              <a:latin typeface="Aptos"/>
              <a:ea typeface="Calibri"/>
              <a:cs typeface="Calibri"/>
            </a:endParaRP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ptos"/>
                <a:ea typeface="Calibri"/>
                <a:cs typeface="Calibri"/>
              </a:rPr>
              <a:t>Sep 2026</a:t>
            </a:r>
          </a:p>
          <a:p>
            <a:endParaRPr lang="en-US" sz="2000" b="1" dirty="0">
              <a:solidFill>
                <a:schemeClr val="accent1">
                  <a:lumMod val="50000"/>
                </a:schemeClr>
              </a:solidFill>
              <a:latin typeface="Aptos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7776F6"/>
                </a:solidFill>
                <a:latin typeface="Albert Sans"/>
              </a:rPr>
              <a:t>Powered by InsureMO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sections — September against August throughout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0879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517904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1645920" y="14904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funnel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645920" y="17830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applications, policies and every conversion step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640080" y="2267712"/>
            <a:ext cx="1090879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41401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1645920" y="23865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 comparison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645920" y="267919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metrics for all three carriers, 2W and 4W views, and a cumulative Aug + Sep view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640080" y="3163824"/>
            <a:ext cx="1090879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310128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1645920" y="32826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deep dives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1645920" y="357530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each for ICICI Lombard, Go Digit, Tata AIG and NIA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1090879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20624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1645920" y="4178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1645920" y="447141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versus repeat demand, failures, repeat quoting, expiry and segments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640080" y="4956048"/>
            <a:ext cx="1090879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510235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8F1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164592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1645920" y="5367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Recommendations, delivery impact, remaining gaps and next steps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640080" y="5870448"/>
            <a:ext cx="10908792" cy="457200"/>
          </a:xfrm>
          <a:prstGeom prst="roundRect">
            <a:avLst>
              <a:gd name="adj" fmla="val 14000"/>
            </a:avLst>
          </a:prstGeom>
          <a:solidFill>
            <a:srgbClr val="E8F1FC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" y="59436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  </a:t>
            </a:r>
            <a:r>
              <a:rPr lang="en-US" sz="110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covers September 2026 with August 2026 as the only comparison (the API holds July only from 5 July and it does not reconcile to the July figures in the August deck). All figures were extracted directly from the InsureMO transaction log; the same extraction reproduces the August deck exactly.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against August 2026 — demand and conversion both fell; reliability held but is still weak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3,085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822960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registrations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37.5% vs August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2738628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1508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2921508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issued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2921508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62.7% vs August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837176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0056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73,230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5020056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GWP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5020056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42.7% vs August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6935724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18604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93.6%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7118604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1B2733"/>
                </a:solidFill>
                <a:ea typeface="Calibri"/>
                <a:cs typeface="Calibri"/>
              </a:rPr>
              <a:t>Leads getting a price</a:t>
            </a:r>
            <a:endParaRPr lang="en-US" sz="105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18604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1.3 pp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9034272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17152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40,148</a:t>
            </a:r>
            <a:endParaRPr lang="en-US" sz="2000"/>
          </a:p>
        </p:txBody>
      </p:sp>
      <p:sp>
        <p:nvSpPr>
          <p:cNvPr id="25" name="Text 23"/>
          <p:cNvSpPr/>
          <p:nvPr/>
        </p:nvSpPr>
        <p:spPr>
          <a:xfrm>
            <a:off x="9217152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quote calls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9217152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36.3% vs August</a:t>
            </a:r>
            <a:endParaRPr lang="en-US" sz="100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7223760" cy="3124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August 2026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 2026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registrations (leads)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4,935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3,085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37.5%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vehicles entering the funnel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with at least one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4,556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36.6%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Fell, but slower than leads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 started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45.0%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vehicles entering the journey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Vehicles that bought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62.7%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step that fell most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issued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62.7%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policy per buying vehicle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GWP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1,27,793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73,230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42.7%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Fewer, richer policies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premium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3,329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53.7%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mix moved to 4W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calls placed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1,46,324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91,586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37.4%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Machinery shrank with demand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quote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63,023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40,148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36.3%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 with volume; rate unchanged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8001000" y="2697480"/>
            <a:ext cx="3547872" cy="1554480"/>
          </a:xfrm>
          <a:prstGeom prst="roundRect">
            <a:avLst>
              <a:gd name="adj" fmla="val 4118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229600" y="27980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right</a:t>
            </a:r>
            <a:endParaRPr lang="en-US" sz="1200"/>
          </a:p>
        </p:txBody>
      </p:sp>
      <p:sp>
        <p:nvSpPr>
          <p:cNvPr id="30" name="Text 27"/>
          <p:cNvSpPr/>
          <p:nvPr/>
        </p:nvSpPr>
        <p:spPr>
          <a:xfrm>
            <a:off x="8229600" y="3090672"/>
            <a:ext cx="3127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Leads getting a price: 92.3% → 93.6%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Average premium up 53.7% to INR 3,329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Go Digit GWP up 20.7% to INR 39,791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Digit and Tata 4W call success both improved</a:t>
            </a:r>
            <a:endParaRPr lang="en-US" sz="1050"/>
          </a:p>
        </p:txBody>
      </p:sp>
      <p:sp>
        <p:nvSpPr>
          <p:cNvPr id="31" name="Shape 28"/>
          <p:cNvSpPr/>
          <p:nvPr/>
        </p:nvSpPr>
        <p:spPr>
          <a:xfrm>
            <a:off x="8001000" y="4389120"/>
            <a:ext cx="3547872" cy="1234440"/>
          </a:xfrm>
          <a:prstGeom prst="roundRect">
            <a:avLst>
              <a:gd name="adj" fmla="val 5185"/>
            </a:avLst>
          </a:prstGeom>
          <a:solidFill>
            <a:srgbClr val="FCECEA"/>
          </a:solidFill>
          <a:ln w="12700">
            <a:solidFill>
              <a:srgbClr val="F2C9C4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29600" y="44805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wrong</a:t>
            </a:r>
            <a:endParaRPr lang="en-US" sz="1200"/>
          </a:p>
        </p:txBody>
      </p:sp>
      <p:sp>
        <p:nvSpPr>
          <p:cNvPr id="33" name="Text 30"/>
          <p:cNvSpPr/>
          <p:nvPr/>
        </p:nvSpPr>
        <p:spPr>
          <a:xfrm>
            <a:off x="8229600" y="4754880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Policies fell 59 → 22; ICICI 25 → 5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Application → bought: 24.4% → 16.5%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Tata AIG 2W priced only 3.0% of calls; iHub incident on 21–22 Sept</a:t>
            </a:r>
            <a:endParaRPr lang="en-US" sz="1050"/>
          </a:p>
        </p:txBody>
      </p:sp>
      <p:sp>
        <p:nvSpPr>
          <p:cNvPr id="34" name="Shape 31"/>
          <p:cNvSpPr/>
          <p:nvPr/>
        </p:nvSpPr>
        <p:spPr>
          <a:xfrm>
            <a:off x="8001000" y="5742432"/>
            <a:ext cx="3547872" cy="512064"/>
          </a:xfrm>
          <a:prstGeom prst="roundRect">
            <a:avLst>
              <a:gd name="adj" fmla="val 12500"/>
            </a:avLst>
          </a:prstGeom>
          <a:solidFill>
            <a:srgbClr val="E8F1FC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229600" y="5797296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story   </a:t>
            </a: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vehicles and fewer buyers, with ICICI Lombard's funnel breaking at KYC — and no improvement in quote reliability.</a:t>
            </a:r>
            <a:endParaRPr lang="en-US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143C7E"/>
          </a:solidFill>
          <a:ln w="12700">
            <a:solidFill>
              <a:srgbClr val="14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2057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1E4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/>
          </a:p>
        </p:txBody>
      </p:sp>
      <p:sp>
        <p:nvSpPr>
          <p:cNvPr id="4" name="Text 2"/>
          <p:cNvSpPr/>
          <p:nvPr/>
        </p:nvSpPr>
        <p:spPr>
          <a:xfrm>
            <a:off x="214884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Funnel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219456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against August, stage by stage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219456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C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Every step from lead to issued policy</a:t>
            </a:r>
            <a:endParaRPr lang="en-US" sz="1200"/>
          </a:p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C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Quote engine efficiency</a:t>
            </a:r>
            <a:endParaRPr lang="en-US" sz="1200"/>
          </a:p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C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Business outcome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E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Funnel, September versus August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and every step conversion, per unique registration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845620"/>
              </p:ext>
            </p:extLst>
          </p:nvPr>
        </p:nvGraphicFramePr>
        <p:xfrm>
          <a:off x="640080" y="1371600"/>
          <a:ext cx="7589520" cy="3273552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Stage</a:t>
                      </a:r>
                      <a:endParaRPr lang="en-US" sz="950" dirty="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August 2026</a:t>
                      </a:r>
                      <a:endParaRPr lang="en-US" sz="950" dirty="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September 2026</a:t>
                      </a:r>
                      <a:endParaRPr lang="en-US" sz="950" dirty="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Change</a:t>
                      </a:r>
                      <a:endParaRPr lang="en-US" sz="950" dirty="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Comment</a:t>
                      </a:r>
                      <a:endParaRPr lang="en-US" sz="950" dirty="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1. Unique registrations (leads)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0"/>
                          </a:solidFill>
                          <a:latin typeface="Calibri"/>
                          <a:ea typeface="Calibri"/>
                          <a:cs typeface="Calibri"/>
                        </a:rPr>
                        <a:t>4,935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Calibri"/>
                          <a:ea typeface="Calibri"/>
                          <a:cs typeface="Calibri"/>
                        </a:rPr>
                        <a:t>3,085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▼ 37.5%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Fewer vehicles entering the funnel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2. Leads with at least one price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0"/>
                          </a:solidFill>
                          <a:latin typeface="Calibri"/>
                          <a:ea typeface="Calibri"/>
                          <a:cs typeface="Calibri"/>
                        </a:rPr>
                        <a:t>4,556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Calibri"/>
                          <a:ea typeface="Calibri"/>
                          <a:cs typeface="Calibri"/>
                        </a:rPr>
                        <a:t>2,889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▼ 36.6%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Fell 36.6%, slower than leads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3. Leads reaching application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0"/>
                          </a:solidFill>
                          <a:latin typeface="Calibri"/>
                          <a:ea typeface="Calibri"/>
                          <a:cs typeface="Calibri"/>
                        </a:rPr>
                        <a:t>242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Calibri"/>
                          <a:ea typeface="Calibri"/>
                          <a:cs typeface="Calibri"/>
                        </a:rPr>
                        <a:t>133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▼ 45.0%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Fell as fast as leads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4. Vehicles that bought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0"/>
                          </a:solidFill>
                          <a:latin typeface="Calibri"/>
                          <a:ea typeface="Calibri"/>
                          <a:cs typeface="Calibri"/>
                        </a:rPr>
                        <a:t>59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Calibri"/>
                          <a:ea typeface="Calibri"/>
                          <a:cs typeface="Calibri"/>
                        </a:rPr>
                        <a:t>22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▼ 62.7%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The largest single decline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     Policies issued (count)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0"/>
                          </a:solidFill>
                          <a:latin typeface="Calibri"/>
                          <a:ea typeface="Calibri"/>
                          <a:cs typeface="Calibri"/>
                        </a:rPr>
                        <a:t>59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Calibri"/>
                          <a:ea typeface="Calibri"/>
                          <a:cs typeface="Calibri"/>
                        </a:rPr>
                        <a:t>22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▼ 62.7%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One policy per buying vehicle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Step conversions</a:t>
                      </a:r>
                      <a:endParaRPr lang="en-US" sz="950" dirty="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Lead → quote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0"/>
                          </a:solidFill>
                          <a:latin typeface="Calibri"/>
                          <a:ea typeface="Calibri"/>
                          <a:cs typeface="Calibri"/>
                        </a:rPr>
                        <a:t>92.3%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Calibri"/>
                          <a:ea typeface="Calibri"/>
                          <a:cs typeface="Calibri"/>
                        </a:rPr>
                        <a:t>93.6%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7C5A"/>
                          </a:solidFill>
                          <a:latin typeface="Calibri"/>
                          <a:ea typeface="Calibri"/>
                          <a:cs typeface="Calibri"/>
                        </a:rPr>
                        <a:t>▲ 1.3 pp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E7C5A"/>
                          </a:solidFill>
                          <a:latin typeface="Calibri"/>
                          <a:ea typeface="Calibri"/>
                          <a:cs typeface="Calibri"/>
                        </a:rPr>
                        <a:t>Improved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Quote→ Proposal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0"/>
                          </a:solidFill>
                          <a:latin typeface="Calibri"/>
                          <a:ea typeface="Calibri"/>
                          <a:cs typeface="Calibri"/>
                        </a:rPr>
                        <a:t>4.9%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Calibri"/>
                          <a:ea typeface="Calibri"/>
                          <a:cs typeface="Calibri"/>
                        </a:rPr>
                        <a:t>4.3%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▼ 0.6 pp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Slipped back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Proposal→ Purchase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0"/>
                          </a:solidFill>
                          <a:latin typeface="Calibri"/>
                          <a:ea typeface="Calibri"/>
                          <a:cs typeface="Calibri"/>
                        </a:rPr>
                        <a:t>24.4%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Calibri"/>
                          <a:ea typeface="Calibri"/>
                          <a:cs typeface="Calibri"/>
                        </a:rPr>
                        <a:t>16.5%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▼ 7.8 pp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Gave back much of August's gain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Lead → Purchase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B80"/>
                          </a:solidFill>
                          <a:latin typeface="Calibri"/>
                          <a:ea typeface="Calibri"/>
                          <a:cs typeface="Calibri"/>
                        </a:rPr>
                        <a:t>1.20%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2A5E"/>
                          </a:solidFill>
                          <a:latin typeface="Calibri"/>
                          <a:ea typeface="Calibri"/>
                          <a:cs typeface="Calibri"/>
                        </a:rPr>
                        <a:t>0.71%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▼ 0.48 pp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</a:rPr>
                        <a:t>Down by about 40%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0" y="1371600"/>
            <a:ext cx="3136392" cy="2103120"/>
          </a:xfrm>
          <a:prstGeom prst="roundRect">
            <a:avLst>
              <a:gd name="adj" fmla="val 3043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13648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fell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8613648" y="1792224"/>
            <a:ext cx="27614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Application → bought: 24.4% → 16.5%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Lead → bought: 1.20% → 0.71%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22 vehicles bought, against 59 in August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ICICI Lombard did most of the damage: 40 applications, 5 policies</a:t>
            </a:r>
            <a:endParaRPr lang="en-US" sz="1050"/>
          </a:p>
        </p:txBody>
      </p:sp>
      <p:sp>
        <p:nvSpPr>
          <p:cNvPr id="11" name="Shape 8"/>
          <p:cNvSpPr/>
          <p:nvPr/>
        </p:nvSpPr>
        <p:spPr>
          <a:xfrm>
            <a:off x="8412480" y="3611880"/>
            <a:ext cx="3136392" cy="1417320"/>
          </a:xfrm>
          <a:prstGeom prst="roundRect">
            <a:avLst>
              <a:gd name="adj" fmla="val 4516"/>
            </a:avLst>
          </a:prstGeom>
          <a:solidFill>
            <a:srgbClr val="E8F1FC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13648" y="3712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step improved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8613648" y="4005072"/>
            <a:ext cx="2761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Lead → price: 92.3% → 93.6%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133 applications, down 45.0%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Only 6.4% of leads got no price at all</a:t>
            </a:r>
            <a:endParaRPr lang="en-US" sz="1050"/>
          </a:p>
        </p:txBody>
      </p:sp>
      <p:sp>
        <p:nvSpPr>
          <p:cNvPr id="14" name="Shape 11"/>
          <p:cNvSpPr/>
          <p:nvPr/>
        </p:nvSpPr>
        <p:spPr>
          <a:xfrm>
            <a:off x="8412480" y="5166360"/>
            <a:ext cx="3136392" cy="1005840"/>
          </a:xfrm>
          <a:prstGeom prst="roundRect">
            <a:avLst>
              <a:gd name="adj" fmla="val 6364"/>
            </a:avLst>
          </a:prstGeom>
          <a:solidFill>
            <a:srgbClr val="FDF3E4"/>
          </a:solidFill>
          <a:ln w="12700">
            <a:solidFill>
              <a:srgbClr val="F2DFC0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13648" y="5257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verify next month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8613648" y="5513832"/>
            <a:ext cx="2761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application → bought rate recovers above 20%, and whether ICICI proposals stuck at KYC pending (49 of 104 proposal calls) convert.</a:t>
            </a:r>
            <a:endParaRPr lang="en-US" sz="1050"/>
          </a:p>
        </p:txBody>
      </p:sp>
      <p:sp>
        <p:nvSpPr>
          <p:cNvPr id="17" name="Text 14"/>
          <p:cNvSpPr/>
          <p:nvPr/>
        </p:nvSpPr>
        <p:spPr>
          <a:xfrm>
            <a:off x="640080" y="6263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that bought and policies issued are identical in both months — registration-level issuance reconciles for all three carriers.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Engine Efficiency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machinery it takes to produce one lead’s price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91,586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822960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calls in September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37.4% vs August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438144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21024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29.7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3621024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per lead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3621024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29.7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6236208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19088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56.2%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6419088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returning a price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6419088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0.8 pp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9034272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17152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40,148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9217152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calls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9217152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36.3%</a:t>
            </a:r>
            <a:endParaRPr lang="en-US" sz="1000"/>
          </a:p>
        </p:txBody>
      </p:sp>
      <p:graphicFrame>
        <p:nvGraphicFramePr>
          <p:cNvPr id="23" name="Chart 0"/>
          <p:cNvGraphicFramePr/>
          <p:nvPr/>
        </p:nvGraphicFramePr>
        <p:xfrm>
          <a:off x="640080" y="2697480"/>
          <a:ext cx="69494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7818120" y="2697480"/>
            <a:ext cx="3730752" cy="3017520"/>
          </a:xfrm>
          <a:prstGeom prst="roundRect">
            <a:avLst>
              <a:gd name="adj" fmla="val 2121"/>
            </a:avLst>
          </a:prstGeom>
          <a:solidFill>
            <a:srgbClr val="F4F6F9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046720" y="2798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down, reliability flat</a:t>
            </a:r>
            <a:endParaRPr lang="en-US" sz="1250"/>
          </a:p>
        </p:txBody>
      </p:sp>
      <p:sp>
        <p:nvSpPr>
          <p:cNvPr id="26" name="Text 23"/>
          <p:cNvSpPr/>
          <p:nvPr/>
        </p:nvSpPr>
        <p:spPr>
          <a:xfrm>
            <a:off x="8046720" y="3108960"/>
            <a:ext cx="33101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56.2% of calls returned a price, against 56.9% in August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40,148 calls failed, against 63,023 in August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Calls fell 37.4% to 91,586; calls per lead flat at 29.7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Tata AIG is the bulk of it: 19,529 failures on 26,365 calls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iHub integration faults: 1,350 calls, 1,330 of them on 21–22 Sept</a:t>
            </a:r>
            <a:endParaRPr lang="en-US" sz="1050"/>
          </a:p>
        </p:txBody>
      </p:sp>
      <p:sp>
        <p:nvSpPr>
          <p:cNvPr id="27" name="Text 24"/>
          <p:cNvSpPr/>
          <p:nvPr/>
        </p:nvSpPr>
        <p:spPr>
          <a:xfrm>
            <a:off x="640080" y="58978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volumes are the sum of ICICI Lombard, Go Digit and Tata AIG quickquote calls.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Outcome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premium and average ticket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371600"/>
          <a:ext cx="69494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818120" y="1371600"/>
            <a:ext cx="3730752" cy="3108960"/>
          </a:xfrm>
          <a:prstGeom prst="roundRect">
            <a:avLst>
              <a:gd name="adj" fmla="val 2059"/>
            </a:avLst>
          </a:prstGeom>
          <a:solidFill>
            <a:srgbClr val="F4F6F9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0" y="1481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policies, bigger ticket</a:t>
            </a:r>
            <a:endParaRPr lang="en-US" sz="1250"/>
          </a:p>
        </p:txBody>
      </p:sp>
      <p:sp>
        <p:nvSpPr>
          <p:cNvPr id="10" name="Text 7"/>
          <p:cNvSpPr/>
          <p:nvPr/>
        </p:nvSpPr>
        <p:spPr>
          <a:xfrm>
            <a:off x="8046720" y="1792224"/>
            <a:ext cx="33101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GWP fell 42.7% to INR 73,230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Policies 59 → 22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Average premium rose 53.7% to INR 3,329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Decline is volume-led: policies fell faster than GWP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4W is 80% of GWP from 7 of 22 policies</a:t>
            </a:r>
            <a:endParaRPr lang="en-US" sz="105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09160"/>
          <a:ext cx="10908792" cy="151790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August 2026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 2026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day (Sep)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issued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62.7%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 a day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GWP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1,27,793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73,230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42.7%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INR 2,441 a day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premium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3,329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53.7%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 started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45.0%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 a day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40080" y="614476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GWP is premium on policies issued in the month. Both months are complete (Aug 31 days, Sep 30 days), so per-day figures are comparable.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143C7E"/>
          </a:solidFill>
          <a:ln w="12700">
            <a:solidFill>
              <a:srgbClr val="14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2057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1E4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/>
          </a:p>
        </p:txBody>
      </p:sp>
      <p:sp>
        <p:nvSpPr>
          <p:cNvPr id="4" name="Text 2"/>
          <p:cNvSpPr/>
          <p:nvPr/>
        </p:nvSpPr>
        <p:spPr>
          <a:xfrm>
            <a:off x="214884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 Comparison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219456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metrics for all three carriers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219456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C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Registrations, applications and policies</a:t>
            </a:r>
            <a:endParaRPr lang="en-US" sz="1200"/>
          </a:p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C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Premium and average ticket</a:t>
            </a:r>
            <a:endParaRPr lang="en-US" sz="1200"/>
          </a:p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C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Call efficiency, 2W / 4W views and the cumulative Aug + Sep view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E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 Scorecard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with the August comparison in brackets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08792" cy="347472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ICICI Lombard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Digit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Tata AIG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Registrations attempted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2,779   (▼ 32.8%)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2,971   (▼ 36.7%)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2,702   (▼ 35.5%)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3,085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with a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2,548   (▼ 34.3%)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2,316   (▼ 35.7%)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904   (▼ 45.5%)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  (▼ 58.3%)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   (▼ 34.0%)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  (▼ 37.7%)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issued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 (▼ 80.0%)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  (▼ 52.2%)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 (▼ 45.5%)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GWP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5,008   (▼ 91.8%)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39,791   (▲ 20.7%)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28,431   (▼ 14.9%)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73,230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premium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1,002   (▼ 59.2%)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3,617   (▲ 152.3%)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4,738   (▲ 56.0%)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3,329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GWP 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   (▼ 85.8%)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   (▲ 110.6%)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   (▲ 48.5%)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37,699   (▼ 35.0%)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27,522   (▼ 39.7%)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26,365   (▼ 38.2%)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91,586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8,718   (▼ 19.0%)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11,901   (▼ 44.9%)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19,529   (▼ 36.3%)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40,148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→ price 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91.7%   (▼ 2.0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78.0%   (▲ 1.2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33.5%   (▼ 6.1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074920"/>
            <a:ext cx="3493008" cy="1097280"/>
          </a:xfrm>
          <a:prstGeom prst="roundRect">
            <a:avLst>
              <a:gd name="adj" fmla="val 5833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Lombard</a:t>
            </a:r>
            <a:endParaRPr lang="en-US" sz="1150"/>
          </a:p>
        </p:txBody>
      </p:sp>
      <p:sp>
        <p:nvSpPr>
          <p:cNvPr id="10" name="Text 7"/>
          <p:cNvSpPr/>
          <p:nvPr/>
        </p:nvSpPr>
        <p:spPr>
          <a:xfrm>
            <a:off x="868680" y="54223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policies, down from 25, and 92% of GWP gone — 40 applications became 5 policies (49 proposals stuck at KYC pending).</a:t>
            </a:r>
            <a:endParaRPr lang="en-US" sz="1050"/>
          </a:p>
        </p:txBody>
      </p:sp>
      <p:sp>
        <p:nvSpPr>
          <p:cNvPr id="11" name="Shape 8"/>
          <p:cNvSpPr/>
          <p:nvPr/>
        </p:nvSpPr>
        <p:spPr>
          <a:xfrm>
            <a:off x="4352544" y="5074920"/>
            <a:ext cx="3493008" cy="1097280"/>
          </a:xfrm>
          <a:prstGeom prst="roundRect">
            <a:avLst>
              <a:gd name="adj" fmla="val 5833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9"/>
          <p:cNvSpPr/>
          <p:nvPr/>
        </p:nvSpPr>
        <p:spPr>
          <a:xfrm>
            <a:off x="4581144" y="51663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Digit</a:t>
            </a:r>
            <a:endParaRPr lang="en-US" sz="1150"/>
          </a:p>
        </p:txBody>
      </p:sp>
      <p:sp>
        <p:nvSpPr>
          <p:cNvPr id="13" name="Text 10"/>
          <p:cNvSpPr/>
          <p:nvPr/>
        </p:nvSpPr>
        <p:spPr>
          <a:xfrm>
            <a:off x="4581144" y="54223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policies (Aug 23) but GWP up 20.7% to INR 39,791 — now the largest premium contributor at 54%.</a:t>
            </a:r>
            <a:endParaRPr lang="en-US" sz="1050"/>
          </a:p>
        </p:txBody>
      </p:sp>
      <p:sp>
        <p:nvSpPr>
          <p:cNvPr id="14" name="Shape 11"/>
          <p:cNvSpPr/>
          <p:nvPr/>
        </p:nvSpPr>
        <p:spPr>
          <a:xfrm>
            <a:off x="8055864" y="5074920"/>
            <a:ext cx="3493008" cy="1097280"/>
          </a:xfrm>
          <a:prstGeom prst="roundRect">
            <a:avLst>
              <a:gd name="adj" fmla="val 5833"/>
            </a:avLst>
          </a:prstGeom>
          <a:solidFill>
            <a:srgbClr val="FDF3E4"/>
          </a:solidFill>
          <a:ln w="12700">
            <a:solidFill>
              <a:srgbClr val="F2DFC0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84464" y="51663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AIG</a:t>
            </a:r>
            <a:endParaRPr lang="en-US" sz="1150"/>
          </a:p>
        </p:txBody>
      </p:sp>
      <p:sp>
        <p:nvSpPr>
          <p:cNvPr id="16" name="Text 13"/>
          <p:cNvSpPr/>
          <p:nvPr/>
        </p:nvSpPr>
        <p:spPr>
          <a:xfrm>
            <a:off x="8284464" y="54223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policies at INR 4,738 average — the richest ticket, but only 33.5% of its leads got a price.</a:t>
            </a:r>
            <a:endParaRPr lang="en-US" sz="1050"/>
          </a:p>
        </p:txBody>
      </p:sp>
      <p:sp>
        <p:nvSpPr>
          <p:cNvPr id="17" name="Text 14"/>
          <p:cNvSpPr/>
          <p:nvPr/>
        </p:nvSpPr>
        <p:spPr>
          <a:xfrm>
            <a:off x="640080" y="6263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compare September with August. Registrations attempted sum to more than the total because a vehicle is quoted with several carriers.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Registrations, Applications and Policies by Insurer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growth came from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Registrations attempted</a:t>
            </a:r>
            <a:endParaRPr lang="en-US" sz="1150"/>
          </a:p>
        </p:txBody>
      </p:sp>
      <p:graphicFrame>
        <p:nvGraphicFramePr>
          <p:cNvPr id="8" name="Chart 0"/>
          <p:cNvGraphicFramePr/>
          <p:nvPr/>
        </p:nvGraphicFramePr>
        <p:xfrm>
          <a:off x="640080" y="1417320"/>
          <a:ext cx="35204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343400" y="11704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started</a:t>
            </a:r>
            <a:endParaRPr lang="en-US" sz="1150"/>
          </a:p>
        </p:txBody>
      </p:sp>
      <p:graphicFrame>
        <p:nvGraphicFramePr>
          <p:cNvPr id="10" name="Chart 1"/>
          <p:cNvGraphicFramePr/>
          <p:nvPr/>
        </p:nvGraphicFramePr>
        <p:xfrm>
          <a:off x="4343400" y="1417320"/>
          <a:ext cx="35204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8046720" y="11704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issued</a:t>
            </a:r>
            <a:endParaRPr lang="en-US" sz="1150"/>
          </a:p>
        </p:txBody>
      </p:sp>
      <p:graphicFrame>
        <p:nvGraphicFramePr>
          <p:cNvPr id="12" name="Chart 2"/>
          <p:cNvGraphicFramePr/>
          <p:nvPr/>
        </p:nvGraphicFramePr>
        <p:xfrm>
          <a:off x="8046720" y="1417320"/>
          <a:ext cx="3502152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49040"/>
          <a:ext cx="10908792" cy="138277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Insurer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Registrations Aug → Sep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Applications Aug → Sep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Policies Aug → Sep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Applications per policy (Sep)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September policies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Lombard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4,138 → 2,779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→ 40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→ 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Stalled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Digit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4,691 → 2,971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 → 62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→ 11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Down, richer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AIG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4,189 → 2,702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→ 38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→ 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Down, richest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8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8235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868680" y="54864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Lombard stalled   </a:t>
            </a:r>
            <a:r>
              <a:rPr lang="en-US" sz="11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August ICICI needed 3.8 applications per policy; in September it needed 8.0. 49 of its 104 proposal calls returned KYC PENDING — the journey is stopping before issuance.</a:t>
            </a:r>
            <a:endParaRPr lang="en-US" sz="1100"/>
          </a:p>
        </p:txBody>
      </p:sp>
      <p:sp>
        <p:nvSpPr>
          <p:cNvPr id="16" name="Text 10"/>
          <p:cNvSpPr/>
          <p:nvPr/>
        </p:nvSpPr>
        <p:spPr>
          <a:xfrm>
            <a:off x="640080" y="61996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per policy is applications divided by policies issued in the same month (August: ICICI 3.8, Digit 4.1, Tata 5.5).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by Insurer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comes from, and how the ticket size differs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GWP by carrier (INR)</a:t>
            </a:r>
            <a:endParaRPr lang="en-US" sz="1150"/>
          </a:p>
        </p:txBody>
      </p:sp>
      <p:graphicFrame>
        <p:nvGraphicFramePr>
          <p:cNvPr id="8" name="Chart 0"/>
          <p:cNvGraphicFramePr/>
          <p:nvPr/>
        </p:nvGraphicFramePr>
        <p:xfrm>
          <a:off x="640080" y="1417320"/>
          <a:ext cx="53035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6172200" y="11704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premium by carrier (INR)</a:t>
            </a:r>
            <a:endParaRPr lang="en-US" sz="1150"/>
          </a:p>
        </p:txBody>
      </p:sp>
      <p:graphicFrame>
        <p:nvGraphicFramePr>
          <p:cNvPr id="10" name="Chart 1"/>
          <p:cNvGraphicFramePr/>
          <p:nvPr/>
        </p:nvGraphicFramePr>
        <p:xfrm>
          <a:off x="6172200" y="1417320"/>
          <a:ext cx="5376672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31920"/>
          <a:ext cx="10908792" cy="135331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Insurer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GWP August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GWP September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August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September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premium September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Lombard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61,400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91.8%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INR 1,002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Digit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32,976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39,791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20.7%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INR 3,617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AIG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33,417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28,431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14.9%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INR 4,738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640080" y="5486400"/>
            <a:ext cx="10908792" cy="731520"/>
          </a:xfrm>
          <a:prstGeom prst="roundRect">
            <a:avLst>
              <a:gd name="adj" fmla="val 8750"/>
            </a:avLst>
          </a:prstGeom>
          <a:solidFill>
            <a:srgbClr val="E8F1FC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868680" y="56235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more concentrated book   </a:t>
            </a:r>
            <a:r>
              <a:rPr lang="en-US" sz="11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split is 7% / 54% / 39% against August's 48% / 26% / 26%. Go Digit is now the largest contributor, Tata AIG has the richest ticket, and ICICI Lombard — nearly half the book in August — has fallen to 7%.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Call Efficiency by Insurer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waste and how many calls each lead costs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08792" cy="39776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Insurer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August 2026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 2026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Lombard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57,997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37,699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35.0%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per registration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0.5 pp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returning a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4.6 pp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10,766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8,718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19.0%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Busiest single registration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31.3%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Digit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45,671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27,522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39.7%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per registration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0.5 pp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returning a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56.8%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4.1 pp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21,611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11,901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44.9%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Busiest single registration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38.3%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AIG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42,656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26,365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38.2%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per registration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0.4 pp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returning a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2.2 pp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30,646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19,529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36.3%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Busiest single registration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24.8%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486400"/>
            <a:ext cx="5394960" cy="658368"/>
          </a:xfrm>
          <a:prstGeom prst="roundRect">
            <a:avLst>
              <a:gd name="adj" fmla="val 9722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56052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 improved, ICICI slipped   </a:t>
            </a: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call success eased 81.4% → 76.9%; Digit rose 52.7% → 56.8%; Tata 28.2% → 25.9% (Tata 2W only 3.0%).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6153912" y="5486400"/>
            <a:ext cx="5394960" cy="658368"/>
          </a:xfrm>
          <a:prstGeom prst="roundRect">
            <a:avLst>
              <a:gd name="adj" fmla="val 9722"/>
            </a:avLst>
          </a:prstGeom>
          <a:solidFill>
            <a:srgbClr val="FDF3E4"/>
          </a:solidFill>
          <a:ln w="12700">
            <a:solidFill>
              <a:srgbClr val="F2DFC0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82512" y="56052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machinery shrank with demand   </a:t>
            </a: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91,586 calls for 3,085 leads — 29.7 each, flat on 29.7 in August.</a:t>
            </a:r>
            <a:endParaRPr lang="en-US"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143C7E"/>
          </a:solidFill>
          <a:ln w="12700">
            <a:solidFill>
              <a:srgbClr val="14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2057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1E4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/>
          </a:p>
        </p:txBody>
      </p:sp>
      <p:sp>
        <p:nvSpPr>
          <p:cNvPr id="4" name="Text 2"/>
          <p:cNvSpPr/>
          <p:nvPr/>
        </p:nvSpPr>
        <p:spPr>
          <a:xfrm>
            <a:off x="214884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Deep Dives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219456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carrier, September against August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219456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C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ICICI Lombard, Go Digit and Tata AIG</a:t>
            </a:r>
            <a:endParaRPr lang="en-US" sz="1200"/>
          </a:p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C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New India Assurance onboarding status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E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Lombard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deep dive — September 2026 against August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822960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in September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in August, down 80.0%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438144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21024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5,008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3621024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GWP in September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3621024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 of the book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6236208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19088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91.7%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6419088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priced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6419088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93.7% in August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9034272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17152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9217152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per registration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9217152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the highest</a:t>
            </a:r>
            <a:endParaRPr lang="en-US" sz="100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51760"/>
          <a:ext cx="6670000" cy="2999232"/>
        </p:xfrm>
        <a:graphic>
          <a:graphicData uri="http://schemas.openxmlformats.org/drawingml/2006/table">
            <a:tbl>
              <a:tblPr/>
              <a:tblGrid>
                <a:gridCol w="13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2W: Aug → Sep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4W: Aug → Sep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Total: Aug → Sep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Registrations attempted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2,470 → 1,578  (▼ 36.1%)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1,668 → 1,201  (▼ 28.0%)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4,138 → 2,779  (▼ 32.8%)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with a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2,373 → 1,459  (▼ 38.5%)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1,504 → 1,089  (▼ 27.6%)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3,877 → 2,548  (▼ 34.3%)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→ price 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96.1% → 92.5%  (▼ 3.6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 → 90.7%  (▲ 0.5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93.7% → 91.7%  (▼ 2.0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 → 24  (▼ 59.3%)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→ 16  (▼ 56.8%)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→ 40  (▼ 58.3%)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issued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→ 5  (▼ 76.2%)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→ 0  (▼ 100.0%)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→ 5  (▼ 80.0%)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GWP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25,177 → 5,008  (▼ 80.1%)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36,223 → 0  (▼ 100.0%)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61,400 → 5,008  (▼ 91.8%)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premium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1,199 → 1,002  (▼ 16.5%)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2,456 → 1,002  (▼ 59.2%)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success 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85.1% → 76.3%  (▼ 8.7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76.7% → 77.5%  (▲ 0.8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81.4% → 76.9%  (▼ 4.6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32,973 → 20,045  (▼ 39.2%)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25,024 → 17,654  (▼ 29.5%)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57,997 → 37,699  (▼ 35.0%)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4,923 → 4,742  (▼ 3.7%)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5,843 → 3,976  (▼ 32.0%)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10,766 → 8,718  (▼ 19.0%)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543800" y="2651760"/>
            <a:ext cx="4005072" cy="1691640"/>
          </a:xfrm>
          <a:prstGeom prst="roundRect">
            <a:avLst>
              <a:gd name="adj" fmla="val 3784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772400" y="27432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1200"/>
          </a:p>
        </p:txBody>
      </p:sp>
      <p:sp>
        <p:nvSpPr>
          <p:cNvPr id="26" name="Text 23"/>
          <p:cNvSpPr/>
          <p:nvPr/>
        </p:nvSpPr>
        <p:spPr>
          <a:xfrm>
            <a:off x="7772400" y="2999232"/>
            <a:ext cx="3584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Lead → price held at 91.7% (Aug 93.7%)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4W call success steady at 77.5%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Highest volume of any carrier: 37,699 calls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Failures fell with volume: 8,718 vs 10,766</a:t>
            </a:r>
            <a:endParaRPr lang="en-US" sz="1050"/>
          </a:p>
        </p:txBody>
      </p:sp>
      <p:sp>
        <p:nvSpPr>
          <p:cNvPr id="27" name="Shape 24"/>
          <p:cNvSpPr/>
          <p:nvPr/>
        </p:nvSpPr>
        <p:spPr>
          <a:xfrm>
            <a:off x="7543800" y="4480560"/>
            <a:ext cx="4005072" cy="1691640"/>
          </a:xfrm>
          <a:prstGeom prst="roundRect">
            <a:avLst>
              <a:gd name="adj" fmla="val 3784"/>
            </a:avLst>
          </a:prstGeom>
          <a:solidFill>
            <a:srgbClr val="FDF3E4"/>
          </a:solidFill>
          <a:ln w="12700">
            <a:solidFill>
              <a:srgbClr val="F2DFC0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772400" y="45720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200"/>
          </a:p>
        </p:txBody>
      </p:sp>
      <p:sp>
        <p:nvSpPr>
          <p:cNvPr id="29" name="Text 26"/>
          <p:cNvSpPr/>
          <p:nvPr/>
        </p:nvSpPr>
        <p:spPr>
          <a:xfrm>
            <a:off x="7772400" y="4828032"/>
            <a:ext cx="3584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5 policies from 40 applications; 49 of 104 proposals at KYC PENDING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GWP down 91.8% to INR 5,008 (7% of the book)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"TP is not allowed": 6,799 calls, 78% of failures (carrier rule)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Platform faults: 481 iHub, 355 NoSuchMethod</a:t>
            </a:r>
            <a:endParaRPr lang="en-US" sz="1050"/>
          </a:p>
        </p:txBody>
      </p:sp>
      <p:sp>
        <p:nvSpPr>
          <p:cNvPr id="30" name="Text 27"/>
          <p:cNvSpPr/>
          <p:nvPr/>
        </p:nvSpPr>
        <p:spPr>
          <a:xfrm>
            <a:off x="640080" y="62362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ICICI's funnel broke at application → policy. Clearing KYC pending (cKYC with OTP, on hold) is the lever.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Digit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deep dive — September 2026 against August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822960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in September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in August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438144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21024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39,791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3621024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GWP in September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3621024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 → 54% of the book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6236208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19088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78.0%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6419088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priced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6419088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76.8% in August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9034272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17152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9217152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per policy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9217152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in August</a:t>
            </a:r>
            <a:endParaRPr lang="en-US" sz="100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51760"/>
          <a:ext cx="6670000" cy="2999232"/>
        </p:xfrm>
        <a:graphic>
          <a:graphicData uri="http://schemas.openxmlformats.org/drawingml/2006/table">
            <a:tbl>
              <a:tblPr/>
              <a:tblGrid>
                <a:gridCol w="13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2W: Aug → Sep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4W: Aug → Sep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Total: Aug → Sep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Registrations attempted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2,955 → 1,744  (▼ 41.0%)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1,736 → 1,227  (▼ 29.3%)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4,691 → 2,971  (▼ 36.7%)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with a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2,168 → 1,288  (▼ 40.6%)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1,434 → 1,028  (▼ 28.3%)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3,602 → 2,316  (▼ 35.7%)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→ price 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73.4% → 73.9%  (▲ 0.5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82.6% → 83.8%  (▲ 1.2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76.8% → 78.0%  (▲ 1.2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 → 35  (▼ 39.7%)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→ 27  (▼ 25.0%)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 → 62  (▼ 34.0%)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issued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→ 7  (▼ 66.7%)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→ 4  (▲ 100.0%)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→ 11  (▼ 52.2%)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GWP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18,967 → 6,311  (▼ 66.7%)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14,009 → 33,480  (▲ 139.0%)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32,976 → 39,791  (▲ 20.7%)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premium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903 → 902  (▼ 0.2%)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7,005 → 8,370  (▲ 19.5%)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1,434 → 3,617  (▲ 152.3%)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success 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 → 47.5%  (▲ 2.4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68.8% → 72.6%  (▲ 3.8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52.7% → 56.8%  (▲ 4.1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30,991 → 17,366  (▼ 44.0%)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14,680 → 10,156  (▼ 30.8%)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45,671 → 27,522  (▼ 39.7%)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17,036 → 9,121  (▼ 46.5%)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4,575 → 2,780  (▼ 39.2%)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21,611 → 11,901  (▼ 44.9%)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543800" y="2651760"/>
            <a:ext cx="4005072" cy="1691640"/>
          </a:xfrm>
          <a:prstGeom prst="roundRect">
            <a:avLst>
              <a:gd name="adj" fmla="val 3784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772400" y="27432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1200"/>
          </a:p>
        </p:txBody>
      </p:sp>
      <p:sp>
        <p:nvSpPr>
          <p:cNvPr id="26" name="Text 23"/>
          <p:cNvSpPr/>
          <p:nvPr/>
        </p:nvSpPr>
        <p:spPr>
          <a:xfrm>
            <a:off x="7772400" y="2999232"/>
            <a:ext cx="3584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GWP up 20.7% to INR 39,791, now the biggest premium contributor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Highest average ticket after Tata: INR 3,617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Lead → price improved 76.8% → 78.0%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Both 2W (47.5%) and 4W (72.6%) call success rose</a:t>
            </a:r>
            <a:endParaRPr lang="en-US" sz="1050"/>
          </a:p>
        </p:txBody>
      </p:sp>
      <p:sp>
        <p:nvSpPr>
          <p:cNvPr id="27" name="Shape 24"/>
          <p:cNvSpPr/>
          <p:nvPr/>
        </p:nvSpPr>
        <p:spPr>
          <a:xfrm>
            <a:off x="7543800" y="4480560"/>
            <a:ext cx="4005072" cy="1691640"/>
          </a:xfrm>
          <a:prstGeom prst="roundRect">
            <a:avLst>
              <a:gd name="adj" fmla="val 3784"/>
            </a:avLst>
          </a:prstGeom>
          <a:solidFill>
            <a:srgbClr val="FDF3E4"/>
          </a:solidFill>
          <a:ln w="12700">
            <a:solidFill>
              <a:srgbClr val="F2DFC0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772400" y="45720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200"/>
          </a:p>
        </p:txBody>
      </p:sp>
      <p:sp>
        <p:nvSpPr>
          <p:cNvPr id="29" name="Text 26"/>
          <p:cNvSpPr/>
          <p:nvPr/>
        </p:nvSpPr>
        <p:spPr>
          <a:xfrm>
            <a:off x="7772400" y="4828032"/>
            <a:ext cx="3584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Policies 23 → 11; applications per policy 4.1 → 5.6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UW rules rejected 9,433 calls (79%)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708 calls hit the iHub "outtrf" rule fault (platform)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Fibe-fixable: RTO 469, far-future dates 418</a:t>
            </a:r>
            <a:endParaRPr lang="en-US" sz="1050"/>
          </a:p>
        </p:txBody>
      </p:sp>
      <p:sp>
        <p:nvSpPr>
          <p:cNvPr id="30" name="Text 27"/>
          <p:cNvSpPr/>
          <p:nvPr/>
        </p:nvSpPr>
        <p:spPr>
          <a:xfrm>
            <a:off x="640080" y="62362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= PolicyNo and CarrierPolicyNo both returned; 3 of 11 Sept policies are UW_REFFERED (see workbook).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AIG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deep dive — September 2026 against August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822960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in September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in August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438144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21024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28,431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3621024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GWP in September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3621024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14.9% on August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6236208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19088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4,738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6419088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premium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6419088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of the three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9034272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17152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33.5%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9217152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priced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9217152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39.6% in August</a:t>
            </a:r>
            <a:endParaRPr lang="en-US" sz="100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51760"/>
          <a:ext cx="6670000" cy="2999232"/>
        </p:xfrm>
        <a:graphic>
          <a:graphicData uri="http://schemas.openxmlformats.org/drawingml/2006/table">
            <a:tbl>
              <a:tblPr/>
              <a:tblGrid>
                <a:gridCol w="13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2W: Aug → Sep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4W: Aug → Sep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Total: Aug → Sep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Registrations attempted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2,636 → 1,601  (▼ 39.3%)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1,553 → 1,101  (▼ 29.1%)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4,189 → 2,702  (▼ 35.5%)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with a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775 → 206  (▼ 73.4%)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 → 698  (▼ 21.0%)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1,659 → 904  (▼ 45.5%)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→ price 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29.4% → 12.9%  (▼ 16.5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56.9% → 63.4%  (▲ 6.5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39.6% → 33.5%  (▼ 6.1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→ 9  (▼ 55.0%)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→ 29  (▼ 29.3%)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→ 38  (▼ 37.7%)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issued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→ 3  (▼ 57.1%)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→ 3  (▼ 25.0%)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→ 6  (▼ 45.5%)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GWP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6,922 → 3,060  (▼ 55.8%)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26,495 → 25,371  (▼ 4.2%)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33,417 → 28,431  (▼ 14.9%)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premium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989 → 1,020  (▲ 3.1%)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6,624 → 8,457  (▲ 27.7%)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3,038 → 4,738  (▲ 56.0%)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success 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 → 3.0%  (▼ 15.0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43.4% → 49.5%  (▲ 6.1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28.2% → 25.9%  (▼ 2.2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25,578 → 13,369  (▼ 47.7%)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17,078 → 12,996  (▼ 23.9%)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42,656 → 26,365  (▼ 38.2%)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20,984 → 12,971  (▼ 38.2%)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9,662 → 6,558  (▼ 32.1%)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30,646 → 19,529  (▼ 36.3%)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543800" y="2651760"/>
            <a:ext cx="4005072" cy="1691640"/>
          </a:xfrm>
          <a:prstGeom prst="roundRect">
            <a:avLst>
              <a:gd name="adj" fmla="val 3784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772400" y="27432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1200"/>
          </a:p>
        </p:txBody>
      </p:sp>
      <p:sp>
        <p:nvSpPr>
          <p:cNvPr id="26" name="Text 23"/>
          <p:cNvSpPr/>
          <p:nvPr/>
        </p:nvSpPr>
        <p:spPr>
          <a:xfrm>
            <a:off x="7772400" y="2999232"/>
            <a:ext cx="3584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Richest ticket: INR 4,738 against a book average of 3,329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6 policies from 38 applications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4W call success improved 43.4% → 49.5%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Still delivered INR 28,431 GWP despite the failures</a:t>
            </a:r>
            <a:endParaRPr lang="en-US" sz="1050"/>
          </a:p>
        </p:txBody>
      </p:sp>
      <p:sp>
        <p:nvSpPr>
          <p:cNvPr id="27" name="Shape 24"/>
          <p:cNvSpPr/>
          <p:nvPr/>
        </p:nvSpPr>
        <p:spPr>
          <a:xfrm>
            <a:off x="7543800" y="4480560"/>
            <a:ext cx="4005072" cy="1691640"/>
          </a:xfrm>
          <a:prstGeom prst="roundRect">
            <a:avLst>
              <a:gd name="adj" fmla="val 3784"/>
            </a:avLst>
          </a:prstGeom>
          <a:solidFill>
            <a:srgbClr val="FDF3E4"/>
          </a:solidFill>
          <a:ln w="12700">
            <a:solidFill>
              <a:srgbClr val="F2DFC0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772400" y="45720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200"/>
          </a:p>
        </p:txBody>
      </p:sp>
      <p:sp>
        <p:nvSpPr>
          <p:cNvPr id="29" name="Text 26"/>
          <p:cNvSpPr/>
          <p:nvPr/>
        </p:nvSpPr>
        <p:spPr>
          <a:xfrm>
            <a:off x="7772400" y="4828032"/>
            <a:ext cx="3584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Only 33.5% of leads got a price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2W call success 3.0% (398 of 13,369); Aug 18.0%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7,066 malformed requests: bundle OD dates 5,288, engine options 1,778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"Invalid Policy Plan" 3,075 (Aug 658) — plan-code mapping</a:t>
            </a:r>
            <a:endParaRPr lang="en-US" sz="1050"/>
          </a:p>
        </p:txBody>
      </p:sp>
      <p:sp>
        <p:nvSpPr>
          <p:cNvPr id="30" name="Text 27"/>
          <p:cNvSpPr/>
          <p:nvPr/>
        </p:nvSpPr>
        <p:spPr>
          <a:xfrm>
            <a:off x="640080" y="62362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AIG 2W is the clearest fix: 3.0% success, flat all month, driven by request/mapping defects we control.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143C7E"/>
          </a:solidFill>
          <a:ln w="12700">
            <a:solidFill>
              <a:srgbClr val="14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2057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1E4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/>
          </a:p>
        </p:txBody>
      </p:sp>
      <p:sp>
        <p:nvSpPr>
          <p:cNvPr id="4" name="Text 2"/>
          <p:cNvSpPr/>
          <p:nvPr/>
        </p:nvSpPr>
        <p:spPr>
          <a:xfrm>
            <a:off x="214884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219456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September happened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219456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C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New demand versus returning vehicles</a:t>
            </a:r>
            <a:endParaRPr lang="en-US" sz="1200"/>
          </a:p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C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What the remaining failures are</a:t>
            </a:r>
            <a:endParaRPr lang="en-US" sz="1200"/>
          </a:p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C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Repeat quoting, expiry and segment mix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E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versus Repeat Registrations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September's fall in leads is lost new demand, not fewer re-quotes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2,337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822960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vehicles in September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47.1% vs August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438144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21024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748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3621024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vehicles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3621024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44.4% vs August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6236208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19088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24.2%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6419088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share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6419088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10.5%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9034272" y="1371600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17152" y="146304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9,806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9217152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unique vehicles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9217152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7,469 at end of August</a:t>
            </a:r>
            <a:endParaRPr lang="en-US" sz="1000"/>
          </a:p>
        </p:txBody>
      </p:sp>
      <p:graphicFrame>
        <p:nvGraphicFramePr>
          <p:cNvPr id="23" name="Chart 0"/>
          <p:cNvGraphicFramePr/>
          <p:nvPr/>
        </p:nvGraphicFramePr>
        <p:xfrm>
          <a:off x="640080" y="2697480"/>
          <a:ext cx="69494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7818120" y="2697480"/>
            <a:ext cx="3730752" cy="3017520"/>
          </a:xfrm>
          <a:prstGeom prst="roundRect">
            <a:avLst>
              <a:gd name="adj" fmla="val 2121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046720" y="2798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fall in leads is a fall in new demand</a:t>
            </a:r>
            <a:endParaRPr lang="en-US" sz="1250"/>
          </a:p>
        </p:txBody>
      </p:sp>
      <p:sp>
        <p:nvSpPr>
          <p:cNvPr id="26" name="Text 23"/>
          <p:cNvSpPr/>
          <p:nvPr/>
        </p:nvSpPr>
        <p:spPr>
          <a:xfrm>
            <a:off x="8046720" y="3108960"/>
            <a:ext cx="33101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New vehicles fell 47.1%, from 4,417 to 2,337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Returning vehicles rose 44.4%, 518 → 748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Repeat share rose from 10.5% to 24.2%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So the 37.5% drop in leads is lost new demand, not fewer re-quotes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Cumulative base grew 7,469 → 9,806 unique vehicles</a:t>
            </a:r>
            <a:endParaRPr lang="en-US" sz="1050"/>
          </a:p>
        </p:txBody>
      </p:sp>
      <p:sp>
        <p:nvSpPr>
          <p:cNvPr id="27" name="Text 24"/>
          <p:cNvSpPr/>
          <p:nvPr/>
        </p:nvSpPr>
        <p:spPr>
          <a:xfrm>
            <a:off x="640080" y="58978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= quoted in any earlier month in the API window (from 5 July 2026). August is restated on this basis (4,417 new / 518 returning; the August deck showed 4,368 / 567 using pre-July history the API does not hold).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Reasons by Carrier — September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40,148 failures, split by who is being asked to price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493008" cy="868680"/>
          </a:xfrm>
          <a:prstGeom prst="roundRect">
            <a:avLst>
              <a:gd name="adj" fmla="val 7368"/>
            </a:avLst>
          </a:prstGeom>
          <a:solidFill>
            <a:srgbClr val="E8F1FC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Lombard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2743200" y="1444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8,718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841248" y="173736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calls  ·  23.1% of its quote calls</a:t>
            </a:r>
            <a:endParaRPr lang="en-US" sz="100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440593"/>
              </p:ext>
            </p:extLst>
          </p:nvPr>
        </p:nvGraphicFramePr>
        <p:xfrm>
          <a:off x="640080" y="2377440"/>
          <a:ext cx="3493008" cy="2176272"/>
        </p:xfrm>
        <a:graphic>
          <a:graphicData uri="http://schemas.openxmlformats.org/drawingml/2006/table">
            <a:tbl>
              <a:tblPr/>
              <a:tblGrid>
                <a:gridCol w="1847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Reason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Calls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is not allowed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6,799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 details not found.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87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 Mapping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java.lang.NoSuchMethodError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Unclassified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iHub 2W: unresolved IL route placeholder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err="1">
                          <a:solidFill>
                            <a:srgbClr val="5A6B80"/>
                          </a:solidFill>
                          <a:latin typeface="Calibri"/>
                          <a:ea typeface="Calibri"/>
                          <a:cs typeface="Calibri"/>
                        </a:rPr>
                        <a:t>Unclassified</a:t>
                      </a: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iHub 4W: unresolved IL route placeholder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err="1">
                          <a:solidFill>
                            <a:srgbClr val="5A6B80"/>
                          </a:solidFill>
                          <a:latin typeface="Calibri"/>
                          <a:ea typeface="Calibri"/>
                          <a:cs typeface="Calibri"/>
                        </a:rPr>
                        <a:t>Unclassified</a:t>
                      </a: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58368" y="46177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split</a:t>
            </a:r>
            <a:endParaRPr lang="en-US" sz="1050"/>
          </a:p>
        </p:txBody>
      </p:sp>
      <p:sp>
        <p:nvSpPr>
          <p:cNvPr id="13" name="Text 10"/>
          <p:cNvSpPr/>
          <p:nvPr/>
        </p:nvSpPr>
        <p:spPr>
          <a:xfrm>
            <a:off x="658368" y="48920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1000"/>
          </a:p>
        </p:txBody>
      </p:sp>
      <p:sp>
        <p:nvSpPr>
          <p:cNvPr id="14" name="Text 11"/>
          <p:cNvSpPr/>
          <p:nvPr/>
        </p:nvSpPr>
        <p:spPr>
          <a:xfrm>
            <a:off x="2011680" y="4892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7,275</a:t>
            </a:r>
            <a:endParaRPr lang="en-US" sz="1000"/>
          </a:p>
        </p:txBody>
      </p:sp>
      <p:sp>
        <p:nvSpPr>
          <p:cNvPr id="15" name="Text 12"/>
          <p:cNvSpPr/>
          <p:nvPr/>
        </p:nvSpPr>
        <p:spPr>
          <a:xfrm>
            <a:off x="3017520" y="4892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000"/>
          </a:p>
        </p:txBody>
      </p:sp>
      <p:sp>
        <p:nvSpPr>
          <p:cNvPr id="16" name="Text 13"/>
          <p:cNvSpPr/>
          <p:nvPr/>
        </p:nvSpPr>
        <p:spPr>
          <a:xfrm>
            <a:off x="658368" y="5148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</a:t>
            </a:r>
            <a:endParaRPr lang="en-US" sz="1000"/>
          </a:p>
        </p:txBody>
      </p:sp>
      <p:sp>
        <p:nvSpPr>
          <p:cNvPr id="17" name="Text 14"/>
          <p:cNvSpPr/>
          <p:nvPr/>
        </p:nvSpPr>
        <p:spPr>
          <a:xfrm>
            <a:off x="2011680" y="5148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/>
          </a:p>
        </p:txBody>
      </p:sp>
      <p:sp>
        <p:nvSpPr>
          <p:cNvPr id="18" name="Text 15"/>
          <p:cNvSpPr/>
          <p:nvPr/>
        </p:nvSpPr>
        <p:spPr>
          <a:xfrm>
            <a:off x="3017520" y="5148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/>
          </a:p>
        </p:txBody>
      </p:sp>
      <p:sp>
        <p:nvSpPr>
          <p:cNvPr id="19" name="Text 16"/>
          <p:cNvSpPr/>
          <p:nvPr/>
        </p:nvSpPr>
        <p:spPr>
          <a:xfrm>
            <a:off x="658368" y="54041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err="1">
                <a:solidFill>
                  <a:srgbClr val="5A6B80"/>
                </a:solidFill>
                <a:ea typeface="Calibri"/>
                <a:cs typeface="Calibri"/>
              </a:rPr>
              <a:t>Fibe</a:t>
            </a:r>
            <a:r>
              <a:rPr lang="en-US" sz="1000">
                <a:solidFill>
                  <a:srgbClr val="5A6B80"/>
                </a:solidFill>
                <a:ea typeface="Calibri"/>
                <a:cs typeface="Calibri"/>
              </a:rPr>
              <a:t> Mapping</a:t>
            </a:r>
          </a:p>
        </p:txBody>
      </p:sp>
      <p:sp>
        <p:nvSpPr>
          <p:cNvPr id="20" name="Text 17"/>
          <p:cNvSpPr/>
          <p:nvPr/>
        </p:nvSpPr>
        <p:spPr>
          <a:xfrm>
            <a:off x="2011680" y="5404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358</a:t>
            </a:r>
            <a:endParaRPr lang="en-US" sz="1000"/>
          </a:p>
        </p:txBody>
      </p:sp>
      <p:sp>
        <p:nvSpPr>
          <p:cNvPr id="21" name="Text 18"/>
          <p:cNvSpPr/>
          <p:nvPr/>
        </p:nvSpPr>
        <p:spPr>
          <a:xfrm>
            <a:off x="3017520" y="5404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/>
          </a:p>
        </p:txBody>
      </p:sp>
      <p:sp>
        <p:nvSpPr>
          <p:cNvPr id="22" name="Text 19"/>
          <p:cNvSpPr/>
          <p:nvPr/>
        </p:nvSpPr>
        <p:spPr>
          <a:xfrm>
            <a:off x="658368" y="5660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1000"/>
          </a:p>
        </p:txBody>
      </p:sp>
      <p:sp>
        <p:nvSpPr>
          <p:cNvPr id="23" name="Text 20"/>
          <p:cNvSpPr/>
          <p:nvPr/>
        </p:nvSpPr>
        <p:spPr>
          <a:xfrm>
            <a:off x="2011680" y="5660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1,022</a:t>
            </a:r>
            <a:endParaRPr lang="en-US" sz="1000"/>
          </a:p>
        </p:txBody>
      </p:sp>
      <p:sp>
        <p:nvSpPr>
          <p:cNvPr id="24" name="Text 21"/>
          <p:cNvSpPr/>
          <p:nvPr/>
        </p:nvSpPr>
        <p:spPr>
          <a:xfrm>
            <a:off x="3017520" y="5660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/>
          </a:p>
        </p:txBody>
      </p:sp>
      <p:sp>
        <p:nvSpPr>
          <p:cNvPr id="11" name="Shape 22"/>
          <p:cNvSpPr/>
          <p:nvPr/>
        </p:nvSpPr>
        <p:spPr>
          <a:xfrm>
            <a:off x="4379976" y="1371600"/>
            <a:ext cx="3493008" cy="868680"/>
          </a:xfrm>
          <a:prstGeom prst="roundRect">
            <a:avLst>
              <a:gd name="adj" fmla="val 7368"/>
            </a:avLst>
          </a:prstGeom>
          <a:solidFill>
            <a:srgbClr val="E8F1FC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81144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Digit</a:t>
            </a:r>
            <a:endParaRPr lang="en-US" sz="1300"/>
          </a:p>
        </p:txBody>
      </p:sp>
      <p:sp>
        <p:nvSpPr>
          <p:cNvPr id="27" name="Text 24"/>
          <p:cNvSpPr/>
          <p:nvPr/>
        </p:nvSpPr>
        <p:spPr>
          <a:xfrm>
            <a:off x="6483096" y="1444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11,901</a:t>
            </a:r>
            <a:endParaRPr lang="en-US" sz="1500"/>
          </a:p>
        </p:txBody>
      </p:sp>
      <p:sp>
        <p:nvSpPr>
          <p:cNvPr id="28" name="Text 25"/>
          <p:cNvSpPr/>
          <p:nvPr/>
        </p:nvSpPr>
        <p:spPr>
          <a:xfrm>
            <a:off x="4581144" y="173736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calls  ·  43.2% of its quote calls</a:t>
            </a:r>
            <a:endParaRPr lang="en-US" sz="100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255200"/>
              </p:ext>
            </p:extLst>
          </p:nvPr>
        </p:nvGraphicFramePr>
        <p:xfrm>
          <a:off x="4379976" y="2377440"/>
          <a:ext cx="3493008" cy="2176272"/>
        </p:xfrm>
        <a:graphic>
          <a:graphicData uri="http://schemas.openxmlformats.org/drawingml/2006/table">
            <a:tbl>
              <a:tblPr/>
              <a:tblGrid>
                <a:gridCol w="1847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Reason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Calls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 rules violated!!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9,433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iHub Digit "outtrf" rule failed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708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err="1">
                          <a:solidFill>
                            <a:srgbClr val="5A6B80"/>
                          </a:solidFill>
                          <a:latin typeface="Calibri"/>
                          <a:ea typeface="Calibri"/>
                          <a:cs typeface="Calibri"/>
                        </a:rPr>
                        <a:t>Unclassified</a:t>
                      </a: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Invalid RTO identified from registration number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87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 Mapping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 date more than 6 months ahead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87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type does not match Vahan data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87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Text 26"/>
          <p:cNvSpPr/>
          <p:nvPr/>
        </p:nvSpPr>
        <p:spPr>
          <a:xfrm>
            <a:off x="4398264" y="46177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split</a:t>
            </a:r>
            <a:endParaRPr lang="en-US" sz="1050"/>
          </a:p>
        </p:txBody>
      </p:sp>
      <p:sp>
        <p:nvSpPr>
          <p:cNvPr id="31" name="Text 27"/>
          <p:cNvSpPr/>
          <p:nvPr/>
        </p:nvSpPr>
        <p:spPr>
          <a:xfrm>
            <a:off x="4398264" y="48920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1000"/>
          </a:p>
        </p:txBody>
      </p:sp>
      <p:sp>
        <p:nvSpPr>
          <p:cNvPr id="32" name="Text 28"/>
          <p:cNvSpPr/>
          <p:nvPr/>
        </p:nvSpPr>
        <p:spPr>
          <a:xfrm>
            <a:off x="5751576" y="4892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9,493</a:t>
            </a:r>
            <a:endParaRPr lang="en-US" sz="1000"/>
          </a:p>
        </p:txBody>
      </p:sp>
      <p:sp>
        <p:nvSpPr>
          <p:cNvPr id="33" name="Text 29"/>
          <p:cNvSpPr/>
          <p:nvPr/>
        </p:nvSpPr>
        <p:spPr>
          <a:xfrm>
            <a:off x="6757416" y="4892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/>
          </a:p>
        </p:txBody>
      </p:sp>
      <p:sp>
        <p:nvSpPr>
          <p:cNvPr id="34" name="Text 30"/>
          <p:cNvSpPr/>
          <p:nvPr/>
        </p:nvSpPr>
        <p:spPr>
          <a:xfrm>
            <a:off x="4398264" y="5148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</a:t>
            </a:r>
            <a:endParaRPr lang="en-US" sz="1000"/>
          </a:p>
        </p:txBody>
      </p:sp>
      <p:sp>
        <p:nvSpPr>
          <p:cNvPr id="35" name="Text 31"/>
          <p:cNvSpPr/>
          <p:nvPr/>
        </p:nvSpPr>
        <p:spPr>
          <a:xfrm>
            <a:off x="5751576" y="5148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</a:t>
            </a:r>
            <a:endParaRPr lang="en-US" sz="1000"/>
          </a:p>
        </p:txBody>
      </p:sp>
      <p:sp>
        <p:nvSpPr>
          <p:cNvPr id="36" name="Text 32"/>
          <p:cNvSpPr/>
          <p:nvPr/>
        </p:nvSpPr>
        <p:spPr>
          <a:xfrm>
            <a:off x="6757416" y="5148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/>
          </a:p>
        </p:txBody>
      </p:sp>
      <p:sp>
        <p:nvSpPr>
          <p:cNvPr id="37" name="Text 33"/>
          <p:cNvSpPr/>
          <p:nvPr/>
        </p:nvSpPr>
        <p:spPr>
          <a:xfrm>
            <a:off x="4398264" y="54041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err="1">
                <a:solidFill>
                  <a:srgbClr val="5A6B80"/>
                </a:solidFill>
                <a:ea typeface="Calibri"/>
                <a:cs typeface="Calibri"/>
              </a:rPr>
              <a:t>Fibe</a:t>
            </a:r>
            <a:r>
              <a:rPr lang="en-US" sz="1000">
                <a:solidFill>
                  <a:srgbClr val="5A6B80"/>
                </a:solidFill>
                <a:ea typeface="Calibri"/>
                <a:cs typeface="Calibri"/>
              </a:rPr>
              <a:t> Mapping</a:t>
            </a:r>
          </a:p>
        </p:txBody>
      </p:sp>
      <p:sp>
        <p:nvSpPr>
          <p:cNvPr id="38" name="Text 34"/>
          <p:cNvSpPr/>
          <p:nvPr/>
        </p:nvSpPr>
        <p:spPr>
          <a:xfrm>
            <a:off x="5751576" y="5404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469</a:t>
            </a:r>
            <a:endParaRPr lang="en-US" sz="1000"/>
          </a:p>
        </p:txBody>
      </p:sp>
      <p:sp>
        <p:nvSpPr>
          <p:cNvPr id="39" name="Text 35"/>
          <p:cNvSpPr/>
          <p:nvPr/>
        </p:nvSpPr>
        <p:spPr>
          <a:xfrm>
            <a:off x="6757416" y="5404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/>
          </a:p>
        </p:txBody>
      </p:sp>
      <p:sp>
        <p:nvSpPr>
          <p:cNvPr id="40" name="Text 36"/>
          <p:cNvSpPr/>
          <p:nvPr/>
        </p:nvSpPr>
        <p:spPr>
          <a:xfrm>
            <a:off x="4398264" y="5660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1000"/>
          </a:p>
        </p:txBody>
      </p:sp>
      <p:sp>
        <p:nvSpPr>
          <p:cNvPr id="41" name="Text 37"/>
          <p:cNvSpPr/>
          <p:nvPr/>
        </p:nvSpPr>
        <p:spPr>
          <a:xfrm>
            <a:off x="5751576" y="5660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1,159</a:t>
            </a:r>
            <a:endParaRPr lang="en-US" sz="1000"/>
          </a:p>
        </p:txBody>
      </p:sp>
      <p:sp>
        <p:nvSpPr>
          <p:cNvPr id="42" name="Text 38"/>
          <p:cNvSpPr/>
          <p:nvPr/>
        </p:nvSpPr>
        <p:spPr>
          <a:xfrm>
            <a:off x="6757416" y="5660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/>
          </a:p>
        </p:txBody>
      </p:sp>
      <p:sp>
        <p:nvSpPr>
          <p:cNvPr id="43" name="Shape 39"/>
          <p:cNvSpPr/>
          <p:nvPr/>
        </p:nvSpPr>
        <p:spPr>
          <a:xfrm>
            <a:off x="8119872" y="1371600"/>
            <a:ext cx="3493008" cy="868680"/>
          </a:xfrm>
          <a:prstGeom prst="roundRect">
            <a:avLst>
              <a:gd name="adj" fmla="val 7368"/>
            </a:avLst>
          </a:prstGeom>
          <a:solidFill>
            <a:srgbClr val="E8F1FC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832104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AIG</a:t>
            </a:r>
            <a:endParaRPr lang="en-US" sz="1300"/>
          </a:p>
        </p:txBody>
      </p:sp>
      <p:sp>
        <p:nvSpPr>
          <p:cNvPr id="45" name="Text 41"/>
          <p:cNvSpPr/>
          <p:nvPr/>
        </p:nvSpPr>
        <p:spPr>
          <a:xfrm>
            <a:off x="10222992" y="1444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19,529</a:t>
            </a:r>
            <a:endParaRPr lang="en-US" sz="1500"/>
          </a:p>
        </p:txBody>
      </p:sp>
      <p:sp>
        <p:nvSpPr>
          <p:cNvPr id="46" name="Text 42"/>
          <p:cNvSpPr/>
          <p:nvPr/>
        </p:nvSpPr>
        <p:spPr>
          <a:xfrm>
            <a:off x="8321040" y="173736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calls  ·  74.1% of its quote calls</a:t>
            </a:r>
            <a:endParaRPr lang="en-US" sz="1000"/>
          </a:p>
        </p:txBody>
      </p:sp>
      <p:graphicFrame>
        <p:nvGraphicFramePr>
          <p:cNvPr id="7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323866"/>
              </p:ext>
            </p:extLst>
          </p:nvPr>
        </p:nvGraphicFramePr>
        <p:xfrm>
          <a:off x="8119872" y="2377440"/>
          <a:ext cx="3493008" cy="2176272"/>
        </p:xfrm>
        <a:graphic>
          <a:graphicData uri="http://schemas.openxmlformats.org/drawingml/2006/table">
            <a:tbl>
              <a:tblPr/>
              <a:tblGrid>
                <a:gridCol w="1847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Reason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Calls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1182-bundle OD start/end date missing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5,288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87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Policy Plan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3,075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87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engine_secure_options is mandatory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1,778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err="1">
                          <a:solidFill>
                            <a:srgbClr val="1877D2"/>
                          </a:solidFill>
                          <a:latin typeface="Calibri"/>
                          <a:ea typeface="Calibri"/>
                          <a:cs typeface="Calibri"/>
                        </a:rPr>
                        <a:t>Fibe</a:t>
                      </a: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1197 - Referral: moratorium vehicle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 Location code is mismatched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1,065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87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 Mapping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" name="Text 43"/>
          <p:cNvSpPr/>
          <p:nvPr/>
        </p:nvSpPr>
        <p:spPr>
          <a:xfrm>
            <a:off x="8138160" y="46177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split</a:t>
            </a:r>
            <a:endParaRPr lang="en-US" sz="1050"/>
          </a:p>
        </p:txBody>
      </p:sp>
      <p:sp>
        <p:nvSpPr>
          <p:cNvPr id="29" name="Text 44"/>
          <p:cNvSpPr/>
          <p:nvPr/>
        </p:nvSpPr>
        <p:spPr>
          <a:xfrm>
            <a:off x="8138160" y="48920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1000"/>
          </a:p>
        </p:txBody>
      </p:sp>
      <p:sp>
        <p:nvSpPr>
          <p:cNvPr id="50" name="Text 45"/>
          <p:cNvSpPr/>
          <p:nvPr/>
        </p:nvSpPr>
        <p:spPr>
          <a:xfrm>
            <a:off x="9491472" y="4892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5,390</a:t>
            </a:r>
            <a:endParaRPr lang="en-US" sz="1000"/>
          </a:p>
        </p:txBody>
      </p:sp>
      <p:sp>
        <p:nvSpPr>
          <p:cNvPr id="51" name="Text 46"/>
          <p:cNvSpPr/>
          <p:nvPr/>
        </p:nvSpPr>
        <p:spPr>
          <a:xfrm>
            <a:off x="10497312" y="4892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000"/>
          </a:p>
        </p:txBody>
      </p:sp>
      <p:sp>
        <p:nvSpPr>
          <p:cNvPr id="52" name="Text 47"/>
          <p:cNvSpPr/>
          <p:nvPr/>
        </p:nvSpPr>
        <p:spPr>
          <a:xfrm>
            <a:off x="8138160" y="51480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</a:t>
            </a:r>
            <a:endParaRPr lang="en-US" sz="1000"/>
          </a:p>
        </p:txBody>
      </p:sp>
      <p:sp>
        <p:nvSpPr>
          <p:cNvPr id="53" name="Text 48"/>
          <p:cNvSpPr/>
          <p:nvPr/>
        </p:nvSpPr>
        <p:spPr>
          <a:xfrm>
            <a:off x="9491472" y="5148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11,074</a:t>
            </a:r>
            <a:endParaRPr lang="en-US" sz="1000"/>
          </a:p>
        </p:txBody>
      </p:sp>
      <p:sp>
        <p:nvSpPr>
          <p:cNvPr id="54" name="Text 49"/>
          <p:cNvSpPr/>
          <p:nvPr/>
        </p:nvSpPr>
        <p:spPr>
          <a:xfrm>
            <a:off x="10497312" y="5148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000"/>
          </a:p>
        </p:txBody>
      </p:sp>
      <p:sp>
        <p:nvSpPr>
          <p:cNvPr id="55" name="Text 50"/>
          <p:cNvSpPr/>
          <p:nvPr/>
        </p:nvSpPr>
        <p:spPr>
          <a:xfrm>
            <a:off x="8138160" y="54041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err="1">
                <a:solidFill>
                  <a:srgbClr val="5A6B80"/>
                </a:solidFill>
                <a:ea typeface="Calibri"/>
                <a:cs typeface="Calibri"/>
              </a:rPr>
              <a:t>Fibe</a:t>
            </a:r>
            <a:r>
              <a:rPr lang="en-US" sz="1000">
                <a:solidFill>
                  <a:srgbClr val="5A6B80"/>
                </a:solidFill>
                <a:ea typeface="Calibri"/>
                <a:cs typeface="Calibri"/>
              </a:rPr>
              <a:t> </a:t>
            </a:r>
            <a:r>
              <a:rPr lang="en-US" sz="1000" err="1">
                <a:solidFill>
                  <a:srgbClr val="5A6B80"/>
                </a:solidFill>
                <a:ea typeface="Calibri"/>
                <a:cs typeface="Calibri"/>
              </a:rPr>
              <a:t>Maping</a:t>
            </a:r>
          </a:p>
        </p:txBody>
      </p:sp>
      <p:sp>
        <p:nvSpPr>
          <p:cNvPr id="56" name="Text 51"/>
          <p:cNvSpPr/>
          <p:nvPr/>
        </p:nvSpPr>
        <p:spPr>
          <a:xfrm>
            <a:off x="9491472" y="5404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1,460</a:t>
            </a:r>
            <a:endParaRPr lang="en-US" sz="1000"/>
          </a:p>
        </p:txBody>
      </p:sp>
      <p:sp>
        <p:nvSpPr>
          <p:cNvPr id="57" name="Text 52"/>
          <p:cNvSpPr/>
          <p:nvPr/>
        </p:nvSpPr>
        <p:spPr>
          <a:xfrm>
            <a:off x="10497312" y="5404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/>
          </a:p>
        </p:txBody>
      </p:sp>
      <p:sp>
        <p:nvSpPr>
          <p:cNvPr id="58" name="Text 53"/>
          <p:cNvSpPr/>
          <p:nvPr/>
        </p:nvSpPr>
        <p:spPr>
          <a:xfrm>
            <a:off x="8138160" y="5660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1000"/>
          </a:p>
        </p:txBody>
      </p:sp>
      <p:sp>
        <p:nvSpPr>
          <p:cNvPr id="59" name="Text 54"/>
          <p:cNvSpPr/>
          <p:nvPr/>
        </p:nvSpPr>
        <p:spPr>
          <a:xfrm>
            <a:off x="9491472" y="5660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1,605</a:t>
            </a:r>
            <a:endParaRPr lang="en-US" sz="1000"/>
          </a:p>
        </p:txBody>
      </p:sp>
      <p:sp>
        <p:nvSpPr>
          <p:cNvPr id="60" name="Text 55"/>
          <p:cNvSpPr/>
          <p:nvPr/>
        </p:nvSpPr>
        <p:spPr>
          <a:xfrm>
            <a:off x="10497312" y="5660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/>
          </a:p>
        </p:txBody>
      </p:sp>
      <p:sp>
        <p:nvSpPr>
          <p:cNvPr id="61" name="Shape 56"/>
          <p:cNvSpPr/>
          <p:nvPr/>
        </p:nvSpPr>
        <p:spPr>
          <a:xfrm>
            <a:off x="640080" y="5897880"/>
            <a:ext cx="10908792" cy="365760"/>
          </a:xfrm>
          <a:prstGeom prst="roundRect">
            <a:avLst>
              <a:gd name="adj" fmla="val 17500"/>
            </a:avLst>
          </a:prstGeom>
          <a:solidFill>
            <a:srgbClr val="F4F6F9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57"/>
          <p:cNvSpPr/>
          <p:nvPr/>
        </p:nvSpPr>
        <p:spPr>
          <a:xfrm>
            <a:off x="868680" y="59253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incident   </a:t>
            </a: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1,350 failed calls on 21–22 Sept (iHub: unresolved ICICI route placeholder, Digit "outtrf" rule, Tata gateway errors) sit under Unclassified — all engineering-fixable. Owner split is by root-cause category, applied identically to August.</a:t>
            </a:r>
            <a:endParaRPr lang="en-US" sz="10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Mix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bought in September, and where the premium came from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type</a:t>
            </a:r>
            <a:endParaRPr lang="en-US" sz="115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90472"/>
          <a:ext cx="5257800" cy="1024128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Leads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Policies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GWP (INR)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Two-wheeler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1,822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14,379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car / Commercial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58,850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Unclassified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278892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age</a:t>
            </a:r>
            <a:endParaRPr lang="en-US" sz="115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44952"/>
          <a:ext cx="5257800" cy="1024128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Leads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Policies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GWP (INR)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8+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49,728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12,290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11,212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40080" y="434340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IDV band</a:t>
            </a:r>
            <a:endParaRPr lang="en-US" sz="1150"/>
          </a:p>
        </p:txBody>
      </p:sp>
      <p:graphicFrame>
        <p:nvGraphicFramePr>
          <p:cNvPr id="8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99432"/>
          <a:ext cx="5257800" cy="1536192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Leads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Policies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GWP (INR)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9,782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36,841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13,686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9,803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10L+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6172200" y="1234440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states</a:t>
            </a:r>
            <a:endParaRPr lang="en-US" sz="1150"/>
          </a:p>
        </p:txBody>
      </p:sp>
      <p:graphicFrame>
        <p:nvGraphicFramePr>
          <p:cNvPr id="10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90472"/>
          <a:ext cx="5376672" cy="2304288"/>
        </p:xfrm>
        <a:graphic>
          <a:graphicData uri="http://schemas.openxmlformats.org/drawingml/2006/table">
            <a:tbl>
              <a:tblPr/>
              <a:tblGrid>
                <a:gridCol w="235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Leads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Policies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GWP (INR)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Maharashtra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40,973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Uttar Pradesh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9,578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Tamil Nadu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Telangana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Andhra Pradesh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Gujarat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4,905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Haryana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6172200" y="4343400"/>
            <a:ext cx="5376672" cy="1783080"/>
          </a:xfrm>
          <a:prstGeom prst="roundRect">
            <a:avLst>
              <a:gd name="adj" fmla="val 3590"/>
            </a:avLst>
          </a:prstGeom>
          <a:solidFill>
            <a:srgbClr val="F4F6F9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6400800" y="44531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mix says</a:t>
            </a:r>
            <a:endParaRPr lang="en-US" sz="1200"/>
          </a:p>
        </p:txBody>
      </p:sp>
      <p:sp>
        <p:nvSpPr>
          <p:cNvPr id="17" name="Text 11"/>
          <p:cNvSpPr/>
          <p:nvPr/>
        </p:nvSpPr>
        <p:spPr>
          <a:xfrm>
            <a:off x="6400800" y="4754880"/>
            <a:ext cx="4956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Two-wheelers are 59% of leads and 68% of policies, but only 20% of premium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 b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Private car and commercial: 7 policies carrying INR 58,850 — INR 8,407 a policy against 959 for two-wheelers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Older vehicles convert best again: 8+ years produced 12 policies and INR 49,728 of premium</a:t>
            </a:r>
            <a:endParaRPr lang="en-US" sz="1050"/>
          </a:p>
          <a:p>
            <a:pPr marL="0" indent="0">
              <a:spcAft>
                <a:spcPts val="400"/>
              </a:spcAft>
              <a:buNone/>
            </a:pPr>
            <a:r>
              <a:rPr lang="en-US" sz="10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 Maharashtra: 11 of 22 policies (INR 40,973)</a:t>
            </a:r>
            <a:endParaRPr lang="en-US" sz="1050"/>
          </a:p>
        </p:txBody>
      </p:sp>
      <p:sp>
        <p:nvSpPr>
          <p:cNvPr id="18" name="Text 12"/>
          <p:cNvSpPr/>
          <p:nvPr/>
        </p:nvSpPr>
        <p:spPr>
          <a:xfrm>
            <a:off x="640080" y="6263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2026, full month. Segments from the quote request; IDV = lowest returned per priced vehicle. August restated on the same basis.</a:t>
            </a:r>
            <a:endParaRPr lang="en-US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143C7E"/>
          </a:solidFill>
          <a:ln w="12700">
            <a:solidFill>
              <a:srgbClr val="14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2057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1E4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/>
          </a:p>
        </p:txBody>
      </p:sp>
      <p:sp>
        <p:nvSpPr>
          <p:cNvPr id="4" name="Text 2"/>
          <p:cNvSpPr/>
          <p:nvPr/>
        </p:nvSpPr>
        <p:spPr>
          <a:xfrm>
            <a:off x="214884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219456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A8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about it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219456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C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Recommendations, re-prioritised after September</a:t>
            </a:r>
            <a:endParaRPr lang="en-US" sz="1200"/>
          </a:p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C6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Delivery mapped to funnel impact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E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→ Funnel Impact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item lands in the funnel (status carried from the August review — owners to update)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854696"/>
              </p:ext>
            </p:extLst>
          </p:nvPr>
        </p:nvGraphicFramePr>
        <p:xfrm>
          <a:off x="640080" y="1371600"/>
          <a:ext cx="8439912" cy="317296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item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Funnel step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 and status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mapping across all carriers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B87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→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UAT – Pending from </a:t>
                      </a:r>
                      <a:r>
                        <a:rPr lang="en-US" sz="1000" err="1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Fibe</a:t>
                      </a:r>
                      <a:endParaRPr lang="en-US" sz="1000" err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exception dashboards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→ bought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UAT –Pending from Fibe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cKYC with OTP (IL + Tata)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B87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→ bought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On Hold by Fibe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webhook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B87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→ bought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On Hold by Fibe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Single-IDV and session-level capping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per lead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Dev in progress by </a:t>
                      </a:r>
                      <a:r>
                        <a:rPr lang="en-US" sz="1000" err="1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Fibe</a:t>
                      </a:r>
                      <a:endParaRPr lang="en-US" sz="1000" err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alerts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steps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Confirmation pending by Fibe</a:t>
                      </a: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NIA integration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→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B2733"/>
                          </a:solidFill>
                          <a:latin typeface="Calibri"/>
                          <a:ea typeface="Calibri"/>
                          <a:cs typeface="Calibri"/>
                        </a:rPr>
                        <a:t>Pending API Kit- Meeting planned with NIA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A3BF4-F70D-30C4-E88B-A91CCE650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D7F339-698C-5395-EB63-E8FB25BF5292}"/>
              </a:ext>
            </a:extLst>
          </p:cNvPr>
          <p:cNvSpPr/>
          <p:nvPr/>
        </p:nvSpPr>
        <p:spPr>
          <a:xfrm>
            <a:off x="640080" y="40233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for Business Growth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9D1A82-659D-DCB1-92B1-4EBB5805FC76}"/>
              </a:ext>
            </a:extLst>
          </p:cNvPr>
          <p:cNvSpPr/>
          <p:nvPr/>
        </p:nvSpPr>
        <p:spPr>
          <a:xfrm>
            <a:off x="640080" y="88696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proposed to cut failed calls and lift conversion — for agreement in this review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08BE5E-3032-CE3A-7053-D06B63132485}"/>
              </a:ext>
            </a:extLst>
          </p:cNvPr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 dirty="0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7A3748-080D-9A2D-1627-E710F7187DB5}"/>
              </a:ext>
            </a:extLst>
          </p:cNvPr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0385330-6752-FB7E-0F17-B8C3F06507A8}"/>
              </a:ext>
            </a:extLst>
          </p:cNvPr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9BCC6FF-671D-8CC2-667D-7390F3759AE9}"/>
              </a:ext>
            </a:extLst>
          </p:cNvPr>
          <p:cNvSpPr/>
          <p:nvPr/>
        </p:nvSpPr>
        <p:spPr>
          <a:xfrm>
            <a:off x="670560" y="1408176"/>
            <a:ext cx="3493008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A9CA1FB-9AD2-26AC-5D69-C6FE6839DB7E}"/>
              </a:ext>
            </a:extLst>
          </p:cNvPr>
          <p:cNvSpPr/>
          <p:nvPr/>
        </p:nvSpPr>
        <p:spPr>
          <a:xfrm>
            <a:off x="868680" y="1572768"/>
            <a:ext cx="457200" cy="292608"/>
          </a:xfrm>
          <a:prstGeom prst="roundRect">
            <a:avLst>
              <a:gd name="adj" fmla="val 25000"/>
            </a:avLst>
          </a:prstGeom>
          <a:solidFill>
            <a:srgbClr val="1877D2"/>
          </a:solidFill>
          <a:ln w="12700">
            <a:solidFill>
              <a:srgbClr val="1877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8DD16CE-7485-0F64-8133-86F60CE5E851}"/>
              </a:ext>
            </a:extLst>
          </p:cNvPr>
          <p:cNvSpPr/>
          <p:nvPr/>
        </p:nvSpPr>
        <p:spPr>
          <a:xfrm>
            <a:off x="868680" y="15727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9381087-5C20-33B8-344D-F36FA9879354}"/>
              </a:ext>
            </a:extLst>
          </p:cNvPr>
          <p:cNvSpPr/>
          <p:nvPr/>
        </p:nvSpPr>
        <p:spPr>
          <a:xfrm>
            <a:off x="1435608" y="1536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9E7AE42-835B-1AF8-A476-F48D7635B3FB}"/>
              </a:ext>
            </a:extLst>
          </p:cNvPr>
          <p:cNvSpPr/>
          <p:nvPr/>
        </p:nvSpPr>
        <p:spPr>
          <a:xfrm>
            <a:off x="868680" y="1993392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E64426E-453F-0FC2-1629-BF337A1A7820}"/>
              </a:ext>
            </a:extLst>
          </p:cNvPr>
          <p:cNvSpPr/>
          <p:nvPr/>
        </p:nvSpPr>
        <p:spPr>
          <a:xfrm>
            <a:off x="868680" y="278892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D3E9A9E-AA72-59CE-45FA-3AB97A316A88}"/>
              </a:ext>
            </a:extLst>
          </p:cNvPr>
          <p:cNvSpPr/>
          <p:nvPr/>
        </p:nvSpPr>
        <p:spPr>
          <a:xfrm>
            <a:off x="868680" y="32461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owner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623DAFD-C274-CC86-1DAE-91662617BAE1}"/>
              </a:ext>
            </a:extLst>
          </p:cNvPr>
          <p:cNvSpPr/>
          <p:nvPr/>
        </p:nvSpPr>
        <p:spPr>
          <a:xfrm>
            <a:off x="4379976" y="1371600"/>
            <a:ext cx="3493008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4F8E9FE-440F-7BA8-BF2A-7CDE605FD85F}"/>
              </a:ext>
            </a:extLst>
          </p:cNvPr>
          <p:cNvSpPr/>
          <p:nvPr/>
        </p:nvSpPr>
        <p:spPr>
          <a:xfrm>
            <a:off x="4608576" y="1572768"/>
            <a:ext cx="457200" cy="292608"/>
          </a:xfrm>
          <a:prstGeom prst="roundRect">
            <a:avLst>
              <a:gd name="adj" fmla="val 25000"/>
            </a:avLst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5540574-F657-BDC1-ECD1-4123DE63EF55}"/>
              </a:ext>
            </a:extLst>
          </p:cNvPr>
          <p:cNvSpPr/>
          <p:nvPr/>
        </p:nvSpPr>
        <p:spPr>
          <a:xfrm>
            <a:off x="4608576" y="15727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4DB0F27-F52C-F3AE-9FF1-C77191E53BD4}"/>
              </a:ext>
            </a:extLst>
          </p:cNvPr>
          <p:cNvSpPr/>
          <p:nvPr/>
        </p:nvSpPr>
        <p:spPr>
          <a:xfrm>
            <a:off x="5175504" y="1536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8A6E0C0-0307-567E-A79C-3FC317A2588D}"/>
              </a:ext>
            </a:extLst>
          </p:cNvPr>
          <p:cNvSpPr/>
          <p:nvPr/>
        </p:nvSpPr>
        <p:spPr>
          <a:xfrm>
            <a:off x="4608576" y="1993392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054C9B7-E449-B317-B7D8-43DC5DE6F1F6}"/>
              </a:ext>
            </a:extLst>
          </p:cNvPr>
          <p:cNvSpPr/>
          <p:nvPr/>
        </p:nvSpPr>
        <p:spPr>
          <a:xfrm>
            <a:off x="4608576" y="278892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C2231E1-3FC4-1C0A-79E3-16366FAB7D03}"/>
              </a:ext>
            </a:extLst>
          </p:cNvPr>
          <p:cNvSpPr/>
          <p:nvPr/>
        </p:nvSpPr>
        <p:spPr>
          <a:xfrm>
            <a:off x="4608576" y="32461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owner</a:t>
            </a:r>
            <a:endParaRPr lang="en-US" sz="9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905B441-2BB6-3720-693C-28B241D6A577}"/>
              </a:ext>
            </a:extLst>
          </p:cNvPr>
          <p:cNvSpPr/>
          <p:nvPr/>
        </p:nvSpPr>
        <p:spPr>
          <a:xfrm>
            <a:off x="8119872" y="1371600"/>
            <a:ext cx="3493008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9FFF5DC-364D-96C7-E294-D9EB0992A113}"/>
              </a:ext>
            </a:extLst>
          </p:cNvPr>
          <p:cNvSpPr/>
          <p:nvPr/>
        </p:nvSpPr>
        <p:spPr>
          <a:xfrm>
            <a:off x="8348472" y="1572768"/>
            <a:ext cx="457200" cy="292608"/>
          </a:xfrm>
          <a:prstGeom prst="roundRect">
            <a:avLst>
              <a:gd name="adj" fmla="val 25000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3EC7BE6-9294-74EE-21FA-7C75722D09F0}"/>
              </a:ext>
            </a:extLst>
          </p:cNvPr>
          <p:cNvSpPr/>
          <p:nvPr/>
        </p:nvSpPr>
        <p:spPr>
          <a:xfrm>
            <a:off x="8348472" y="15727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9EE3C0A-F6E4-86A4-EA91-D9FA39673CF9}"/>
              </a:ext>
            </a:extLst>
          </p:cNvPr>
          <p:cNvSpPr/>
          <p:nvPr/>
        </p:nvSpPr>
        <p:spPr>
          <a:xfrm>
            <a:off x="8915400" y="1536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69E0464-3D5F-A103-AE54-C51B22FFA964}"/>
              </a:ext>
            </a:extLst>
          </p:cNvPr>
          <p:cNvSpPr/>
          <p:nvPr/>
        </p:nvSpPr>
        <p:spPr>
          <a:xfrm>
            <a:off x="8348472" y="1993392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A266A9D-773B-976B-84C0-AAA1C72DCEE9}"/>
              </a:ext>
            </a:extLst>
          </p:cNvPr>
          <p:cNvSpPr/>
          <p:nvPr/>
        </p:nvSpPr>
        <p:spPr>
          <a:xfrm>
            <a:off x="8348472" y="278892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3F1F3C2-1D06-6AB4-6BCB-CBF817546FFC}"/>
              </a:ext>
            </a:extLst>
          </p:cNvPr>
          <p:cNvSpPr/>
          <p:nvPr/>
        </p:nvSpPr>
        <p:spPr>
          <a:xfrm>
            <a:off x="8348472" y="32461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owner</a:t>
            </a:r>
            <a:endParaRPr lang="en-US" sz="9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95BFE05-92A2-8265-D88B-F670FF7524E6}"/>
              </a:ext>
            </a:extLst>
          </p:cNvPr>
          <p:cNvSpPr/>
          <p:nvPr/>
        </p:nvSpPr>
        <p:spPr>
          <a:xfrm>
            <a:off x="640080" y="3767328"/>
            <a:ext cx="3493008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198D910-62DD-77BC-72B0-B982E1AF77F0}"/>
              </a:ext>
            </a:extLst>
          </p:cNvPr>
          <p:cNvSpPr/>
          <p:nvPr/>
        </p:nvSpPr>
        <p:spPr>
          <a:xfrm>
            <a:off x="868680" y="3968496"/>
            <a:ext cx="457200" cy="292608"/>
          </a:xfrm>
          <a:prstGeom prst="roundRect">
            <a:avLst>
              <a:gd name="adj" fmla="val 25000"/>
            </a:avLst>
          </a:prstGeom>
          <a:solidFill>
            <a:srgbClr val="1877D2"/>
          </a:solidFill>
          <a:ln w="12700">
            <a:solidFill>
              <a:srgbClr val="1877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D663DAF-A644-494D-62F7-24EACA4E64BC}"/>
              </a:ext>
            </a:extLst>
          </p:cNvPr>
          <p:cNvSpPr/>
          <p:nvPr/>
        </p:nvSpPr>
        <p:spPr>
          <a:xfrm>
            <a:off x="868680" y="39684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E358E69-034E-C55D-B6AF-9363A53C265B}"/>
              </a:ext>
            </a:extLst>
          </p:cNvPr>
          <p:cNvSpPr/>
          <p:nvPr/>
        </p:nvSpPr>
        <p:spPr>
          <a:xfrm>
            <a:off x="1435608" y="3931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C703B1E-D5CD-CD7D-1104-FE2894DE43BF}"/>
              </a:ext>
            </a:extLst>
          </p:cNvPr>
          <p:cNvSpPr/>
          <p:nvPr/>
        </p:nvSpPr>
        <p:spPr>
          <a:xfrm>
            <a:off x="868680" y="4389120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7CF0F54-D476-A35B-9675-36E306D36E51}"/>
              </a:ext>
            </a:extLst>
          </p:cNvPr>
          <p:cNvSpPr/>
          <p:nvPr/>
        </p:nvSpPr>
        <p:spPr>
          <a:xfrm>
            <a:off x="868680" y="564184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owner</a:t>
            </a:r>
            <a:endParaRPr lang="en-US" sz="9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7557FF7-3BF6-0F36-B7D9-A2949F4107CE}"/>
              </a:ext>
            </a:extLst>
          </p:cNvPr>
          <p:cNvSpPr/>
          <p:nvPr/>
        </p:nvSpPr>
        <p:spPr>
          <a:xfrm>
            <a:off x="4379976" y="3767328"/>
            <a:ext cx="3493008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D6E3F5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646FB78-6D0F-AC34-36AE-3F29616CCDFE}"/>
              </a:ext>
            </a:extLst>
          </p:cNvPr>
          <p:cNvSpPr/>
          <p:nvPr/>
        </p:nvSpPr>
        <p:spPr>
          <a:xfrm>
            <a:off x="4608576" y="3968496"/>
            <a:ext cx="457200" cy="292608"/>
          </a:xfrm>
          <a:prstGeom prst="roundRect">
            <a:avLst>
              <a:gd name="adj" fmla="val 25000"/>
            </a:avLst>
          </a:prstGeom>
          <a:solidFill>
            <a:srgbClr val="B8730A"/>
          </a:solidFill>
          <a:ln w="12700">
            <a:solidFill>
              <a:srgbClr val="B87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66785D0-89AF-771F-4A56-CE9DD0D4A8F7}"/>
              </a:ext>
            </a:extLst>
          </p:cNvPr>
          <p:cNvSpPr/>
          <p:nvPr/>
        </p:nvSpPr>
        <p:spPr>
          <a:xfrm>
            <a:off x="4608576" y="39684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920CF3A-6550-45F3-0556-8292ED1D5946}"/>
              </a:ext>
            </a:extLst>
          </p:cNvPr>
          <p:cNvSpPr/>
          <p:nvPr/>
        </p:nvSpPr>
        <p:spPr>
          <a:xfrm>
            <a:off x="5175504" y="3931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A061463-0C09-45E3-74DB-61FB530E521E}"/>
              </a:ext>
            </a:extLst>
          </p:cNvPr>
          <p:cNvSpPr/>
          <p:nvPr/>
        </p:nvSpPr>
        <p:spPr>
          <a:xfrm>
            <a:off x="4608576" y="4389120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99C3D63-40B9-93C5-7BD7-CE563AE9038B}"/>
              </a:ext>
            </a:extLst>
          </p:cNvPr>
          <p:cNvSpPr/>
          <p:nvPr/>
        </p:nvSpPr>
        <p:spPr>
          <a:xfrm>
            <a:off x="4608576" y="564184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owner</a:t>
            </a:r>
            <a:endParaRPr lang="en-US" sz="9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854F9999-A3AC-6BFC-73B3-D46F1EC522F8}"/>
              </a:ext>
            </a:extLst>
          </p:cNvPr>
          <p:cNvSpPr/>
          <p:nvPr/>
        </p:nvSpPr>
        <p:spPr>
          <a:xfrm>
            <a:off x="640080" y="610819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6B0AB521-5059-35F1-BF42-52911F99E970}"/>
              </a:ext>
            </a:extLst>
          </p:cNvPr>
          <p:cNvSpPr/>
          <p:nvPr/>
        </p:nvSpPr>
        <p:spPr>
          <a:xfrm>
            <a:off x="850053" y="290779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7CDEE0-8CFE-DB26-907A-1E854D398798}"/>
              </a:ext>
            </a:extLst>
          </p:cNvPr>
          <p:cNvSpPr txBox="1"/>
          <p:nvPr/>
        </p:nvSpPr>
        <p:spPr>
          <a:xfrm>
            <a:off x="1279799" y="1803809"/>
            <a:ext cx="22643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of Insurer which provides more discounts to high selling vehicles. Maximum reach. Location based.</a:t>
            </a:r>
          </a:p>
          <a:p>
            <a:r>
              <a:rPr lang="en-IN" sz="16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Maruti, Tata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586946-EA84-9749-6E1A-1D3B77765925}"/>
              </a:ext>
            </a:extLst>
          </p:cNvPr>
          <p:cNvSpPr txBox="1"/>
          <p:nvPr/>
        </p:nvSpPr>
        <p:spPr>
          <a:xfrm>
            <a:off x="4972651" y="1837944"/>
            <a:ext cx="22162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Insurance Campaigns. Home Page banner promotion.</a:t>
            </a:r>
          </a:p>
          <a:p>
            <a:endParaRPr lang="en-IN" sz="1600" dirty="0">
              <a:solidFill>
                <a:srgbClr val="5A6B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A11143-7183-C8F4-451A-266ECB97766F}"/>
              </a:ext>
            </a:extLst>
          </p:cNvPr>
          <p:cNvSpPr txBox="1"/>
          <p:nvPr/>
        </p:nvSpPr>
        <p:spPr>
          <a:xfrm>
            <a:off x="8823960" y="1823987"/>
            <a:ext cx="21960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Nudges on WhatsApp and email whenever customer visits app and is close to expiry.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717F95-AE8F-9331-882A-A58CA428ABBC}"/>
              </a:ext>
            </a:extLst>
          </p:cNvPr>
          <p:cNvSpPr txBox="1"/>
          <p:nvPr/>
        </p:nvSpPr>
        <p:spPr>
          <a:xfrm>
            <a:off x="1325880" y="4242816"/>
            <a:ext cx="20465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Expiry details on </a:t>
            </a:r>
            <a:r>
              <a:rPr lang="en-IN" sz="1600" dirty="0" err="1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</a:t>
            </a:r>
            <a:r>
              <a:rPr lang="en-IN" sz="16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be displayed. Currently </a:t>
            </a:r>
            <a:r>
              <a:rPr lang="en-IN" sz="1600" dirty="0" err="1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hows</a:t>
            </a:r>
            <a:r>
              <a:rPr lang="en-IN" sz="16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vehicle unless opened</a:t>
            </a:r>
          </a:p>
        </p:txBody>
      </p:sp>
    </p:spTree>
    <p:extLst>
      <p:ext uri="{BB962C8B-B14F-4D97-AF65-F5344CB8AC3E}">
        <p14:creationId xmlns:p14="http://schemas.microsoft.com/office/powerpoint/2010/main" val="1357069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3" name="Google Shape;4783;p30"/>
          <p:cNvSpPr txBox="1">
            <a:spLocks noGrp="1"/>
          </p:cNvSpPr>
          <p:nvPr>
            <p:ph type="subTitle"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0A2A5E"/>
                </a:solidFill>
                <a:latin typeface="Arial" pitchFamily="34" charset="0"/>
                <a:cs typeface="Arial" pitchFamily="34" charset="-120"/>
              </a:rPr>
              <a:t>Thank you</a:t>
            </a:r>
            <a:endParaRPr lang="en-US" sz="2600" b="1" dirty="0">
              <a:solidFill>
                <a:srgbClr val="0A2A5E"/>
              </a:solidFill>
              <a:latin typeface="Arial" pitchFamily="34" charset="0"/>
              <a:cs typeface="Arial" pitchFamily="34" charset="-120"/>
              <a:sym typeface="Albert Sans"/>
            </a:endParaRPr>
          </a:p>
        </p:txBody>
      </p:sp>
      <p:pic>
        <p:nvPicPr>
          <p:cNvPr id="2" name="Google Shape;4158;p21">
            <a:extLst>
              <a:ext uri="{FF2B5EF4-FFF2-40B4-BE49-F238E27FC236}">
                <a16:creationId xmlns:a16="http://schemas.microsoft.com/office/drawing/2014/main" id="{69C11E4A-03AF-C9AB-B87F-85A449CE48A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366" y="6218674"/>
            <a:ext cx="1594301" cy="548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782894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Two-Wheeler (2W) View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with the August comparison in brackets — 2W only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08792" cy="347472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ICICI Lombard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Digit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Tata AIG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Registrations attempted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1,578   (▼ 36.1%)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1,744   (▼ 41.0%)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1,601   (▼ 39.3%)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1,822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with a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1,459   (▼ 38.5%)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1,288   (▼ 40.6%)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   (▼ 73.4%)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→ price 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92.5%   (▼ 3.6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73.9%   (▲ 0.5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   (▼ 16.5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20,045   (▼ 39.2%)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17,366   (▼ 44.0%)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13,369   (▼ 47.7%)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50,780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success 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76.3%   (▼ 8.7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47.5%   (▲ 2.4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   (▼ 15.0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4,742   (▼ 3.7%)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9,121   (▼ 46.5%)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12,971   (▼ 38.2%)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26,834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issued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 (▼ 76.2%)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 (▼ 66.7%)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 (▼ 57.1%)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GWP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5,008   (▼ 80.1%)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6,311   (▼ 66.7%)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3,060   (▼ 55.8%)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14,379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premium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1,002   (▼ 16.5%)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902   (▼ 0.2%)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1,020   (▲ 3.1%)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failure reason (Sep)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is not allowed (3,699)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 rules violated!! (7,715)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1182-bundle OD start/end date missing (5,288)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074920"/>
            <a:ext cx="3493008" cy="1097280"/>
          </a:xfrm>
          <a:prstGeom prst="roundRect">
            <a:avLst>
              <a:gd name="adj" fmla="val 5833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Lombard</a:t>
            </a:r>
            <a:endParaRPr lang="en-US" sz="1150"/>
          </a:p>
        </p:txBody>
      </p:sp>
      <p:sp>
        <p:nvSpPr>
          <p:cNvPr id="10" name="Text 7"/>
          <p:cNvSpPr/>
          <p:nvPr/>
        </p:nvSpPr>
        <p:spPr>
          <a:xfrm>
            <a:off x="868680" y="54223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Lombard call success 76.3% (Aug 85.1%); 5 2W policies, INR 5,008 GWP.</a:t>
            </a:r>
            <a:endParaRPr lang="en-US" sz="1050"/>
          </a:p>
        </p:txBody>
      </p:sp>
      <p:sp>
        <p:nvSpPr>
          <p:cNvPr id="11" name="Shape 8"/>
          <p:cNvSpPr/>
          <p:nvPr/>
        </p:nvSpPr>
        <p:spPr>
          <a:xfrm>
            <a:off x="4352544" y="5074920"/>
            <a:ext cx="3493008" cy="1097280"/>
          </a:xfrm>
          <a:prstGeom prst="roundRect">
            <a:avLst>
              <a:gd name="adj" fmla="val 5833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9"/>
          <p:cNvSpPr/>
          <p:nvPr/>
        </p:nvSpPr>
        <p:spPr>
          <a:xfrm>
            <a:off x="4581144" y="51663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Digit</a:t>
            </a:r>
            <a:endParaRPr lang="en-US" sz="1150"/>
          </a:p>
        </p:txBody>
      </p:sp>
      <p:sp>
        <p:nvSpPr>
          <p:cNvPr id="13" name="Text 10"/>
          <p:cNvSpPr/>
          <p:nvPr/>
        </p:nvSpPr>
        <p:spPr>
          <a:xfrm>
            <a:off x="4581144" y="54223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Digit call success 47.5% (Aug 45.0%); 7 2W policies, INR 6,311 GWP.</a:t>
            </a:r>
            <a:endParaRPr lang="en-US" sz="1050"/>
          </a:p>
        </p:txBody>
      </p:sp>
      <p:sp>
        <p:nvSpPr>
          <p:cNvPr id="14" name="Shape 11"/>
          <p:cNvSpPr/>
          <p:nvPr/>
        </p:nvSpPr>
        <p:spPr>
          <a:xfrm>
            <a:off x="8055864" y="5074920"/>
            <a:ext cx="3493008" cy="1097280"/>
          </a:xfrm>
          <a:prstGeom prst="roundRect">
            <a:avLst>
              <a:gd name="adj" fmla="val 5833"/>
            </a:avLst>
          </a:prstGeom>
          <a:solidFill>
            <a:srgbClr val="FDF3E4"/>
          </a:solidFill>
          <a:ln w="12700">
            <a:solidFill>
              <a:srgbClr val="F2DFC0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84464" y="51663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AIG</a:t>
            </a:r>
            <a:endParaRPr lang="en-US" sz="1150"/>
          </a:p>
        </p:txBody>
      </p:sp>
      <p:sp>
        <p:nvSpPr>
          <p:cNvPr id="16" name="Text 13"/>
          <p:cNvSpPr/>
          <p:nvPr/>
        </p:nvSpPr>
        <p:spPr>
          <a:xfrm>
            <a:off x="8284464" y="54223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AIG call success 3.0% (Aug 18.0%); 3 2W policies, INR 3,060 GWP.</a:t>
            </a:r>
            <a:endParaRPr lang="en-US" sz="1050"/>
          </a:p>
        </p:txBody>
      </p:sp>
      <p:sp>
        <p:nvSpPr>
          <p:cNvPr id="17" name="Text 14"/>
          <p:cNvSpPr/>
          <p:nvPr/>
        </p:nvSpPr>
        <p:spPr>
          <a:xfrm>
            <a:off x="640080" y="6263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2W figures count a registration once per carrier it was quoted with; totals show distinct registrations. Policies and GWP are split by the vehicle type on the issued policy.</a:t>
            </a:r>
            <a:endParaRPr lang="en-US"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Four-Wheeler (4W) View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with the August comparison in brackets — 4W only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08792" cy="347472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ICICI Lombard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Digit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Tata AIG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Registrations attempted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1,201   (▼ 28.0%)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1,227   (▼ 29.3%)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1,101   (▼ 29.1%)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with a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1,089   (▼ 27.6%)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1,028   (▼ 28.3%)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698   (▼ 21.0%)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→ price 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90.7%   (▲ 0.5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83.8%   (▲ 1.2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63.4%   (▲ 6.5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17,654   (▼ 29.5%)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10,156   (▼ 30.8%)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12,996   (▼ 23.9%)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40,806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success 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   (▲ 0.8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72.6%   (▲ 3.8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49.5%   (▲ 6.1 pp)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3,976   (▼ 32.0%)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2,780   (▼ 39.2%)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6,558   (▼ 32.1%)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13,314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issued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 (▼ 100.0%)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 (▲ 100.0%)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 (▼ 25.0%)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GWP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 (▼ 100.0%)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33,480   (▲ 139.0%)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25,371   (▼ 4.2%)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58,850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premium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8,370   (▲ 19.5%)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E7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8,457   (▲ 27.7%)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8,407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failure reason (Sep)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is not allowed (3,100)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 rules violated!! (1,718)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engine_secure_options is mandatory (1,778)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074920"/>
            <a:ext cx="3493008" cy="1097280"/>
          </a:xfrm>
          <a:prstGeom prst="roundRect">
            <a:avLst>
              <a:gd name="adj" fmla="val 5833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Lombard</a:t>
            </a:r>
            <a:endParaRPr lang="en-US" sz="1150"/>
          </a:p>
        </p:txBody>
      </p:sp>
      <p:sp>
        <p:nvSpPr>
          <p:cNvPr id="10" name="Text 7"/>
          <p:cNvSpPr/>
          <p:nvPr/>
        </p:nvSpPr>
        <p:spPr>
          <a:xfrm>
            <a:off x="868680" y="54223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Lombard call success 77.5% (Aug 76.7%); 0 4W policies, INR 0 GWP.</a:t>
            </a:r>
            <a:endParaRPr lang="en-US" sz="1050"/>
          </a:p>
        </p:txBody>
      </p:sp>
      <p:sp>
        <p:nvSpPr>
          <p:cNvPr id="11" name="Shape 8"/>
          <p:cNvSpPr/>
          <p:nvPr/>
        </p:nvSpPr>
        <p:spPr>
          <a:xfrm>
            <a:off x="4352544" y="5074920"/>
            <a:ext cx="3493008" cy="1097280"/>
          </a:xfrm>
          <a:prstGeom prst="roundRect">
            <a:avLst>
              <a:gd name="adj" fmla="val 5833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9"/>
          <p:cNvSpPr/>
          <p:nvPr/>
        </p:nvSpPr>
        <p:spPr>
          <a:xfrm>
            <a:off x="4581144" y="51663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Digit</a:t>
            </a:r>
            <a:endParaRPr lang="en-US" sz="1150"/>
          </a:p>
        </p:txBody>
      </p:sp>
      <p:sp>
        <p:nvSpPr>
          <p:cNvPr id="13" name="Text 10"/>
          <p:cNvSpPr/>
          <p:nvPr/>
        </p:nvSpPr>
        <p:spPr>
          <a:xfrm>
            <a:off x="4581144" y="54223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Digit call success 72.6% (Aug 68.8%); 4 4W policies, INR 33,480 GWP.</a:t>
            </a:r>
            <a:endParaRPr lang="en-US" sz="1050"/>
          </a:p>
        </p:txBody>
      </p:sp>
      <p:sp>
        <p:nvSpPr>
          <p:cNvPr id="14" name="Shape 11"/>
          <p:cNvSpPr/>
          <p:nvPr/>
        </p:nvSpPr>
        <p:spPr>
          <a:xfrm>
            <a:off x="8055864" y="5074920"/>
            <a:ext cx="3493008" cy="1097280"/>
          </a:xfrm>
          <a:prstGeom prst="roundRect">
            <a:avLst>
              <a:gd name="adj" fmla="val 5833"/>
            </a:avLst>
          </a:prstGeom>
          <a:solidFill>
            <a:srgbClr val="FDF3E4"/>
          </a:solidFill>
          <a:ln w="12700">
            <a:solidFill>
              <a:srgbClr val="F2DFC0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84464" y="51663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AIG</a:t>
            </a:r>
            <a:endParaRPr lang="en-US" sz="1150"/>
          </a:p>
        </p:txBody>
      </p:sp>
      <p:sp>
        <p:nvSpPr>
          <p:cNvPr id="16" name="Text 13"/>
          <p:cNvSpPr/>
          <p:nvPr/>
        </p:nvSpPr>
        <p:spPr>
          <a:xfrm>
            <a:off x="8284464" y="54223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AIG call success 49.5% (Aug 43.4%); 3 4W policies, INR 25,371 GWP.</a:t>
            </a:r>
            <a:endParaRPr lang="en-US" sz="1050"/>
          </a:p>
        </p:txBody>
      </p:sp>
      <p:sp>
        <p:nvSpPr>
          <p:cNvPr id="17" name="Text 14"/>
          <p:cNvSpPr/>
          <p:nvPr/>
        </p:nvSpPr>
        <p:spPr>
          <a:xfrm>
            <a:off x="640080" y="6263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4W figures count a registration once per carrier it was quoted with; totals show distinct registrations. Policies and GWP are split by the vehicle type on the issued policy.</a:t>
            </a:r>
            <a:endParaRPr lang="en-US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023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— August + September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months combined, by carrier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10149840" y="4572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0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</a:t>
            </a:r>
            <a:r>
              <a:rPr lang="en-US" sz="1400" b="1">
                <a:solidFill>
                  <a:srgbClr val="187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  ·  Monthly Business Review  ·  September 2026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088136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08792" cy="39776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Insurer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August 2026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 2026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</a:t>
                      </a:r>
                      <a:endParaRPr lang="en-US" sz="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Lombard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57,997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37,699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95,696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returning a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10,766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8,718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19,484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issued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GWP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61,400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66,408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Digit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45,671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27,522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73,193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returning a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56.8%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21,611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11,901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33,512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issued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GWP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32,976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39,791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72,767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0A2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AIG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42,656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26,365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69,021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returning a price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calls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30,646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19,529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50,175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issued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GWP (INR)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5A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33,417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28,431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61,848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486400"/>
            <a:ext cx="5394960" cy="658368"/>
          </a:xfrm>
          <a:prstGeom prst="roundRect">
            <a:avLst>
              <a:gd name="adj" fmla="val 9722"/>
            </a:avLst>
          </a:prstGeom>
          <a:solidFill>
            <a:srgbClr val="E9F6F1"/>
          </a:solidFill>
          <a:ln w="12700">
            <a:solidFill>
              <a:srgbClr val="CBE7DB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56052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months, one picture   </a:t>
            </a: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2,37,910 quote calls, 56.6% returned a price; 81 policies and INR 2,01,023 GWP from 9,806 distinct vehicles quoted since 5 July.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6153912" y="5486400"/>
            <a:ext cx="5394960" cy="658368"/>
          </a:xfrm>
          <a:prstGeom prst="roundRect">
            <a:avLst>
              <a:gd name="adj" fmla="val 9722"/>
            </a:avLst>
          </a:prstGeom>
          <a:solidFill>
            <a:srgbClr val="FDF3E4"/>
          </a:solidFill>
          <a:ln w="12700">
            <a:solidFill>
              <a:srgbClr val="F2DFC0"/>
            </a:solidFill>
            <a:prstDash val="solid"/>
          </a:ln>
          <a:effectLst>
            <a:outerShdw blurRad="152400" dist="25400" dir="5400000" algn="bl" rotWithShape="0">
              <a:srgbClr val="0A2A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82512" y="56052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B87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failures sit   </a:t>
            </a:r>
            <a:r>
              <a:rPr lang="en-US" sz="10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1,03,171 failed calls in total — Tata AIG 49%, Go Digit 32%, ICICI Lombard 19%.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24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FIBE x insureMO - Monthly Business Review - August 2026</dc:title>
  <dc:subject>PptxGenJS Presentation</dc:subject>
  <dc:creator>PptxGenJS</dc:creator>
  <cp:revision>19</cp:revision>
  <dcterms:created xsi:type="dcterms:W3CDTF">2026-09-03T07:44:32Z</dcterms:created>
  <dcterms:modified xsi:type="dcterms:W3CDTF">2026-09-03T12:49:19Z</dcterms:modified>
</cp:coreProperties>
</file>